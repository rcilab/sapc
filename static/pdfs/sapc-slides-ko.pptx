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D1F66-49CF-4149-94D8-E1C654D3C85A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D834B-4ADC-40BE-98E0-1C11137E84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30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오늘의 목표는 회귀 오차를 줄이는 방법만 배우는 것이 아닙니다</a:t>
            </a:r>
            <a:r>
              <a:rPr lang="en-US" altLang="ko-KR"/>
              <a:t>. </a:t>
            </a:r>
            <a:r>
              <a:rPr lang="ko-KR" altLang="en-US"/>
              <a:t>같은 움직임을 만들어도 질량이 잘못된 링크에 배치될 수 있음을 이해하고</a:t>
            </a:r>
            <a:r>
              <a:rPr lang="en-US" altLang="ko-KR"/>
              <a:t>, </a:t>
            </a:r>
            <a:r>
              <a:rPr lang="ko-KR" altLang="en-US"/>
              <a:t>도구 교체에서 왜 문제가 드러나는지 설명합니다</a:t>
            </a:r>
            <a:r>
              <a:rPr lang="en-US" altLang="ko-KR"/>
              <a:t>. </a:t>
            </a:r>
            <a:r>
              <a:rPr lang="ko-KR" altLang="en-US"/>
              <a:t>선수 지식은 관절 위치와 토크</a:t>
            </a:r>
            <a:r>
              <a:rPr lang="en-US" altLang="ko-KR"/>
              <a:t>, </a:t>
            </a:r>
            <a:r>
              <a:rPr lang="ko-KR" altLang="en-US"/>
              <a:t>최소제곱의 개념 정도입니다</a:t>
            </a:r>
            <a:r>
              <a:rPr lang="en-US" altLang="ko-KR"/>
              <a:t>. </a:t>
            </a:r>
            <a:r>
              <a:rPr lang="ko-KR" altLang="en-US"/>
              <a:t>약 </a:t>
            </a:r>
            <a:r>
              <a:rPr lang="en-US" altLang="ko-KR"/>
              <a:t>25~35</a:t>
            </a:r>
            <a:r>
              <a:rPr lang="ko-KR" altLang="en-US"/>
              <a:t>분 설명을 가정했습니다</a:t>
            </a:r>
            <a:r>
              <a:rPr lang="en-US" altLang="ko-KR"/>
              <a:t>. </a:t>
            </a:r>
            <a:r>
              <a:rPr lang="ko-KR" altLang="en-US"/>
              <a:t>원고의 영어 제목을 소개한 뒤 질문을 먼저 던지세요</a:t>
            </a:r>
            <a:r>
              <a:rPr lang="en-US" altLang="ko-KR"/>
              <a:t>.
Source: main.tex · Introduction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366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슬라이드 쇼에서 영상을 재생합니다</a:t>
            </a:r>
            <a:r>
              <a:rPr lang="en-US" altLang="ko-KR"/>
              <a:t>. MuJoCo TCP</a:t>
            </a:r>
            <a:r>
              <a:rPr lang="ko-KR" altLang="en-US"/>
              <a:t>를 아래로 </a:t>
            </a:r>
            <a:r>
              <a:rPr lang="en-US" altLang="ko-KR"/>
              <a:t>10 cm </a:t>
            </a:r>
            <a:r>
              <a:rPr lang="ko-KR" altLang="en-US"/>
              <a:t>내리는 </a:t>
            </a:r>
            <a:r>
              <a:rPr lang="en-US" altLang="ko-KR"/>
              <a:t>0.65</a:t>
            </a:r>
            <a:r>
              <a:rPr lang="ko-KR" altLang="en-US"/>
              <a:t>초 토크를 세 엔진에 그대로 입력한 로그입니다</a:t>
            </a:r>
            <a:r>
              <a:rPr lang="en-US" altLang="ko-KR"/>
              <a:t>. 8</a:t>
            </a:r>
            <a:r>
              <a:rPr lang="ko-KR" altLang="en-US"/>
              <a:t>배 느린 재생입니다</a:t>
            </a:r>
            <a:r>
              <a:rPr lang="en-US" altLang="ko-KR"/>
              <a:t>. </a:t>
            </a:r>
            <a:r>
              <a:rPr lang="ko-KR" altLang="en-US"/>
              <a:t>동일 초기상태와 동일 명령 토크를 사용하지만 </a:t>
            </a:r>
            <a:r>
              <a:rPr lang="en-US" altLang="ko-KR"/>
              <a:t>Gazebo </a:t>
            </a:r>
            <a:r>
              <a:rPr lang="ko-KR" altLang="en-US"/>
              <a:t>모델에는 </a:t>
            </a:r>
            <a:r>
              <a:rPr lang="en-US" altLang="ko-KR"/>
              <a:t>rotor armature</a:t>
            </a:r>
            <a:r>
              <a:rPr lang="ko-KR" altLang="en-US"/>
              <a:t>가 없고 </a:t>
            </a:r>
            <a:r>
              <a:rPr lang="en-US" altLang="ko-KR"/>
              <a:t>MuJoCo/PhysX</a:t>
            </a:r>
            <a:r>
              <a:rPr lang="ko-KR" altLang="en-US"/>
              <a:t>에는 있습니다</a:t>
            </a:r>
            <a:r>
              <a:rPr lang="en-US" altLang="ko-KR"/>
              <a:t>. </a:t>
            </a:r>
            <a:r>
              <a:rPr lang="ko-KR" altLang="en-US"/>
              <a:t>영상은 각 엔진의 실제 저장 궤적을 하나의 </a:t>
            </a:r>
            <a:r>
              <a:rPr lang="en-US" altLang="ko-KR"/>
              <a:t>MuJoCo </a:t>
            </a:r>
            <a:r>
              <a:rPr lang="ko-KR" altLang="en-US"/>
              <a:t>렌더러로 시각화했습니다</a:t>
            </a:r>
            <a:r>
              <a:rPr lang="en-US" altLang="ko-KR"/>
              <a:t>. </a:t>
            </a:r>
            <a:r>
              <a:rPr lang="ko-KR" altLang="en-US"/>
              <a:t>엔진 고유 화면 캡처가 아닙니다</a:t>
            </a:r>
            <a:r>
              <a:rPr lang="en-US" altLang="ko-KR"/>
              <a:t>. </a:t>
            </a:r>
            <a:r>
              <a:rPr lang="ko-KR" altLang="en-US"/>
              <a:t>이 예시는 추가 </a:t>
            </a:r>
            <a:r>
              <a:rPr lang="en-US" altLang="ko-KR"/>
              <a:t>payload</a:t>
            </a:r>
            <a:r>
              <a:rPr lang="ko-KR" altLang="en-US"/>
              <a:t>가 없는 </a:t>
            </a:r>
            <a:r>
              <a:rPr lang="en-US" altLang="ko-KR"/>
              <a:t>nominal </a:t>
            </a:r>
            <a:r>
              <a:rPr lang="ko-KR" altLang="en-US"/>
              <a:t>조건이며 본 실험의 </a:t>
            </a:r>
            <a:r>
              <a:rPr lang="en-US" altLang="ko-KR"/>
              <a:t>0.8 kg </a:t>
            </a:r>
            <a:r>
              <a:rPr lang="ko-KR" altLang="en-US"/>
              <a:t>또는 앞선 </a:t>
            </a:r>
            <a:r>
              <a:rPr lang="en-US" altLang="ko-KR"/>
              <a:t>intro</a:t>
            </a:r>
            <a:r>
              <a:rPr lang="ko-KR" altLang="en-US"/>
              <a:t>의 별도 </a:t>
            </a:r>
            <a:r>
              <a:rPr lang="en-US" altLang="ko-KR"/>
              <a:t>100 g </a:t>
            </a:r>
            <a:r>
              <a:rPr lang="ko-KR" altLang="en-US"/>
              <a:t>사례와 구분하세요</a:t>
            </a:r>
            <a:r>
              <a:rPr lang="en-US" altLang="ko-KR"/>
              <a:t>.
Source: intro_motion/*.npz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406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캘리브레이션은 기존 </a:t>
            </a:r>
            <a:r>
              <a:rPr lang="en-US" altLang="ko-KR"/>
              <a:t>nominal twin</a:t>
            </a:r>
            <a:r>
              <a:rPr lang="ko-KR" altLang="en-US"/>
              <a:t>의 물성을 업데이트하는 작업입니다</a:t>
            </a:r>
            <a:r>
              <a:rPr lang="en-US" altLang="ko-KR"/>
              <a:t>. </a:t>
            </a:r>
            <a:r>
              <a:rPr lang="ko-KR" altLang="en-US"/>
              <a:t>새 로봇 전체를 처음부터 식별하는 상황과 다릅니다</a:t>
            </a:r>
            <a:r>
              <a:rPr lang="en-US" altLang="ko-KR"/>
              <a:t>. payload </a:t>
            </a:r>
            <a:r>
              <a:rPr lang="ko-KR" altLang="en-US"/>
              <a:t>변경이나 관절 마모처럼 소수 부위가 바뀐다는 </a:t>
            </a:r>
            <a:r>
              <a:rPr lang="en-US" altLang="ko-KR"/>
              <a:t>sparse-change prior</a:t>
            </a:r>
            <a:r>
              <a:rPr lang="ko-KR" altLang="en-US"/>
              <a:t>를 사용합니다</a:t>
            </a:r>
            <a:r>
              <a:rPr lang="en-US" altLang="ko-KR"/>
              <a:t>. </a:t>
            </a:r>
            <a:r>
              <a:rPr lang="ko-KR" altLang="en-US"/>
              <a:t>같은 토크를 내도록 링크 질량을 분산시키는 모델도 좋은 재생 결과를 낼 수 있지만</a:t>
            </a:r>
            <a:r>
              <a:rPr lang="en-US" altLang="ko-KR"/>
              <a:t>, </a:t>
            </a:r>
            <a:r>
              <a:rPr lang="ko-KR" altLang="en-US"/>
              <a:t>도구를 제거할 때 무엇을 지워야 하는지 잘못 판단할 수 있습니다</a:t>
            </a:r>
            <a:r>
              <a:rPr lang="en-US" altLang="ko-KR"/>
              <a:t>.
Source: §3 · §5.3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655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하드웨어에서는 참 관성 파라미터를 정확히 알기 어렵습니다</a:t>
            </a:r>
            <a:r>
              <a:rPr lang="en-US" altLang="ko-KR"/>
              <a:t>. </a:t>
            </a:r>
            <a:r>
              <a:rPr lang="ko-KR" altLang="en-US"/>
              <a:t>이 논문은 </a:t>
            </a:r>
            <a:r>
              <a:rPr lang="en-US" altLang="ko-KR"/>
              <a:t>FR3 </a:t>
            </a:r>
            <a:r>
              <a:rPr lang="ko-KR" altLang="en-US"/>
              <a:t>시뮬레이터에 정확히 알려진 차이를 주입해서 </a:t>
            </a:r>
            <a:r>
              <a:rPr lang="en-US" altLang="ko-KR"/>
              <a:t>attribution</a:t>
            </a:r>
            <a:r>
              <a:rPr lang="ko-KR" altLang="en-US"/>
              <a:t>을 정량화합니다</a:t>
            </a:r>
            <a:r>
              <a:rPr lang="en-US" altLang="ko-KR"/>
              <a:t>. payload</a:t>
            </a:r>
            <a:r>
              <a:rPr lang="ko-KR" altLang="en-US"/>
              <a:t>는 </a:t>
            </a:r>
            <a:r>
              <a:rPr lang="en-US" altLang="ko-KR"/>
              <a:t>flange</a:t>
            </a:r>
            <a:r>
              <a:rPr lang="ko-KR" altLang="en-US"/>
              <a:t>에 </a:t>
            </a:r>
            <a:r>
              <a:rPr lang="en-US" altLang="ko-KR"/>
              <a:t>0.8 kg, </a:t>
            </a:r>
            <a:r>
              <a:rPr lang="ko-KR" altLang="en-US"/>
              <a:t>편심 </a:t>
            </a:r>
            <a:r>
              <a:rPr lang="en-US" altLang="ko-KR"/>
              <a:t>CoM</a:t>
            </a:r>
            <a:r>
              <a:rPr lang="ko-KR" altLang="en-US"/>
              <a:t>입니다</a:t>
            </a:r>
            <a:r>
              <a:rPr lang="en-US" altLang="ko-KR"/>
              <a:t>. link3 </a:t>
            </a:r>
            <a:r>
              <a:rPr lang="ko-KR" altLang="en-US"/>
              <a:t>질량</a:t>
            </a:r>
            <a:r>
              <a:rPr lang="en-US" altLang="ko-KR"/>
              <a:t>/</a:t>
            </a:r>
            <a:r>
              <a:rPr lang="ko-KR" altLang="en-US"/>
              <a:t>관성은 </a:t>
            </a:r>
            <a:r>
              <a:rPr lang="en-US" altLang="ko-KR"/>
              <a:t>12% </a:t>
            </a:r>
            <a:r>
              <a:rPr lang="ko-KR" altLang="en-US"/>
              <a:t>증가</a:t>
            </a:r>
            <a:r>
              <a:rPr lang="en-US" altLang="ko-KR"/>
              <a:t>, joint4</a:t>
            </a:r>
            <a:r>
              <a:rPr lang="ko-KR" altLang="en-US"/>
              <a:t>에는 </a:t>
            </a:r>
            <a:r>
              <a:rPr lang="en-US" altLang="ko-KR"/>
              <a:t>Coulomb</a:t>
            </a:r>
            <a:r>
              <a:rPr lang="ko-KR" altLang="en-US"/>
              <a:t>과 </a:t>
            </a:r>
            <a:r>
              <a:rPr lang="en-US" altLang="ko-KR"/>
              <a:t>viscous </a:t>
            </a:r>
            <a:r>
              <a:rPr lang="ko-KR" altLang="en-US"/>
              <a:t>증가</a:t>
            </a:r>
            <a:r>
              <a:rPr lang="en-US" altLang="ko-KR"/>
              <a:t>, joint6</a:t>
            </a:r>
            <a:r>
              <a:rPr lang="ko-KR" altLang="en-US"/>
              <a:t>에는 </a:t>
            </a:r>
            <a:r>
              <a:rPr lang="en-US" altLang="ko-KR"/>
              <a:t>Coulomb </a:t>
            </a:r>
            <a:r>
              <a:rPr lang="ko-KR" altLang="en-US"/>
              <a:t>증가입니다</a:t>
            </a:r>
            <a:r>
              <a:rPr lang="en-US" altLang="ko-KR"/>
              <a:t>. </a:t>
            </a:r>
            <a:r>
              <a:rPr lang="ko-KR" altLang="en-US"/>
              <a:t>표시된 블록은 시각화용이며 실제 실험은 관성 필드로 구현됩니다</a:t>
            </a:r>
            <a:r>
              <a:rPr lang="en-US" altLang="ko-KR"/>
              <a:t>. CoM </a:t>
            </a:r>
            <a:r>
              <a:rPr lang="ko-KR" altLang="en-US"/>
              <a:t>좌표는 </a:t>
            </a:r>
            <a:r>
              <a:rPr lang="en-US" altLang="ko-KR"/>
              <a:t>flange</a:t>
            </a:r>
            <a:r>
              <a:rPr lang="ko-KR" altLang="en-US"/>
              <a:t>의 </a:t>
            </a:r>
            <a:r>
              <a:rPr lang="en-US" altLang="ko-KR"/>
              <a:t>payload </a:t>
            </a:r>
            <a:r>
              <a:rPr lang="ko-KR" altLang="en-US"/>
              <a:t>로컬 프레임입니다</a:t>
            </a:r>
            <a:r>
              <a:rPr lang="en-US" altLang="ko-KR"/>
              <a:t>.
Source: Table 1 · fr3_twin.GAP_TRUE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416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MuJoCo controlled</a:t>
            </a:r>
            <a:r>
              <a:rPr lang="ko-KR" altLang="en-US"/>
              <a:t>는 정답 복원 가능성을 가장 명확하게 평가합니다</a:t>
            </a:r>
            <a:r>
              <a:rPr lang="en-US" altLang="ko-KR"/>
              <a:t>. Gazebo/DART</a:t>
            </a:r>
            <a:r>
              <a:rPr lang="ko-KR" altLang="en-US"/>
              <a:t>와 </a:t>
            </a:r>
            <a:r>
              <a:rPr lang="en-US" altLang="ko-KR"/>
              <a:t>Isaac/PhysX</a:t>
            </a:r>
            <a:r>
              <a:rPr lang="ko-KR" altLang="en-US"/>
              <a:t>는 엔진이 바뀌어도 패턴이 반복되는지 확인합니다</a:t>
            </a:r>
            <a:r>
              <a:rPr lang="en-US" altLang="ko-KR"/>
              <a:t>. reference </a:t>
            </a:r>
            <a:r>
              <a:rPr lang="ko-KR" altLang="en-US"/>
              <a:t>엔진은 데이터를 생성하고</a:t>
            </a:r>
            <a:r>
              <a:rPr lang="en-US" altLang="ko-KR"/>
              <a:t>, regressor</a:t>
            </a:r>
            <a:r>
              <a:rPr lang="ko-KR" altLang="en-US"/>
              <a:t>와 보정 결과는 </a:t>
            </a:r>
            <a:r>
              <a:rPr lang="en-US" altLang="ko-KR"/>
              <a:t>MuJoCo twin</a:t>
            </a:r>
            <a:r>
              <a:rPr lang="ko-KR" altLang="en-US"/>
              <a:t>에 속합니다</a:t>
            </a:r>
            <a:r>
              <a:rPr lang="en-US" altLang="ko-KR"/>
              <a:t>. train seeds 1~3</a:t>
            </a:r>
            <a:r>
              <a:rPr lang="ko-KR" altLang="en-US"/>
              <a:t>과 </a:t>
            </a:r>
            <a:r>
              <a:rPr lang="en-US" altLang="ko-KR"/>
              <a:t>validation 11~12</a:t>
            </a:r>
            <a:r>
              <a:rPr lang="ko-KR" altLang="en-US"/>
              <a:t>는 분리되어 있으며 각 </a:t>
            </a:r>
            <a:r>
              <a:rPr lang="en-US" altLang="ko-KR"/>
              <a:t>20</a:t>
            </a:r>
            <a:r>
              <a:rPr lang="ko-KR" altLang="en-US"/>
              <a:t>초입니다</a:t>
            </a:r>
            <a:r>
              <a:rPr lang="en-US" altLang="ko-KR"/>
              <a:t>. 1 kHz </a:t>
            </a:r>
            <a:r>
              <a:rPr lang="ko-KR" altLang="en-US"/>
              <a:t>로그에서 측정 노이즈를 주입하고 </a:t>
            </a:r>
            <a:r>
              <a:rPr lang="en-US" altLang="ko-KR"/>
              <a:t>SG</a:t>
            </a:r>
            <a:r>
              <a:rPr lang="ko-KR" altLang="en-US"/>
              <a:t>로 미분합니다</a:t>
            </a:r>
            <a:r>
              <a:rPr lang="en-US" altLang="ko-KR"/>
              <a:t>. ×1</a:t>
            </a:r>
            <a:r>
              <a:rPr lang="ko-KR" altLang="en-US"/>
              <a:t>은 </a:t>
            </a:r>
            <a:r>
              <a:rPr lang="en-US" altLang="ko-KR"/>
              <a:t>encoder quantization 1e-4 rad, jitter 1e-5 rad, torque noise 0.05 Nm</a:t>
            </a:r>
            <a:r>
              <a:rPr lang="ko-KR" altLang="en-US"/>
              <a:t>입니다</a:t>
            </a:r>
            <a:r>
              <a:rPr lang="en-US" altLang="ko-KR"/>
              <a:t>.
Source: §5.1 · Appendix C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25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위의 두 상자는 실제 </a:t>
            </a:r>
            <a:r>
              <a:rPr lang="en-US" altLang="ko-KR"/>
              <a:t>FR3 </a:t>
            </a:r>
            <a:r>
              <a:rPr lang="ko-KR" altLang="en-US"/>
              <a:t>식이 아니라 비유입니다</a:t>
            </a:r>
            <a:r>
              <a:rPr lang="en-US" altLang="ko-KR"/>
              <a:t>. </a:t>
            </a:r>
            <a:r>
              <a:rPr lang="ko-KR" altLang="en-US"/>
              <a:t>한 측정이 </a:t>
            </a:r>
            <a:r>
              <a:rPr lang="en-US" altLang="ko-KR"/>
              <a:t>a+b</a:t>
            </a:r>
            <a:r>
              <a:rPr lang="ko-KR" altLang="en-US"/>
              <a:t>만 알려주면 </a:t>
            </a:r>
            <a:r>
              <a:rPr lang="en-US" altLang="ko-KR"/>
              <a:t>(0.8,0.2)</a:t>
            </a:r>
            <a:r>
              <a:rPr lang="ko-KR" altLang="en-US"/>
              <a:t>와 </a:t>
            </a:r>
            <a:r>
              <a:rPr lang="en-US" altLang="ko-KR"/>
              <a:t>(0.2,0.8)</a:t>
            </a:r>
            <a:r>
              <a:rPr lang="ko-KR" altLang="en-US"/>
              <a:t>을 구분하지 못합니다</a:t>
            </a:r>
            <a:r>
              <a:rPr lang="en-US" altLang="ko-KR"/>
              <a:t>. FR3</a:t>
            </a:r>
            <a:r>
              <a:rPr lang="ko-KR" altLang="en-US"/>
              <a:t>에서도 </a:t>
            </a:r>
            <a:r>
              <a:rPr lang="en-US" altLang="ko-KR"/>
              <a:t>70</a:t>
            </a:r>
            <a:r>
              <a:rPr lang="ko-KR" altLang="en-US"/>
              <a:t>개 </a:t>
            </a:r>
            <a:r>
              <a:rPr lang="en-US" altLang="ko-KR"/>
              <a:t>inertial parameters </a:t>
            </a:r>
            <a:r>
              <a:rPr lang="ko-KR" altLang="en-US"/>
              <a:t>중 </a:t>
            </a:r>
            <a:r>
              <a:rPr lang="en-US" altLang="ko-KR"/>
              <a:t>torque</a:t>
            </a:r>
            <a:r>
              <a:rPr lang="ko-KR" altLang="en-US"/>
              <a:t>에 영향을 주는 독립 조합은 </a:t>
            </a:r>
            <a:r>
              <a:rPr lang="en-US" altLang="ko-KR"/>
              <a:t>43</a:t>
            </a:r>
            <a:r>
              <a:rPr lang="ko-KR" altLang="en-US"/>
              <a:t>개이고 </a:t>
            </a:r>
            <a:r>
              <a:rPr lang="en-US" altLang="ko-KR"/>
              <a:t>null space</a:t>
            </a:r>
            <a:r>
              <a:rPr lang="ko-KR" altLang="en-US"/>
              <a:t>는 </a:t>
            </a:r>
            <a:r>
              <a:rPr lang="en-US" altLang="ko-KR"/>
              <a:t>27</a:t>
            </a:r>
            <a:r>
              <a:rPr lang="ko-KR" altLang="en-US"/>
              <a:t>차원입니다</a:t>
            </a:r>
            <a:r>
              <a:rPr lang="en-US" altLang="ko-KR"/>
              <a:t>. </a:t>
            </a:r>
            <a:r>
              <a:rPr lang="ko-KR" altLang="en-US"/>
              <a:t>데이터가 이 </a:t>
            </a:r>
            <a:r>
              <a:rPr lang="en-US" altLang="ko-KR"/>
              <a:t>structural rank</a:t>
            </a:r>
            <a:r>
              <a:rPr lang="ko-KR" altLang="en-US"/>
              <a:t>에 도달해도 개별 파라미터의 유일성이 생기지 않습니다</a:t>
            </a:r>
            <a:r>
              <a:rPr lang="en-US" altLang="ko-KR"/>
              <a:t>. </a:t>
            </a:r>
            <a:r>
              <a:rPr lang="ko-KR" altLang="en-US"/>
              <a:t>정확히 </a:t>
            </a:r>
            <a:r>
              <a:rPr lang="en-US" altLang="ko-KR"/>
              <a:t>null </a:t>
            </a:r>
            <a:r>
              <a:rPr lang="ko-KR" altLang="en-US"/>
              <a:t>방향만큼 다른 두 모델은 같은 </a:t>
            </a:r>
            <a:r>
              <a:rPr lang="en-US" altLang="ko-KR"/>
              <a:t>friction/actuation/integration </a:t>
            </a:r>
            <a:r>
              <a:rPr lang="ko-KR" altLang="en-US"/>
              <a:t>조건에서 모든 </a:t>
            </a:r>
            <a:r>
              <a:rPr lang="en-US" altLang="ko-KR"/>
              <a:t>free-space dynamics</a:t>
            </a:r>
            <a:r>
              <a:rPr lang="ko-KR" altLang="en-US"/>
              <a:t>가 같습니다</a:t>
            </a:r>
            <a:r>
              <a:rPr lang="en-US" altLang="ko-KR"/>
              <a:t>. </a:t>
            </a:r>
            <a:r>
              <a:rPr lang="ko-KR" altLang="en-US"/>
              <a:t>실제 </a:t>
            </a:r>
            <a:r>
              <a:rPr lang="en-US" altLang="ko-KR"/>
              <a:t>fitted models</a:t>
            </a:r>
            <a:r>
              <a:rPr lang="ko-KR" altLang="en-US"/>
              <a:t>에는 </a:t>
            </a:r>
            <a:r>
              <a:rPr lang="en-US" altLang="ko-KR"/>
              <a:t>noise</a:t>
            </a:r>
            <a:r>
              <a:rPr lang="ko-KR" altLang="en-US"/>
              <a:t>와 작은 </a:t>
            </a:r>
            <a:r>
              <a:rPr lang="en-US" altLang="ko-KR"/>
              <a:t>fitting </a:t>
            </a:r>
            <a:r>
              <a:rPr lang="ko-KR" altLang="en-US"/>
              <a:t>차이가 있으므로 결과는 근사적으로 해석합니다</a:t>
            </a:r>
            <a:r>
              <a:rPr lang="en-US" altLang="ko-KR"/>
              <a:t>.
Source: §4.6 · structural audit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394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TCP</a:t>
            </a:r>
            <a:r>
              <a:rPr lang="ko-KR" altLang="en-US"/>
              <a:t>는 </a:t>
            </a:r>
            <a:r>
              <a:rPr lang="en-US" altLang="ko-KR"/>
              <a:t>tool centre point, </a:t>
            </a:r>
            <a:r>
              <a:rPr lang="ko-KR" altLang="en-US"/>
              <a:t>로봇 말단 위치입니다</a:t>
            </a:r>
            <a:r>
              <a:rPr lang="en-US" altLang="ko-KR"/>
              <a:t>. RMSE</a:t>
            </a:r>
            <a:r>
              <a:rPr lang="ko-KR" altLang="en-US"/>
              <a:t>는 제곱오차 평균의 제곱근이며 작을수록 좋습니다</a:t>
            </a:r>
            <a:r>
              <a:rPr lang="en-US" altLang="ko-KR"/>
              <a:t>. torque NRMSE</a:t>
            </a:r>
            <a:r>
              <a:rPr lang="ko-KR" altLang="en-US"/>
              <a:t>는 </a:t>
            </a:r>
            <a:r>
              <a:rPr lang="en-US" altLang="ko-KR"/>
              <a:t>nominal residual RMS</a:t>
            </a:r>
            <a:r>
              <a:rPr lang="ko-KR" altLang="en-US"/>
              <a:t>로 정규화하므로 </a:t>
            </a:r>
            <a:r>
              <a:rPr lang="en-US" altLang="ko-KR"/>
              <a:t>nominal</a:t>
            </a:r>
            <a:r>
              <a:rPr lang="ko-KR" altLang="en-US"/>
              <a:t>은 </a:t>
            </a:r>
            <a:r>
              <a:rPr lang="en-US" altLang="ko-KR"/>
              <a:t>1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다른 </a:t>
            </a:r>
            <a:r>
              <a:rPr lang="en-US" altLang="ko-KR"/>
              <a:t>reference</a:t>
            </a:r>
            <a:r>
              <a:rPr lang="ko-KR" altLang="en-US"/>
              <a:t>끼리는 분모가 달라 단순 순위 비교를 피합니다</a:t>
            </a:r>
            <a:r>
              <a:rPr lang="en-US" altLang="ko-KR"/>
              <a:t>. Behavioral fidelity</a:t>
            </a:r>
            <a:r>
              <a:rPr lang="ko-KR" altLang="en-US"/>
              <a:t>는 관찰된 출력</a:t>
            </a:r>
            <a:r>
              <a:rPr lang="en-US" altLang="ko-KR"/>
              <a:t>, physical attribution</a:t>
            </a:r>
            <a:r>
              <a:rPr lang="ko-KR" altLang="en-US"/>
              <a:t>은 보정의 위치와 크기</a:t>
            </a:r>
            <a:r>
              <a:rPr lang="en-US" altLang="ko-KR"/>
              <a:t>, residual discrepancy</a:t>
            </a:r>
            <a:r>
              <a:rPr lang="ko-KR" altLang="en-US"/>
              <a:t>는 </a:t>
            </a:r>
            <a:r>
              <a:rPr lang="en-US" altLang="ko-KR"/>
              <a:t>true-parameter twin</a:t>
            </a:r>
            <a:r>
              <a:rPr lang="ko-KR" altLang="en-US"/>
              <a:t>에도 남는 차이입니다</a:t>
            </a:r>
            <a:r>
              <a:rPr lang="en-US" altLang="ko-KR"/>
              <a:t>. </a:t>
            </a:r>
            <a:r>
              <a:rPr lang="ko-KR" altLang="en-US"/>
              <a:t>세 숫자의 합이 총오차라는 뜻이 아닙니다</a:t>
            </a:r>
            <a:r>
              <a:rPr lang="en-US" altLang="ko-KR"/>
              <a:t>.
Source: Definitions 1–2 · §3.4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476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SAPC</a:t>
            </a:r>
            <a:r>
              <a:rPr lang="ko-KR" altLang="en-US"/>
              <a:t>는 </a:t>
            </a:r>
            <a:r>
              <a:rPr lang="en-US" altLang="ko-KR"/>
              <a:t>structure-aware physical calibration</a:t>
            </a:r>
            <a:r>
              <a:rPr lang="ko-KR" altLang="en-US"/>
              <a:t>입니다</a:t>
            </a:r>
            <a:r>
              <a:rPr lang="en-US" altLang="ko-KR"/>
              <a:t>. reference</a:t>
            </a:r>
            <a:r>
              <a:rPr lang="ko-KR" altLang="en-US"/>
              <a:t>에서 </a:t>
            </a:r>
            <a:r>
              <a:rPr lang="en-US" altLang="ko-KR"/>
              <a:t>q</a:t>
            </a:r>
            <a:r>
              <a:rPr lang="ko-KR" altLang="en-US"/>
              <a:t>와 </a:t>
            </a:r>
            <a:r>
              <a:rPr lang="en-US" altLang="ko-KR"/>
              <a:t>torque</a:t>
            </a:r>
            <a:r>
              <a:rPr lang="ko-KR" altLang="en-US"/>
              <a:t>를 기록하고 </a:t>
            </a:r>
            <a:r>
              <a:rPr lang="en-US" altLang="ko-KR"/>
              <a:t>nominal inverse dynamics</a:t>
            </a:r>
            <a:r>
              <a:rPr lang="ko-KR" altLang="en-US"/>
              <a:t>가 예측한 </a:t>
            </a:r>
            <a:r>
              <a:rPr lang="en-US" altLang="ko-KR"/>
              <a:t>torque</a:t>
            </a:r>
            <a:r>
              <a:rPr lang="ko-KR" altLang="en-US"/>
              <a:t>를 뺍니다</a:t>
            </a:r>
            <a:r>
              <a:rPr lang="en-US" altLang="ko-KR"/>
              <a:t>. </a:t>
            </a:r>
            <a:r>
              <a:rPr lang="ko-KR" altLang="en-US"/>
              <a:t>그 </a:t>
            </a:r>
            <a:r>
              <a:rPr lang="en-US" altLang="ko-KR"/>
              <a:t>residual</a:t>
            </a:r>
            <a:r>
              <a:rPr lang="ko-KR" altLang="en-US"/>
              <a:t>을 설명하는 </a:t>
            </a:r>
            <a:r>
              <a:rPr lang="en-US" altLang="ko-KR"/>
              <a:t>physical library</a:t>
            </a:r>
            <a:r>
              <a:rPr lang="ko-KR" altLang="en-US"/>
              <a:t>를 구성하고</a:t>
            </a:r>
            <a:r>
              <a:rPr lang="en-US" altLang="ko-KR"/>
              <a:t>, </a:t>
            </a:r>
            <a:r>
              <a:rPr lang="ko-KR" altLang="en-US"/>
              <a:t>소수 </a:t>
            </a:r>
            <a:r>
              <a:rPr lang="en-US" altLang="ko-KR"/>
              <a:t>group</a:t>
            </a:r>
            <a:r>
              <a:rPr lang="ko-KR" altLang="en-US"/>
              <a:t>을 선택합니다</a:t>
            </a:r>
            <a:r>
              <a:rPr lang="en-US" altLang="ko-KR"/>
              <a:t>. </a:t>
            </a:r>
            <a:r>
              <a:rPr lang="ko-KR" altLang="en-US"/>
              <a:t>마지막으로 일관된 </a:t>
            </a:r>
            <a:r>
              <a:rPr lang="en-US" altLang="ko-KR"/>
              <a:t>mass/inertia/friction fields</a:t>
            </a:r>
            <a:r>
              <a:rPr lang="ko-KR" altLang="en-US"/>
              <a:t>에 </a:t>
            </a:r>
            <a:r>
              <a:rPr lang="en-US" altLang="ko-KR"/>
              <a:t>write-back</a:t>
            </a:r>
            <a:r>
              <a:rPr lang="ko-KR" altLang="en-US"/>
              <a:t>하여 실제 실행 가능한 </a:t>
            </a:r>
            <a:r>
              <a:rPr lang="en-US" altLang="ko-KR"/>
              <a:t>simulator</a:t>
            </a:r>
            <a:r>
              <a:rPr lang="ko-KR" altLang="en-US"/>
              <a:t>를 만듭니다</a:t>
            </a:r>
            <a:r>
              <a:rPr lang="en-US" altLang="ko-KR"/>
              <a:t>. nominal</a:t>
            </a:r>
            <a:r>
              <a:rPr lang="ko-KR" altLang="en-US"/>
              <a:t>과 </a:t>
            </a:r>
            <a:r>
              <a:rPr lang="en-US" altLang="ko-KR"/>
              <a:t>calibrated robot </a:t>
            </a:r>
            <a:r>
              <a:rPr lang="ko-KR" altLang="en-US"/>
              <a:t>그림은 실제 </a:t>
            </a:r>
            <a:r>
              <a:rPr lang="en-US" altLang="ko-KR"/>
              <a:t>MuJoCo </a:t>
            </a:r>
            <a:r>
              <a:rPr lang="ko-KR" altLang="en-US"/>
              <a:t>렌더입니다</a:t>
            </a:r>
            <a:r>
              <a:rPr lang="en-US" altLang="ko-KR"/>
              <a:t>.
Source: §4 · fig_overview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528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Inverse dynamics</a:t>
            </a:r>
            <a:r>
              <a:rPr lang="ko-KR" altLang="en-US"/>
              <a:t>는 </a:t>
            </a:r>
            <a:r>
              <a:rPr lang="en-US" altLang="ko-KR"/>
              <a:t>q, qdot, qddot</a:t>
            </a:r>
            <a:r>
              <a:rPr lang="ko-KR" altLang="en-US"/>
              <a:t>를 주었을 때 필요한 </a:t>
            </a:r>
            <a:r>
              <a:rPr lang="en-US" altLang="ko-KR"/>
              <a:t>torque</a:t>
            </a:r>
            <a:r>
              <a:rPr lang="ko-KR" altLang="en-US"/>
              <a:t>를 계산하는 함수입니다</a:t>
            </a:r>
            <a:r>
              <a:rPr lang="en-US" altLang="ko-KR"/>
              <a:t>. r</a:t>
            </a:r>
            <a:r>
              <a:rPr lang="ko-KR" altLang="en-US"/>
              <a:t>은 측정 </a:t>
            </a:r>
            <a:r>
              <a:rPr lang="en-US" altLang="ko-KR"/>
              <a:t>torque</a:t>
            </a:r>
            <a:r>
              <a:rPr lang="ko-KR" altLang="en-US"/>
              <a:t>와 </a:t>
            </a:r>
            <a:r>
              <a:rPr lang="en-US" altLang="ko-KR"/>
              <a:t>nominal prediction</a:t>
            </a:r>
            <a:r>
              <a:rPr lang="ko-KR" altLang="en-US"/>
              <a:t>의 차이</a:t>
            </a:r>
            <a:r>
              <a:rPr lang="en-US" altLang="ko-KR"/>
              <a:t>, A</a:t>
            </a:r>
            <a:r>
              <a:rPr lang="ko-KR" altLang="en-US"/>
              <a:t>의 각 열은 한 파라미터 변화의 </a:t>
            </a:r>
            <a:r>
              <a:rPr lang="en-US" altLang="ko-KR"/>
              <a:t>torque signature, ξ</a:t>
            </a:r>
            <a:r>
              <a:rPr lang="ko-KR" altLang="en-US"/>
              <a:t>는 찾을 보정 크기입니다</a:t>
            </a:r>
            <a:r>
              <a:rPr lang="en-US" altLang="ko-KR"/>
              <a:t>. inertia</a:t>
            </a:r>
            <a:r>
              <a:rPr lang="ko-KR" altLang="en-US"/>
              <a:t>는 </a:t>
            </a:r>
            <a:r>
              <a:rPr lang="en-US" altLang="ko-KR"/>
              <a:t>mass, first moment mc, origin inertia</a:t>
            </a:r>
            <a:r>
              <a:rPr lang="ko-KR" altLang="en-US"/>
              <a:t>라는 표준 </a:t>
            </a:r>
            <a:r>
              <a:rPr lang="en-US" altLang="ko-KR"/>
              <a:t>10</a:t>
            </a:r>
            <a:r>
              <a:rPr lang="ko-KR" altLang="en-US"/>
              <a:t>개 좌표에서 </a:t>
            </a:r>
            <a:r>
              <a:rPr lang="en-US" altLang="ko-KR"/>
              <a:t>affine</a:t>
            </a:r>
            <a:r>
              <a:rPr lang="ko-KR" altLang="en-US"/>
              <a:t>합니다</a:t>
            </a:r>
            <a:r>
              <a:rPr lang="en-US" altLang="ko-KR"/>
              <a:t>. </a:t>
            </a:r>
            <a:r>
              <a:rPr lang="ko-KR" altLang="en-US"/>
              <a:t>질량과 </a:t>
            </a:r>
            <a:r>
              <a:rPr lang="en-US" altLang="ko-KR"/>
              <a:t>CoM</a:t>
            </a:r>
            <a:r>
              <a:rPr lang="ko-KR" altLang="en-US"/>
              <a:t>을 따로 선형화했다고 말하면 안 됩니다</a:t>
            </a:r>
            <a:r>
              <a:rPr lang="en-US" altLang="ko-KR"/>
              <a:t>. physically valid basis body 10</a:t>
            </a:r>
            <a:r>
              <a:rPr lang="ko-KR" altLang="en-US"/>
              <a:t>개를 더한 </a:t>
            </a:r>
            <a:r>
              <a:rPr lang="en-US" altLang="ko-KR"/>
              <a:t>ID </a:t>
            </a:r>
            <a:r>
              <a:rPr lang="ko-KR" altLang="en-US"/>
              <a:t>호출과 </a:t>
            </a:r>
            <a:r>
              <a:rPr lang="en-US" altLang="ko-KR"/>
              <a:t>nominal </a:t>
            </a:r>
            <a:r>
              <a:rPr lang="ko-KR" altLang="en-US"/>
              <a:t>호출로 </a:t>
            </a:r>
            <a:r>
              <a:rPr lang="en-US" altLang="ko-KR"/>
              <a:t>link</a:t>
            </a:r>
            <a:r>
              <a:rPr lang="ko-KR" altLang="en-US"/>
              <a:t>당 </a:t>
            </a:r>
            <a:r>
              <a:rPr lang="en-US" altLang="ko-KR"/>
              <a:t>11</a:t>
            </a:r>
            <a:r>
              <a:rPr lang="ko-KR" altLang="en-US"/>
              <a:t>회를 사용합니다</a:t>
            </a:r>
            <a:r>
              <a:rPr lang="en-US" altLang="ko-KR"/>
              <a:t>. payload</a:t>
            </a:r>
            <a:r>
              <a:rPr lang="ko-KR" altLang="en-US"/>
              <a:t>는 </a:t>
            </a:r>
            <a:r>
              <a:rPr lang="en-US" altLang="ko-KR"/>
              <a:t>link7</a:t>
            </a:r>
            <a:r>
              <a:rPr lang="ko-KR" altLang="en-US"/>
              <a:t>의 </a:t>
            </a:r>
            <a:r>
              <a:rPr lang="en-US" altLang="ko-KR"/>
              <a:t>inertial increment</a:t>
            </a:r>
            <a:r>
              <a:rPr lang="ko-KR" altLang="en-US"/>
              <a:t>에 포함됩니다</a:t>
            </a:r>
            <a:r>
              <a:rPr lang="en-US" altLang="ko-KR"/>
              <a:t>.
Source: §4.1–4.2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918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흐름도는 알고리즘의 개념도이며 실제 추가 순서나 </a:t>
            </a:r>
            <a:r>
              <a:rPr lang="en-US" altLang="ko-KR"/>
              <a:t>CV trace</a:t>
            </a:r>
            <a:r>
              <a:rPr lang="ko-KR" altLang="en-US"/>
              <a:t>를 재현한 것은 아닙니다</a:t>
            </a:r>
            <a:r>
              <a:rPr lang="en-US" altLang="ko-KR"/>
              <a:t>. uncorrected twin, </a:t>
            </a:r>
            <a:r>
              <a:rPr lang="ko-KR" altLang="en-US"/>
              <a:t>즉 </a:t>
            </a:r>
            <a:r>
              <a:rPr lang="en-US" altLang="ko-KR"/>
              <a:t>empty support</a:t>
            </a:r>
            <a:r>
              <a:rPr lang="ko-KR" altLang="en-US"/>
              <a:t>에서 시작합니다</a:t>
            </a:r>
            <a:r>
              <a:rPr lang="en-US" altLang="ko-KR"/>
              <a:t>. </a:t>
            </a:r>
            <a:r>
              <a:rPr lang="ko-KR" altLang="en-US"/>
              <a:t>남은 </a:t>
            </a:r>
            <a:r>
              <a:rPr lang="en-US" altLang="ko-KR"/>
              <a:t>group </a:t>
            </a:r>
            <a:r>
              <a:rPr lang="ko-KR" altLang="en-US"/>
              <a:t>각각을 추가하여 </a:t>
            </a:r>
            <a:r>
              <a:rPr lang="en-US" altLang="ko-KR"/>
              <a:t>bounded least squares</a:t>
            </a:r>
            <a:r>
              <a:rPr lang="ko-KR" altLang="en-US"/>
              <a:t>를 풀고 </a:t>
            </a:r>
            <a:r>
              <a:rPr lang="en-US" altLang="ko-KR"/>
              <a:t>trajectory-wise CV</a:t>
            </a:r>
            <a:r>
              <a:rPr lang="ko-KR" altLang="en-US"/>
              <a:t>를 비교합니다</a:t>
            </a:r>
            <a:r>
              <a:rPr lang="en-US" altLang="ko-KR"/>
              <a:t>. </a:t>
            </a:r>
            <a:r>
              <a:rPr lang="ko-KR" altLang="en-US"/>
              <a:t>최적 추가를 반복하고</a:t>
            </a:r>
            <a:r>
              <a:rPr lang="en-US" altLang="ko-KR"/>
              <a:t>, </a:t>
            </a:r>
            <a:r>
              <a:rPr lang="ko-KR" altLang="en-US"/>
              <a:t>경로 전체 중 최적 </a:t>
            </a:r>
            <a:r>
              <a:rPr lang="en-US" altLang="ko-KR"/>
              <a:t>CV score</a:t>
            </a:r>
            <a:r>
              <a:rPr lang="ko-KR" altLang="en-US"/>
              <a:t>의 </a:t>
            </a:r>
            <a:r>
              <a:rPr lang="en-US" altLang="ko-KR"/>
              <a:t>one standard error </a:t>
            </a:r>
            <a:r>
              <a:rPr lang="ko-KR" altLang="en-US"/>
              <a:t>안에 있는 가장 작은 모델을 선택합니다</a:t>
            </a:r>
            <a:r>
              <a:rPr lang="en-US" altLang="ko-KR"/>
              <a:t>. </a:t>
            </a:r>
            <a:r>
              <a:rPr lang="ko-KR" altLang="en-US"/>
              <a:t>개선이 없으면 멈추며 최대 </a:t>
            </a:r>
            <a:r>
              <a:rPr lang="en-US" altLang="ko-KR"/>
              <a:t>8 groups</a:t>
            </a:r>
            <a:r>
              <a:rPr lang="ko-KR" altLang="en-US"/>
              <a:t>입니다</a:t>
            </a:r>
            <a:r>
              <a:rPr lang="en-US" altLang="ko-KR"/>
              <a:t>. null candidate</a:t>
            </a:r>
            <a:r>
              <a:rPr lang="ko-KR" altLang="en-US"/>
              <a:t>를 포함해야 </a:t>
            </a:r>
            <a:r>
              <a:rPr lang="en-US" altLang="ko-KR"/>
              <a:t>nominal data</a:t>
            </a:r>
            <a:r>
              <a:rPr lang="ko-KR" altLang="en-US"/>
              <a:t>에서 아무 변화도 없다는 결론을 낼 수 있습니다</a:t>
            </a:r>
            <a:r>
              <a:rPr lang="en-US" altLang="ko-KR"/>
              <a:t>.
Source: §4.4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523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Candidate fit</a:t>
            </a:r>
            <a:r>
              <a:rPr lang="ko-KR" altLang="en-US"/>
              <a:t>에는 </a:t>
            </a:r>
            <a:r>
              <a:rPr lang="en-US" altLang="ko-KR"/>
              <a:t>mass</a:t>
            </a:r>
            <a:r>
              <a:rPr lang="ko-KR" altLang="en-US"/>
              <a:t>와 </a:t>
            </a:r>
            <a:r>
              <a:rPr lang="en-US" altLang="ko-KR"/>
              <a:t>dissipative coefficient bounds</a:t>
            </a:r>
            <a:r>
              <a:rPr lang="ko-KR" altLang="en-US"/>
              <a:t>가 들어갑니다</a:t>
            </a:r>
            <a:r>
              <a:rPr lang="en-US" altLang="ko-KR"/>
              <a:t>. full pseudo-inertia PSD </a:t>
            </a:r>
            <a:r>
              <a:rPr lang="ko-KR" altLang="en-US"/>
              <a:t>조건은 선택 뒤 </a:t>
            </a:r>
            <a:r>
              <a:rPr lang="en-US" altLang="ko-KR"/>
              <a:t>projection</a:t>
            </a:r>
            <a:r>
              <a:rPr lang="ko-KR" altLang="en-US"/>
              <a:t>으로 적용됩니다</a:t>
            </a:r>
            <a:r>
              <a:rPr lang="en-US" altLang="ko-KR"/>
              <a:t>. </a:t>
            </a:r>
            <a:r>
              <a:rPr lang="ko-KR" altLang="en-US"/>
              <a:t>순서를 정확히 전달하세요</a:t>
            </a:r>
            <a:r>
              <a:rPr lang="en-US" altLang="ko-KR"/>
              <a:t>. </a:t>
            </a:r>
            <a:r>
              <a:rPr lang="ko-KR" altLang="en-US"/>
              <a:t>그 다음 </a:t>
            </a:r>
            <a:r>
              <a:rPr lang="en-US" altLang="ko-KR"/>
              <a:t>native body mass, CoM, principal inertia, joint damping, friction loss, armature</a:t>
            </a:r>
            <a:r>
              <a:rPr lang="ko-KR" altLang="en-US"/>
              <a:t>에 씁니다</a:t>
            </a:r>
            <a:r>
              <a:rPr lang="en-US" altLang="ko-KR"/>
              <a:t>. MuJoCo</a:t>
            </a:r>
            <a:r>
              <a:rPr lang="ko-KR" altLang="en-US"/>
              <a:t>에 </a:t>
            </a:r>
            <a:r>
              <a:rPr lang="en-US" altLang="ko-KR"/>
              <a:t>native field</a:t>
            </a:r>
            <a:r>
              <a:rPr lang="ko-KR" altLang="en-US"/>
              <a:t>가 없는 </a:t>
            </a:r>
            <a:r>
              <a:rPr lang="en-US" altLang="ko-KR"/>
              <a:t>friction basis</a:t>
            </a:r>
            <a:r>
              <a:rPr lang="ko-KR" altLang="en-US"/>
              <a:t>는 </a:t>
            </a:r>
            <a:r>
              <a:rPr lang="en-US" altLang="ko-KR"/>
              <a:t>passive generalized force</a:t>
            </a:r>
            <a:r>
              <a:rPr lang="ko-KR" altLang="en-US"/>
              <a:t>로 적용하며 관성 </a:t>
            </a:r>
            <a:r>
              <a:rPr lang="en-US" altLang="ko-KR"/>
              <a:t>residual</a:t>
            </a:r>
            <a:r>
              <a:rPr lang="ko-KR" altLang="en-US"/>
              <a:t>을 외력으로 넣지 않습니다</a:t>
            </a:r>
            <a:r>
              <a:rPr lang="en-US" altLang="ko-KR"/>
              <a:t>. linear-library NRMSE</a:t>
            </a:r>
            <a:r>
              <a:rPr lang="ko-KR" altLang="en-US"/>
              <a:t>와 </a:t>
            </a:r>
            <a:r>
              <a:rPr lang="en-US" altLang="ko-KR"/>
              <a:t>instantiated-twin NRMSE</a:t>
            </a:r>
            <a:r>
              <a:rPr lang="ko-KR" altLang="en-US"/>
              <a:t>를 별도로 평가하는 이유가 여기에 있습니다</a:t>
            </a:r>
            <a:r>
              <a:rPr lang="en-US" altLang="ko-KR"/>
              <a:t>. </a:t>
            </a:r>
            <a:r>
              <a:rPr lang="ko-KR" altLang="en-US"/>
              <a:t>데이터 전처리는 </a:t>
            </a:r>
            <a:r>
              <a:rPr lang="en-US" altLang="ko-KR"/>
              <a:t>SG 101 samples, order3, trim0.2s, 200Hz decimation, |qdot|&lt;0.1 rows </a:t>
            </a:r>
            <a:r>
              <a:rPr lang="ko-KR" altLang="en-US"/>
              <a:t>제외입니다</a:t>
            </a:r>
            <a:r>
              <a:rPr lang="en-US" altLang="ko-KR"/>
              <a:t>.
Source: §4.3–4.5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707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그래프는 </a:t>
            </a:r>
            <a:r>
              <a:rPr lang="en-US" altLang="ko-KR"/>
              <a:t>logarithmic y-axis</a:t>
            </a:r>
            <a:r>
              <a:rPr lang="ko-KR" altLang="en-US"/>
              <a:t>입니다</a:t>
            </a:r>
            <a:r>
              <a:rPr lang="en-US" altLang="ko-KR"/>
              <a:t>. nominal</a:t>
            </a:r>
            <a:r>
              <a:rPr lang="ko-KR" altLang="en-US"/>
              <a:t>의 </a:t>
            </a:r>
            <a:r>
              <a:rPr lang="en-US" altLang="ko-KR"/>
              <a:t>14.43 mm</a:t>
            </a:r>
            <a:r>
              <a:rPr lang="ko-KR" altLang="en-US"/>
              <a:t>에 비해 </a:t>
            </a:r>
            <a:r>
              <a:rPr lang="en-US" altLang="ko-KR"/>
              <a:t>Dense</a:t>
            </a:r>
            <a:r>
              <a:rPr lang="ko-KR" altLang="en-US"/>
              <a:t>와 </a:t>
            </a:r>
            <a:r>
              <a:rPr lang="en-US" altLang="ko-KR"/>
              <a:t>SAPC</a:t>
            </a:r>
            <a:r>
              <a:rPr lang="ko-KR" altLang="en-US"/>
              <a:t>는 약</a:t>
            </a:r>
            <a:r>
              <a:rPr lang="en-US" altLang="ko-KR"/>
              <a:t>0.03mm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오른쪽은 </a:t>
            </a:r>
            <a:r>
              <a:rPr lang="en-US" altLang="ko-KR"/>
              <a:t>executable twin</a:t>
            </a:r>
            <a:r>
              <a:rPr lang="ko-KR" altLang="en-US"/>
              <a:t>의 </a:t>
            </a:r>
            <a:r>
              <a:rPr lang="en-US" altLang="ko-KR"/>
              <a:t>torque NRMSE</a:t>
            </a:r>
            <a:r>
              <a:rPr lang="ko-KR" altLang="en-US"/>
              <a:t>로 각각 </a:t>
            </a:r>
            <a:r>
              <a:rPr lang="en-US" altLang="ko-KR"/>
              <a:t>.025</a:t>
            </a:r>
            <a:r>
              <a:rPr lang="ko-KR" altLang="en-US"/>
              <a:t>와 </a:t>
            </a:r>
            <a:r>
              <a:rPr lang="en-US" altLang="ko-KR"/>
              <a:t>.024</a:t>
            </a:r>
            <a:r>
              <a:rPr lang="ko-KR" altLang="en-US"/>
              <a:t>입니다</a:t>
            </a:r>
            <a:r>
              <a:rPr lang="en-US" altLang="ko-KR"/>
              <a:t>. library NRMSE</a:t>
            </a:r>
            <a:r>
              <a:rPr lang="ko-KR" altLang="en-US"/>
              <a:t>는 두 방법 모두 </a:t>
            </a:r>
            <a:r>
              <a:rPr lang="en-US" altLang="ko-KR"/>
              <a:t>.041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이 그래프만 보고는 </a:t>
            </a:r>
            <a:r>
              <a:rPr lang="en-US" altLang="ko-KR"/>
              <a:t>Dense</a:t>
            </a:r>
            <a:r>
              <a:rPr lang="ko-KR" altLang="en-US"/>
              <a:t>와 </a:t>
            </a:r>
            <a:r>
              <a:rPr lang="en-US" altLang="ko-KR"/>
              <a:t>SAPC</a:t>
            </a:r>
            <a:r>
              <a:rPr lang="ko-KR" altLang="en-US"/>
              <a:t>의 물성 차이를 알 수 없습니다</a:t>
            </a:r>
            <a:r>
              <a:rPr lang="en-US" altLang="ko-KR"/>
              <a:t>. numerical and sensor noise </a:t>
            </a:r>
            <a:r>
              <a:rPr lang="ko-KR" altLang="en-US"/>
              <a:t>수준에서 보이는 작은 차이를 중요한 성능 우위로 해석하지 마세요</a:t>
            </a:r>
            <a:r>
              <a:rPr lang="en-US" altLang="ko-KR"/>
              <a:t>.
Source: Table 2 · gate_results.json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227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이제 보는 대상을 </a:t>
            </a:r>
            <a:r>
              <a:rPr lang="en-US" altLang="ko-KR"/>
              <a:t>trajectory</a:t>
            </a:r>
            <a:r>
              <a:rPr lang="ko-KR" altLang="en-US"/>
              <a:t>에서 </a:t>
            </a:r>
            <a:r>
              <a:rPr lang="en-US" altLang="ko-KR"/>
              <a:t>parameters</a:t>
            </a:r>
            <a:r>
              <a:rPr lang="ko-KR" altLang="en-US"/>
              <a:t>로 바꿉니다</a:t>
            </a:r>
            <a:r>
              <a:rPr lang="en-US" altLang="ko-KR"/>
              <a:t>. true payload</a:t>
            </a:r>
            <a:r>
              <a:rPr lang="ko-KR" altLang="en-US"/>
              <a:t>는 </a:t>
            </a:r>
            <a:r>
              <a:rPr lang="en-US" altLang="ko-KR"/>
              <a:t>.8kg</a:t>
            </a:r>
            <a:r>
              <a:rPr lang="ko-KR" altLang="en-US"/>
              <a:t>이고 </a:t>
            </a:r>
            <a:r>
              <a:rPr lang="en-US" altLang="ko-KR"/>
              <a:t>Dense</a:t>
            </a:r>
            <a:r>
              <a:rPr lang="ko-KR" altLang="en-US"/>
              <a:t>는 </a:t>
            </a:r>
            <a:r>
              <a:rPr lang="en-US" altLang="ko-KR"/>
              <a:t>.130kg, SAPC</a:t>
            </a:r>
            <a:r>
              <a:rPr lang="ko-KR" altLang="en-US"/>
              <a:t>는 </a:t>
            </a:r>
            <a:r>
              <a:rPr lang="en-US" altLang="ko-KR"/>
              <a:t>.794kg</a:t>
            </a:r>
            <a:r>
              <a:rPr lang="ko-KR" altLang="en-US"/>
              <a:t>입니다</a:t>
            </a:r>
            <a:r>
              <a:rPr lang="en-US" altLang="ko-KR"/>
              <a:t>. CoM error</a:t>
            </a:r>
            <a:r>
              <a:rPr lang="ko-KR" altLang="en-US"/>
              <a:t>는 </a:t>
            </a:r>
            <a:r>
              <a:rPr lang="en-US" altLang="ko-KR"/>
              <a:t>368mm</a:t>
            </a:r>
            <a:r>
              <a:rPr lang="ko-KR" altLang="en-US"/>
              <a:t>와</a:t>
            </a:r>
            <a:r>
              <a:rPr lang="en-US" altLang="ko-KR"/>
              <a:t>1.3mm</a:t>
            </a:r>
            <a:r>
              <a:rPr lang="ko-KR" altLang="en-US"/>
              <a:t>입니다</a:t>
            </a:r>
            <a:r>
              <a:rPr lang="en-US" altLang="ko-KR"/>
              <a:t>. Dense+PSD-LMI baseline</a:t>
            </a:r>
            <a:r>
              <a:rPr lang="ko-KR" altLang="en-US"/>
              <a:t>도 </a:t>
            </a:r>
            <a:r>
              <a:rPr lang="en-US" altLang="ko-KR"/>
              <a:t>.130kg</a:t>
            </a:r>
            <a:r>
              <a:rPr lang="ko-KR" altLang="en-US"/>
              <a:t>이므로 </a:t>
            </a:r>
            <a:r>
              <a:rPr lang="en-US" altLang="ko-KR"/>
              <a:t>Dense</a:t>
            </a:r>
            <a:r>
              <a:rPr lang="ko-KR" altLang="en-US"/>
              <a:t>가 단지 물리적으로 불가능해서 실패했다는 설명은 성립하지 않습니다</a:t>
            </a:r>
            <a:r>
              <a:rPr lang="en-US" altLang="ko-KR"/>
              <a:t>. </a:t>
            </a:r>
            <a:r>
              <a:rPr lang="ko-KR" altLang="en-US"/>
              <a:t>링크별 질량 보정 그림에서 </a:t>
            </a:r>
            <a:r>
              <a:rPr lang="en-US" altLang="ko-KR"/>
              <a:t>SAPC</a:t>
            </a:r>
            <a:r>
              <a:rPr lang="ko-KR" altLang="en-US"/>
              <a:t>는 </a:t>
            </a:r>
            <a:r>
              <a:rPr lang="en-US" altLang="ko-KR"/>
              <a:t>link3</a:t>
            </a:r>
            <a:r>
              <a:rPr lang="ko-KR" altLang="en-US"/>
              <a:t>와</a:t>
            </a:r>
            <a:r>
              <a:rPr lang="en-US" altLang="ko-KR"/>
              <a:t>7, Dense</a:t>
            </a:r>
            <a:r>
              <a:rPr lang="ko-KR" altLang="en-US"/>
              <a:t>는</a:t>
            </a:r>
            <a:r>
              <a:rPr lang="en-US" altLang="ko-KR"/>
              <a:t>3~7</a:t>
            </a:r>
            <a:r>
              <a:rPr lang="ko-KR" altLang="en-US"/>
              <a:t>에 분산합니다</a:t>
            </a:r>
            <a:r>
              <a:rPr lang="en-US" altLang="ko-KR"/>
              <a:t>. SAPC</a:t>
            </a:r>
            <a:r>
              <a:rPr lang="ko-KR" altLang="en-US"/>
              <a:t>의 </a:t>
            </a:r>
            <a:r>
              <a:rPr lang="en-US" altLang="ko-KR"/>
              <a:t>link3 mass increment .13kg</a:t>
            </a:r>
            <a:r>
              <a:rPr lang="ko-KR" altLang="en-US"/>
              <a:t>은 </a:t>
            </a:r>
            <a:r>
              <a:rPr lang="en-US" altLang="ko-KR"/>
              <a:t>true .269kg</a:t>
            </a:r>
            <a:r>
              <a:rPr lang="ko-KR" altLang="en-US"/>
              <a:t>와 다르며</a:t>
            </a:r>
            <a:r>
              <a:rPr lang="en-US" altLang="ko-KR"/>
              <a:t>, </a:t>
            </a:r>
            <a:r>
              <a:rPr lang="ko-KR" altLang="en-US"/>
              <a:t>이 </a:t>
            </a:r>
            <a:r>
              <a:rPr lang="en-US" altLang="ko-KR"/>
              <a:t>scalar</a:t>
            </a:r>
            <a:r>
              <a:rPr lang="ko-KR" altLang="en-US"/>
              <a:t>는 </a:t>
            </a:r>
            <a:r>
              <a:rPr lang="en-US" altLang="ko-KR"/>
              <a:t>structural null </a:t>
            </a:r>
            <a:r>
              <a:rPr lang="ko-KR" altLang="en-US"/>
              <a:t>방향 때문에 유일하지 않습니다</a:t>
            </a:r>
            <a:r>
              <a:rPr lang="en-US" altLang="ko-KR"/>
              <a:t>.
Source: Table 2 · counterfactual.json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378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두 번째 영상입니다</a:t>
            </a:r>
            <a:r>
              <a:rPr lang="en-US" altLang="ko-KR"/>
              <a:t>. reference</a:t>
            </a:r>
            <a:r>
              <a:rPr lang="ko-KR" altLang="en-US"/>
              <a:t>에서 </a:t>
            </a:r>
            <a:r>
              <a:rPr lang="en-US" altLang="ko-KR"/>
              <a:t>payload</a:t>
            </a:r>
            <a:r>
              <a:rPr lang="ko-KR" altLang="en-US"/>
              <a:t>만 제거합니다</a:t>
            </a:r>
            <a:r>
              <a:rPr lang="en-US" altLang="ko-KR"/>
              <a:t>. </a:t>
            </a:r>
            <a:r>
              <a:rPr lang="ko-KR" altLang="en-US"/>
              <a:t>두 </a:t>
            </a:r>
            <a:r>
              <a:rPr lang="en-US" altLang="ko-KR"/>
              <a:t>calibrated twin</a:t>
            </a:r>
            <a:r>
              <a:rPr lang="ko-KR" altLang="en-US"/>
              <a:t>에서는 </a:t>
            </a:r>
            <a:r>
              <a:rPr lang="en-US" altLang="ko-KR"/>
              <a:t>link7</a:t>
            </a:r>
            <a:r>
              <a:rPr lang="ko-KR" altLang="en-US"/>
              <a:t>의 </a:t>
            </a:r>
            <a:r>
              <a:rPr lang="en-US" altLang="ko-KR"/>
              <a:t>identified inertial increment</a:t>
            </a:r>
            <a:r>
              <a:rPr lang="ko-KR" altLang="en-US"/>
              <a:t>만 지우고 나머지 보정은 유지합니다</a:t>
            </a:r>
            <a:r>
              <a:rPr lang="en-US" altLang="ko-KR"/>
              <a:t>. </a:t>
            </a:r>
            <a:r>
              <a:rPr lang="ko-KR" altLang="en-US"/>
              <a:t>재식별은 하지 않습니다</a:t>
            </a:r>
            <a:r>
              <a:rPr lang="en-US" altLang="ko-KR"/>
              <a:t>. </a:t>
            </a:r>
            <a:r>
              <a:rPr lang="ko-KR" altLang="en-US"/>
              <a:t>저장된 </a:t>
            </a:r>
            <a:r>
              <a:rPr lang="en-US" altLang="ko-KR"/>
              <a:t>noise×1 coefficients</a:t>
            </a:r>
            <a:r>
              <a:rPr lang="ko-KR" altLang="en-US"/>
              <a:t>로 기존 </a:t>
            </a:r>
            <a:r>
              <a:rPr lang="en-US" altLang="ko-KR"/>
              <a:t>held-out seed11</a:t>
            </a:r>
            <a:r>
              <a:rPr lang="ko-KR" altLang="en-US"/>
              <a:t>의 처음</a:t>
            </a:r>
            <a:r>
              <a:rPr lang="en-US" altLang="ko-KR"/>
              <a:t>6</a:t>
            </a:r>
            <a:r>
              <a:rPr lang="ko-KR" altLang="en-US"/>
              <a:t>초를 새로 재생한 시각화이며</a:t>
            </a:r>
            <a:r>
              <a:rPr lang="en-US" altLang="ko-KR"/>
              <a:t>, </a:t>
            </a:r>
            <a:r>
              <a:rPr lang="ko-KR" altLang="en-US"/>
              <a:t>표의 두</a:t>
            </a:r>
            <a:r>
              <a:rPr lang="en-US" altLang="ko-KR"/>
              <a:t>20</a:t>
            </a:r>
            <a:r>
              <a:rPr lang="ko-KR" altLang="en-US"/>
              <a:t>초 궤적 평균과 동일 통계는 아닙니다</a:t>
            </a:r>
            <a:r>
              <a:rPr lang="en-US" altLang="ko-KR"/>
              <a:t>. </a:t>
            </a:r>
            <a:r>
              <a:rPr lang="ko-KR" altLang="en-US"/>
              <a:t>세 화면은 같은 </a:t>
            </a:r>
            <a:r>
              <a:rPr lang="en-US" altLang="ko-KR"/>
              <a:t>joint reference</a:t>
            </a:r>
            <a:r>
              <a:rPr lang="ko-KR" altLang="en-US"/>
              <a:t>와 </a:t>
            </a:r>
            <a:r>
              <a:rPr lang="en-US" altLang="ko-KR"/>
              <a:t>nominal-feedforward PD law</a:t>
            </a:r>
            <a:r>
              <a:rPr lang="ko-KR" altLang="en-US"/>
              <a:t>를 사용합니다</a:t>
            </a:r>
            <a:r>
              <a:rPr lang="en-US" altLang="ko-KR"/>
              <a:t>. closed-loop</a:t>
            </a:r>
            <a:r>
              <a:rPr lang="ko-KR" altLang="en-US"/>
              <a:t>이므로 </a:t>
            </a:r>
            <a:r>
              <a:rPr lang="en-US" altLang="ko-KR"/>
              <a:t>torque</a:t>
            </a:r>
            <a:r>
              <a:rPr lang="ko-KR" altLang="en-US"/>
              <a:t>는 각 상태에 따라 달라집니다</a:t>
            </a:r>
            <a:r>
              <a:rPr lang="en-US" altLang="ko-KR"/>
              <a:t>. </a:t>
            </a:r>
            <a:r>
              <a:rPr lang="ko-KR" altLang="en-US"/>
              <a:t>첫 영상의 </a:t>
            </a:r>
            <a:r>
              <a:rPr lang="en-US" altLang="ko-KR"/>
              <a:t>same recorded torque</a:t>
            </a:r>
            <a:r>
              <a:rPr lang="ko-KR" altLang="en-US"/>
              <a:t>와 구분하세요</a:t>
            </a:r>
            <a:r>
              <a:rPr lang="en-US" altLang="ko-KR"/>
              <a:t>. </a:t>
            </a:r>
            <a:r>
              <a:rPr lang="ko-KR" altLang="en-US"/>
              <a:t>아래 </a:t>
            </a:r>
            <a:r>
              <a:rPr lang="en-US" altLang="ko-KR"/>
              <a:t>error trace</a:t>
            </a:r>
            <a:r>
              <a:rPr lang="ko-KR" altLang="en-US"/>
              <a:t>는 실제 </a:t>
            </a:r>
            <a:r>
              <a:rPr lang="en-US" altLang="ko-KR"/>
              <a:t>TCP </a:t>
            </a:r>
            <a:r>
              <a:rPr lang="ko-KR" altLang="en-US"/>
              <a:t>오차이고 움직임을 확대하지 않았습니다</a:t>
            </a:r>
            <a:r>
              <a:rPr lang="en-US" altLang="ko-KR"/>
              <a:t>.
Source: counterfactual saved fits → seed 11 replay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814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표와 그래프는 논문의 두</a:t>
            </a:r>
            <a:r>
              <a:rPr lang="en-US" altLang="ko-KR"/>
              <a:t>20</a:t>
            </a:r>
            <a:r>
              <a:rPr lang="ko-KR" altLang="en-US"/>
              <a:t>초 </a:t>
            </a:r>
            <a:r>
              <a:rPr lang="en-US" altLang="ko-KR"/>
              <a:t>held-out trajectories </a:t>
            </a:r>
            <a:r>
              <a:rPr lang="ko-KR" altLang="en-US"/>
              <a:t>평균입니다</a:t>
            </a:r>
            <a:r>
              <a:rPr lang="en-US" altLang="ko-KR"/>
              <a:t>. </a:t>
            </a:r>
            <a:r>
              <a:rPr lang="ko-KR" altLang="en-US"/>
              <a:t>영상을 위한 짧은 </a:t>
            </a:r>
            <a:r>
              <a:rPr lang="en-US" altLang="ko-KR"/>
              <a:t>seed11 </a:t>
            </a:r>
            <a:r>
              <a:rPr lang="ko-KR" altLang="en-US"/>
              <a:t>값과 혼동하지 마세요</a:t>
            </a:r>
            <a:r>
              <a:rPr lang="en-US" altLang="ko-KR"/>
              <a:t>. Payload </a:t>
            </a:r>
            <a:r>
              <a:rPr lang="ko-KR" altLang="en-US"/>
              <a:t>제거 후</a:t>
            </a:r>
            <a:r>
              <a:rPr lang="en-US" altLang="ko-KR"/>
              <a:t>11.73 </a:t>
            </a:r>
            <a:r>
              <a:rPr lang="ko-KR" altLang="en-US"/>
              <a:t>대</a:t>
            </a:r>
            <a:r>
              <a:rPr lang="en-US" altLang="ko-KR"/>
              <a:t>.099mm, </a:t>
            </a:r>
            <a:r>
              <a:rPr lang="ko-KR" altLang="en-US"/>
              <a:t>새</a:t>
            </a:r>
            <a:r>
              <a:rPr lang="en-US" altLang="ko-KR"/>
              <a:t>.5kg tool</a:t>
            </a:r>
            <a:r>
              <a:rPr lang="ko-KR" altLang="en-US"/>
              <a:t>로 교체 후</a:t>
            </a:r>
            <a:r>
              <a:rPr lang="en-US" altLang="ko-KR"/>
              <a:t>11.73 </a:t>
            </a:r>
            <a:r>
              <a:rPr lang="ko-KR" altLang="en-US"/>
              <a:t>대</a:t>
            </a:r>
            <a:r>
              <a:rPr lang="en-US" altLang="ko-KR"/>
              <a:t>.100mm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아무런 </a:t>
            </a:r>
            <a:r>
              <a:rPr lang="en-US" altLang="ko-KR"/>
              <a:t>edit </a:t>
            </a:r>
            <a:r>
              <a:rPr lang="ko-KR" altLang="en-US"/>
              <a:t>없이 빠르고큰새</a:t>
            </a:r>
            <a:r>
              <a:rPr lang="en-US" altLang="ko-KR"/>
              <a:t>motion</a:t>
            </a:r>
            <a:r>
              <a:rPr lang="ko-KR" altLang="en-US"/>
              <a:t>에서는 </a:t>
            </a:r>
            <a:r>
              <a:rPr lang="en-US" altLang="ko-KR"/>
              <a:t>Dense .022</a:t>
            </a:r>
            <a:r>
              <a:rPr lang="ko-KR" altLang="en-US"/>
              <a:t>와</a:t>
            </a:r>
            <a:r>
              <a:rPr lang="en-US" altLang="ko-KR"/>
              <a:t>SAPC .030mm</a:t>
            </a:r>
            <a:r>
              <a:rPr lang="ko-KR" altLang="en-US"/>
              <a:t>로 둘 다 잘합니다</a:t>
            </a:r>
            <a:r>
              <a:rPr lang="en-US" altLang="ko-KR"/>
              <a:t>. </a:t>
            </a:r>
            <a:r>
              <a:rPr lang="ko-KR" altLang="en-US"/>
              <a:t>따라서 단순한 </a:t>
            </a:r>
            <a:r>
              <a:rPr lang="en-US" altLang="ko-KR"/>
              <a:t>out-of-distribution trajectory </a:t>
            </a:r>
            <a:r>
              <a:rPr lang="ko-KR" altLang="en-US"/>
              <a:t>문제가 아니라 </a:t>
            </a:r>
            <a:r>
              <a:rPr lang="en-US" altLang="ko-KR"/>
              <a:t>component-level model edit</a:t>
            </a:r>
            <a:r>
              <a:rPr lang="ko-KR" altLang="en-US"/>
              <a:t>에 따른 차이입니다</a:t>
            </a:r>
            <a:r>
              <a:rPr lang="en-US" altLang="ko-KR"/>
              <a:t>. unloaded reference</a:t>
            </a:r>
            <a:r>
              <a:rPr lang="ko-KR" altLang="en-US"/>
              <a:t>에는 </a:t>
            </a:r>
            <a:r>
              <a:rPr lang="en-US" altLang="ko-KR"/>
              <a:t>link3 </a:t>
            </a:r>
            <a:r>
              <a:rPr lang="ko-KR" altLang="en-US"/>
              <a:t>및 </a:t>
            </a:r>
            <a:r>
              <a:rPr lang="en-US" altLang="ko-KR"/>
              <a:t>joint4/6 </a:t>
            </a:r>
            <a:r>
              <a:rPr lang="ko-KR" altLang="en-US"/>
              <a:t>변화가 남아서 </a:t>
            </a:r>
            <a:r>
              <a:rPr lang="en-US" altLang="ko-KR"/>
              <a:t>nominal twin </a:t>
            </a:r>
            <a:r>
              <a:rPr lang="ko-KR" altLang="en-US"/>
              <a:t>오차가</a:t>
            </a:r>
            <a:r>
              <a:rPr lang="en-US" altLang="ko-KR"/>
              <a:t>0</a:t>
            </a:r>
            <a:r>
              <a:rPr lang="ko-KR" altLang="en-US"/>
              <a:t>이 아닙니다</a:t>
            </a:r>
            <a:r>
              <a:rPr lang="en-US" altLang="ko-KR"/>
              <a:t>.
Source: Table 3 · counterfactual.json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797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같은 </a:t>
            </a:r>
            <a:r>
              <a:rPr lang="en-US" altLang="ko-KR"/>
              <a:t>simulator trajectory</a:t>
            </a:r>
            <a:r>
              <a:rPr lang="ko-KR" altLang="en-US"/>
              <a:t>를 고정하고 </a:t>
            </a:r>
            <a:r>
              <a:rPr lang="en-US" altLang="ko-KR"/>
              <a:t>measurement noise</a:t>
            </a:r>
            <a:r>
              <a:rPr lang="ko-KR" altLang="en-US"/>
              <a:t>만 다시 뽑았습니다</a:t>
            </a:r>
            <a:r>
              <a:rPr lang="en-US" altLang="ko-KR"/>
              <a:t>. MuJoCo ×1</a:t>
            </a:r>
            <a:r>
              <a:rPr lang="ko-KR" altLang="en-US"/>
              <a:t>은 </a:t>
            </a:r>
            <a:r>
              <a:rPr lang="en-US" altLang="ko-KR"/>
              <a:t>20</a:t>
            </a:r>
            <a:r>
              <a:rPr lang="ko-KR" altLang="en-US"/>
              <a:t>회</a:t>
            </a:r>
            <a:r>
              <a:rPr lang="en-US" altLang="ko-KR"/>
              <a:t>, PhysX ×1</a:t>
            </a:r>
            <a:r>
              <a:rPr lang="ko-KR" altLang="en-US"/>
              <a:t>은 </a:t>
            </a:r>
            <a:r>
              <a:rPr lang="en-US" altLang="ko-KR"/>
              <a:t>10</a:t>
            </a:r>
            <a:r>
              <a:rPr lang="ko-KR" altLang="en-US"/>
              <a:t>회</a:t>
            </a:r>
            <a:r>
              <a:rPr lang="en-US" altLang="ko-KR"/>
              <a:t>, ×3</a:t>
            </a:r>
            <a:r>
              <a:rPr lang="ko-KR" altLang="en-US"/>
              <a:t>은 각 </a:t>
            </a:r>
            <a:r>
              <a:rPr lang="en-US" altLang="ko-KR"/>
              <a:t>10</a:t>
            </a:r>
            <a:r>
              <a:rPr lang="ko-KR" altLang="en-US"/>
              <a:t>회입니다</a:t>
            </a:r>
            <a:r>
              <a:rPr lang="en-US" altLang="ko-KR"/>
              <a:t>. Payload</a:t>
            </a:r>
            <a:r>
              <a:rPr lang="ko-KR" altLang="en-US"/>
              <a:t>와 두 </a:t>
            </a:r>
            <a:r>
              <a:rPr lang="en-US" altLang="ko-KR"/>
              <a:t>friction group</a:t>
            </a:r>
            <a:r>
              <a:rPr lang="ko-KR" altLang="en-US"/>
              <a:t>은 모두 안정적입니다</a:t>
            </a:r>
            <a:r>
              <a:rPr lang="en-US" altLang="ko-KR"/>
              <a:t>. Link3</a:t>
            </a:r>
            <a:r>
              <a:rPr lang="ko-KR" altLang="en-US"/>
              <a:t>는 높은 노이즈에서 </a:t>
            </a:r>
            <a:r>
              <a:rPr lang="en-US" altLang="ko-KR"/>
              <a:t>MuJoCo 8/10, PhysX 7/10</a:t>
            </a:r>
            <a:r>
              <a:rPr lang="ko-KR" altLang="en-US"/>
              <a:t>이며 나머지는 </a:t>
            </a:r>
            <a:r>
              <a:rPr lang="en-US" altLang="ko-KR"/>
              <a:t>link4</a:t>
            </a:r>
            <a:r>
              <a:rPr lang="ko-KR" altLang="en-US"/>
              <a:t>로 대체됩니다</a:t>
            </a:r>
            <a:r>
              <a:rPr lang="en-US" altLang="ko-KR"/>
              <a:t>. </a:t>
            </a:r>
            <a:r>
              <a:rPr lang="ko-KR" altLang="en-US"/>
              <a:t>이것은 식별 가능성의 한계를 숨기지 않는 결과입니다</a:t>
            </a:r>
            <a:r>
              <a:rPr lang="en-US" altLang="ko-KR"/>
              <a:t>. </a:t>
            </a:r>
            <a:r>
              <a:rPr lang="ko-KR" altLang="en-US"/>
              <a:t>선택 빈도 </a:t>
            </a:r>
            <a:r>
              <a:rPr lang="en-US" altLang="ko-KR"/>
              <a:t>10/10</a:t>
            </a:r>
            <a:r>
              <a:rPr lang="ko-KR" altLang="en-US"/>
              <a:t>이 정답 확률 </a:t>
            </a:r>
            <a:r>
              <a:rPr lang="en-US" altLang="ko-KR"/>
              <a:t>100%</a:t>
            </a:r>
            <a:r>
              <a:rPr lang="ko-KR" altLang="en-US"/>
              <a:t>라는 뜻은 아닙니다</a:t>
            </a:r>
            <a:r>
              <a:rPr lang="en-US" altLang="ko-KR"/>
              <a:t>. Nominal PhysX control</a:t>
            </a:r>
            <a:r>
              <a:rPr lang="ko-KR" altLang="en-US"/>
              <a:t>은 매번 </a:t>
            </a:r>
            <a:r>
              <a:rPr lang="en-US" altLang="ko-KR"/>
              <a:t>empty support</a:t>
            </a:r>
            <a:r>
              <a:rPr lang="ko-KR" altLang="en-US"/>
              <a:t>를 선택하여 주입하지 않은 물리 </a:t>
            </a:r>
            <a:r>
              <a:rPr lang="en-US" altLang="ko-KR"/>
              <a:t>fault</a:t>
            </a:r>
            <a:r>
              <a:rPr lang="ko-KR" altLang="en-US"/>
              <a:t>를 만들지 않았습니다</a:t>
            </a:r>
            <a:r>
              <a:rPr lang="en-US" altLang="ko-KR"/>
              <a:t>.
Source: Table 4 · stability.json / isaac_stability_v2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684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en-US" altLang="ko-KR"/>
              <a:t>reference </a:t>
            </a:r>
            <a:r>
              <a:rPr lang="ko-KR" altLang="en-US"/>
              <a:t>모두 보정 대상은 </a:t>
            </a:r>
            <a:r>
              <a:rPr lang="en-US" altLang="ko-KR"/>
              <a:t>MuJoCo</a:t>
            </a:r>
            <a:r>
              <a:rPr lang="ko-KR" altLang="en-US"/>
              <a:t>입니다</a:t>
            </a:r>
            <a:r>
              <a:rPr lang="en-US" altLang="ko-KR"/>
              <a:t>. Gazebo</a:t>
            </a:r>
            <a:r>
              <a:rPr lang="ko-KR" altLang="en-US"/>
              <a:t>는 </a:t>
            </a:r>
            <a:r>
              <a:rPr lang="en-US" altLang="ko-KR"/>
              <a:t>Dense 0.34 mm, SAPC 0.29 mm</a:t>
            </a:r>
            <a:r>
              <a:rPr lang="ko-KR" altLang="en-US"/>
              <a:t>이고 </a:t>
            </a:r>
            <a:r>
              <a:rPr lang="en-US" altLang="ko-KR"/>
              <a:t>PhysX</a:t>
            </a:r>
            <a:r>
              <a:rPr lang="ko-KR" altLang="en-US"/>
              <a:t>는 둘 다 </a:t>
            </a:r>
            <a:r>
              <a:rPr lang="en-US" altLang="ko-KR"/>
              <a:t>0.26 mm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그러나 </a:t>
            </a:r>
            <a:r>
              <a:rPr lang="en-US" altLang="ko-KR"/>
              <a:t>payload</a:t>
            </a:r>
            <a:r>
              <a:rPr lang="ko-KR" altLang="en-US"/>
              <a:t>는 </a:t>
            </a:r>
            <a:r>
              <a:rPr lang="en-US" altLang="ko-KR"/>
              <a:t>Dense </a:t>
            </a:r>
            <a:r>
              <a:rPr lang="ko-KR" altLang="en-US"/>
              <a:t>약 </a:t>
            </a:r>
            <a:r>
              <a:rPr lang="en-US" altLang="ko-KR"/>
              <a:t>0.13 kg, SAPC </a:t>
            </a:r>
            <a:r>
              <a:rPr lang="ko-KR" altLang="en-US"/>
              <a:t>약 </a:t>
            </a:r>
            <a:r>
              <a:rPr lang="en-US" altLang="ko-KR"/>
              <a:t>0.8 kg</a:t>
            </a:r>
            <a:r>
              <a:rPr lang="ko-KR" altLang="en-US"/>
              <a:t>입니다</a:t>
            </a:r>
            <a:r>
              <a:rPr lang="en-US" altLang="ko-KR"/>
              <a:t>. Gazebo</a:t>
            </a:r>
            <a:r>
              <a:rPr lang="ko-KR" altLang="en-US"/>
              <a:t>의 </a:t>
            </a:r>
            <a:r>
              <a:rPr lang="en-US" altLang="ko-KR"/>
              <a:t>SDF</a:t>
            </a:r>
            <a:r>
              <a:rPr lang="ko-KR" altLang="en-US"/>
              <a:t>에 </a:t>
            </a:r>
            <a:r>
              <a:rPr lang="en-US" altLang="ko-KR"/>
              <a:t>armature</a:t>
            </a:r>
            <a:r>
              <a:rPr lang="ko-KR" altLang="en-US"/>
              <a:t>가 없어 </a:t>
            </a:r>
            <a:r>
              <a:rPr lang="en-US" altLang="ko-KR"/>
              <a:t>nominal </a:t>
            </a:r>
            <a:r>
              <a:rPr lang="ko-KR" altLang="en-US"/>
              <a:t>자료만으로 그 차이와 </a:t>
            </a:r>
            <a:r>
              <a:rPr lang="en-US" altLang="ko-KR"/>
              <a:t>joint7</a:t>
            </a:r>
            <a:r>
              <a:rPr lang="ko-KR" altLang="en-US"/>
              <a:t>을 찾고 </a:t>
            </a:r>
            <a:r>
              <a:rPr lang="en-US" altLang="ko-KR"/>
              <a:t>0.52</a:t>
            </a:r>
            <a:r>
              <a:rPr lang="ko-KR" altLang="en-US"/>
              <a:t>에서 </a:t>
            </a:r>
            <a:r>
              <a:rPr lang="en-US" altLang="ko-KR"/>
              <a:t>0.11 mm</a:t>
            </a:r>
            <a:r>
              <a:rPr lang="ko-KR" altLang="en-US"/>
              <a:t>로 줄입니다</a:t>
            </a:r>
            <a:r>
              <a:rPr lang="en-US" altLang="ko-KR"/>
              <a:t>. PhysX</a:t>
            </a:r>
            <a:r>
              <a:rPr lang="ko-KR" altLang="en-US"/>
              <a:t>는 </a:t>
            </a:r>
            <a:r>
              <a:rPr lang="en-US" altLang="ko-KR"/>
              <a:t>armature</a:t>
            </a:r>
            <a:r>
              <a:rPr lang="ko-KR" altLang="en-US"/>
              <a:t>를 보존하며 </a:t>
            </a:r>
            <a:r>
              <a:rPr lang="en-US" altLang="ko-KR"/>
              <a:t>nominal control</a:t>
            </a:r>
            <a:r>
              <a:rPr lang="ko-KR" altLang="en-US"/>
              <a:t>에서 보정 없음으로 결론 납니다</a:t>
            </a:r>
            <a:r>
              <a:rPr lang="en-US" altLang="ko-KR"/>
              <a:t>. PhysX friction</a:t>
            </a:r>
            <a:r>
              <a:rPr lang="ko-KR" altLang="en-US"/>
              <a:t>은 </a:t>
            </a:r>
            <a:r>
              <a:rPr lang="en-US" altLang="ko-KR"/>
              <a:t>library</a:t>
            </a:r>
            <a:r>
              <a:rPr lang="ko-KR" altLang="en-US"/>
              <a:t>와 같은 </a:t>
            </a:r>
            <a:r>
              <a:rPr lang="en-US" altLang="ko-KR"/>
              <a:t>analytic law</a:t>
            </a:r>
            <a:r>
              <a:rPr lang="ko-KR" altLang="en-US"/>
              <a:t>이므로 전혀 다른 마찰 모델에 대한 보편적 일반화로 주장하지 않습니다</a:t>
            </a:r>
            <a:r>
              <a:rPr lang="en-US" altLang="ko-KR"/>
              <a:t>.
Source: Table 7 · cross-engine analysis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377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Free-space data</a:t>
            </a:r>
            <a:r>
              <a:rPr lang="ko-KR" altLang="en-US"/>
              <a:t>로 학습하고 처음 보는 </a:t>
            </a:r>
            <a:r>
              <a:rPr lang="en-US" altLang="ko-KR"/>
              <a:t>probe–plate press</a:t>
            </a:r>
            <a:r>
              <a:rPr lang="ko-KR" altLang="en-US"/>
              <a:t>를 평가합니다</a:t>
            </a:r>
            <a:r>
              <a:rPr lang="en-US" altLang="ko-KR"/>
              <a:t>. </a:t>
            </a:r>
            <a:r>
              <a:rPr lang="ko-KR" altLang="en-US"/>
              <a:t>그림은 </a:t>
            </a:r>
            <a:r>
              <a:rPr lang="en-US" altLang="ko-KR"/>
              <a:t>protocol </a:t>
            </a:r>
            <a:r>
              <a:rPr lang="ko-KR" altLang="en-US"/>
              <a:t>개념도입니다</a:t>
            </a:r>
            <a:r>
              <a:rPr lang="en-US" altLang="ko-KR"/>
              <a:t>. </a:t>
            </a:r>
            <a:r>
              <a:rPr lang="ko-KR" altLang="en-US"/>
              <a:t>초기 간격 </a:t>
            </a:r>
            <a:r>
              <a:rPr lang="en-US" altLang="ko-KR"/>
              <a:t>26 mm, </a:t>
            </a:r>
            <a:r>
              <a:rPr lang="ko-KR" altLang="en-US"/>
              <a:t>하강 </a:t>
            </a:r>
            <a:r>
              <a:rPr lang="en-US" altLang="ko-KR"/>
              <a:t>29 mm, 1</a:t>
            </a:r>
            <a:r>
              <a:rPr lang="ko-KR" altLang="en-US"/>
              <a:t>초 </a:t>
            </a:r>
            <a:r>
              <a:rPr lang="en-US" altLang="ko-KR"/>
              <a:t>hold</a:t>
            </a:r>
            <a:r>
              <a:rPr lang="ko-KR" altLang="en-US"/>
              <a:t>이며 접촉 물성은 </a:t>
            </a:r>
            <a:r>
              <a:rPr lang="en-US" altLang="ko-KR"/>
              <a:t>fit</a:t>
            </a:r>
            <a:r>
              <a:rPr lang="ko-KR" altLang="en-US"/>
              <a:t>하지 않습니다</a:t>
            </a:r>
            <a:r>
              <a:rPr lang="en-US" altLang="ko-KR"/>
              <a:t>. </a:t>
            </a:r>
            <a:r>
              <a:rPr lang="ko-KR" altLang="en-US"/>
              <a:t>동일 엔진에서 </a:t>
            </a:r>
            <a:r>
              <a:rPr lang="en-US" altLang="ko-KR"/>
              <a:t>Dense</a:t>
            </a:r>
            <a:r>
              <a:rPr lang="ko-KR" altLang="en-US"/>
              <a:t>와 </a:t>
            </a:r>
            <a:r>
              <a:rPr lang="en-US" altLang="ko-KR"/>
              <a:t>SAPC</a:t>
            </a:r>
            <a:r>
              <a:rPr lang="ko-KR" altLang="en-US"/>
              <a:t>는 </a:t>
            </a:r>
            <a:r>
              <a:rPr lang="en-US" altLang="ko-KR"/>
              <a:t>onset</a:t>
            </a:r>
            <a:r>
              <a:rPr lang="ko-KR" altLang="en-US"/>
              <a:t>과 </a:t>
            </a:r>
            <a:r>
              <a:rPr lang="en-US" altLang="ko-KR"/>
              <a:t>hold force</a:t>
            </a:r>
            <a:r>
              <a:rPr lang="ko-KR" altLang="en-US"/>
              <a:t>를 거의 같게 예측하지만 </a:t>
            </a:r>
            <a:r>
              <a:rPr lang="en-US" altLang="ko-KR"/>
              <a:t>payload attribution</a:t>
            </a:r>
            <a:r>
              <a:rPr lang="ko-KR" altLang="en-US"/>
              <a:t>은 다릅니다</a:t>
            </a:r>
            <a:r>
              <a:rPr lang="en-US" altLang="ko-KR"/>
              <a:t>. </a:t>
            </a:r>
            <a:r>
              <a:rPr lang="ko-KR" altLang="en-US"/>
              <a:t>접촉은 </a:t>
            </a:r>
            <a:r>
              <a:rPr lang="en-US" altLang="ko-KR"/>
              <a:t>empirical test</a:t>
            </a:r>
            <a:r>
              <a:rPr lang="ko-KR" altLang="en-US"/>
              <a:t>이지 </a:t>
            </a:r>
            <a:r>
              <a:rPr lang="en-US" altLang="ko-KR"/>
              <a:t>null-space </a:t>
            </a:r>
            <a:r>
              <a:rPr lang="ko-KR" altLang="en-US"/>
              <a:t>정리의 직접적인 </a:t>
            </a:r>
            <a:r>
              <a:rPr lang="en-US" altLang="ko-KR"/>
              <a:t>corollary</a:t>
            </a:r>
            <a:r>
              <a:rPr lang="ko-KR" altLang="en-US"/>
              <a:t>가 아닙니다</a:t>
            </a:r>
            <a:r>
              <a:rPr lang="en-US" altLang="ko-KR"/>
              <a:t>. </a:t>
            </a:r>
            <a:r>
              <a:rPr lang="ko-KR" altLang="en-US"/>
              <a:t>엔진별 접촉 </a:t>
            </a:r>
            <a:r>
              <a:rPr lang="en-US" altLang="ko-KR"/>
              <a:t>law </a:t>
            </a:r>
            <a:r>
              <a:rPr lang="ko-KR" altLang="en-US"/>
              <a:t>차이는 </a:t>
            </a:r>
            <a:r>
              <a:rPr lang="en-US" altLang="ko-KR"/>
              <a:t>true-parameter MuJoCo</a:t>
            </a:r>
            <a:r>
              <a:rPr lang="ko-KR" altLang="en-US"/>
              <a:t>에서도 남습니다</a:t>
            </a:r>
            <a:r>
              <a:rPr lang="en-US" altLang="ko-KR"/>
              <a:t>. Peak force</a:t>
            </a:r>
            <a:r>
              <a:rPr lang="ko-KR" altLang="en-US"/>
              <a:t>와 </a:t>
            </a:r>
            <a:r>
              <a:rPr lang="en-US" altLang="ko-KR"/>
              <a:t>full-waveform RMSE</a:t>
            </a:r>
            <a:r>
              <a:rPr lang="ko-KR" altLang="en-US"/>
              <a:t>는 </a:t>
            </a:r>
            <a:r>
              <a:rPr lang="en-US" altLang="ko-KR"/>
              <a:t>solver</a:t>
            </a:r>
            <a:r>
              <a:rPr lang="ko-KR" altLang="en-US"/>
              <a:t>와 </a:t>
            </a:r>
            <a:r>
              <a:rPr lang="en-US" altLang="ko-KR"/>
              <a:t>time step</a:t>
            </a:r>
            <a:r>
              <a:rPr lang="ko-KR" altLang="en-US"/>
              <a:t>에 민감하여 주요 지표로 쓰지 않습니다</a:t>
            </a:r>
            <a:r>
              <a:rPr lang="en-US" altLang="ko-KR"/>
              <a:t>.
Source: Table 6 · contact_Forward.json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7920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Main pattern</a:t>
            </a:r>
            <a:r>
              <a:rPr lang="ko-KR" altLang="en-US"/>
              <a:t>만의 우연을 피하기 위해 </a:t>
            </a:r>
            <a:r>
              <a:rPr lang="en-US" altLang="ko-KR"/>
              <a:t>7</a:t>
            </a:r>
            <a:r>
              <a:rPr lang="ko-KR" altLang="en-US"/>
              <a:t>개 추가 패턴을 시험했습니다</a:t>
            </a:r>
            <a:r>
              <a:rPr lang="en-US" altLang="ko-KR"/>
              <a:t>. </a:t>
            </a:r>
            <a:r>
              <a:rPr lang="ko-KR" altLang="en-US"/>
              <a:t>여섯 </a:t>
            </a:r>
            <a:r>
              <a:rPr lang="en-US" altLang="ko-KR"/>
              <a:t>sparse case </a:t>
            </a:r>
            <a:r>
              <a:rPr lang="ko-KR" altLang="en-US"/>
              <a:t>중 네 개는 모든 </a:t>
            </a:r>
            <a:r>
              <a:rPr lang="en-US" altLang="ko-KR"/>
              <a:t>3</a:t>
            </a:r>
            <a:r>
              <a:rPr lang="ko-KR" altLang="en-US"/>
              <a:t>개 </a:t>
            </a:r>
            <a:r>
              <a:rPr lang="en-US" altLang="ko-KR"/>
              <a:t>noise draw</a:t>
            </a:r>
            <a:r>
              <a:rPr lang="ko-KR" altLang="en-US"/>
              <a:t>에서 정확한 </a:t>
            </a:r>
            <a:r>
              <a:rPr lang="en-US" altLang="ko-KR"/>
              <a:t>support</a:t>
            </a:r>
            <a:r>
              <a:rPr lang="ko-KR" altLang="en-US"/>
              <a:t>이며</a:t>
            </a:r>
            <a:r>
              <a:rPr lang="en-US" altLang="ko-KR"/>
              <a:t>, armature case</a:t>
            </a:r>
            <a:r>
              <a:rPr lang="ko-KR" altLang="en-US"/>
              <a:t>에는 인접 링크 </a:t>
            </a:r>
            <a:r>
              <a:rPr lang="en-US" altLang="ko-KR"/>
              <a:t>alias</a:t>
            </a:r>
            <a:r>
              <a:rPr lang="ko-KR" altLang="en-US"/>
              <a:t>가 있습니다</a:t>
            </a:r>
            <a:r>
              <a:rPr lang="en-US" altLang="ko-KR"/>
              <a:t>. C5</a:t>
            </a:r>
            <a:r>
              <a:rPr lang="ko-KR" altLang="en-US"/>
              <a:t>의 </a:t>
            </a:r>
            <a:r>
              <a:rPr lang="en-US" altLang="ko-KR"/>
              <a:t>joint7 </a:t>
            </a:r>
            <a:r>
              <a:rPr lang="ko-KR" altLang="en-US"/>
              <a:t>축 위 </a:t>
            </a:r>
            <a:r>
              <a:rPr lang="en-US" altLang="ko-KR"/>
              <a:t>payload</a:t>
            </a:r>
            <a:r>
              <a:rPr lang="ko-KR" altLang="en-US"/>
              <a:t>는 </a:t>
            </a:r>
            <a:r>
              <a:rPr lang="en-US" altLang="ko-KR"/>
              <a:t>link6</a:t>
            </a:r>
            <a:r>
              <a:rPr lang="ko-KR" altLang="en-US"/>
              <a:t>와 구분하기 매우 어려워 실패합니다</a:t>
            </a:r>
            <a:r>
              <a:rPr lang="en-US" altLang="ko-KR"/>
              <a:t>. </a:t>
            </a:r>
            <a:r>
              <a:rPr lang="ko-KR" altLang="en-US"/>
              <a:t>분산 변화 </a:t>
            </a:r>
            <a:r>
              <a:rPr lang="en-US" altLang="ko-KR"/>
              <a:t>C7</a:t>
            </a:r>
            <a:r>
              <a:rPr lang="ko-KR" altLang="en-US"/>
              <a:t>은 </a:t>
            </a:r>
            <a:r>
              <a:rPr lang="en-US" altLang="ko-KR"/>
              <a:t>prior </a:t>
            </a:r>
            <a:r>
              <a:rPr lang="ko-KR" altLang="en-US"/>
              <a:t>위반이지만 주요 </a:t>
            </a:r>
            <a:r>
              <a:rPr lang="en-US" altLang="ko-KR"/>
              <a:t>payload 0.75 kg</a:t>
            </a:r>
            <a:r>
              <a:rPr lang="ko-KR" altLang="en-US"/>
              <a:t>과 </a:t>
            </a:r>
            <a:r>
              <a:rPr lang="en-US" altLang="ko-KR"/>
              <a:t>friction</a:t>
            </a:r>
            <a:r>
              <a:rPr lang="ko-KR" altLang="en-US"/>
              <a:t>을 회복합니다</a:t>
            </a:r>
            <a:r>
              <a:rPr lang="en-US" altLang="ko-KR"/>
              <a:t>. </a:t>
            </a:r>
            <a:r>
              <a:rPr lang="ko-KR" altLang="en-US"/>
              <a:t>단일 </a:t>
            </a:r>
            <a:r>
              <a:rPr lang="en-US" altLang="ko-KR"/>
              <a:t>FR3 </a:t>
            </a:r>
            <a:r>
              <a:rPr lang="ko-KR" altLang="en-US"/>
              <a:t>계열에서의 </a:t>
            </a:r>
            <a:r>
              <a:rPr lang="en-US" altLang="ko-KR"/>
              <a:t>simulation study</a:t>
            </a:r>
            <a:r>
              <a:rPr lang="ko-KR" altLang="en-US"/>
              <a:t>이며 </a:t>
            </a:r>
            <a:r>
              <a:rPr lang="en-US" altLang="ko-KR"/>
              <a:t>hardware cable, compliance, gear friction</a:t>
            </a:r>
            <a:r>
              <a:rPr lang="ko-KR" altLang="en-US"/>
              <a:t>은 검증하지 않았습니다</a:t>
            </a:r>
            <a:r>
              <a:rPr lang="en-US" altLang="ko-KR"/>
              <a:t>. SG</a:t>
            </a:r>
            <a:r>
              <a:rPr lang="ko-KR" altLang="en-US"/>
              <a:t>와 </a:t>
            </a:r>
            <a:r>
              <a:rPr lang="en-US" altLang="ko-KR"/>
              <a:t>learned surrogate</a:t>
            </a:r>
            <a:r>
              <a:rPr lang="ko-KR" altLang="en-US"/>
              <a:t>의 비교 결론도 이 </a:t>
            </a:r>
            <a:r>
              <a:rPr lang="en-US" altLang="ko-KR"/>
              <a:t>1 kHz band-limited </a:t>
            </a:r>
            <a:r>
              <a:rPr lang="ko-KR" altLang="en-US"/>
              <a:t>데이터에 한정됩니다</a:t>
            </a:r>
            <a:r>
              <a:rPr lang="en-US" altLang="ko-KR"/>
              <a:t>. </a:t>
            </a:r>
            <a:r>
              <a:rPr lang="ko-KR" altLang="en-US"/>
              <a:t>선택된 </a:t>
            </a:r>
            <a:r>
              <a:rPr lang="en-US" altLang="ko-KR"/>
              <a:t>group</a:t>
            </a:r>
            <a:r>
              <a:rPr lang="ko-KR" altLang="en-US"/>
              <a:t>이 옳아도 모든 </a:t>
            </a:r>
            <a:r>
              <a:rPr lang="en-US" altLang="ko-KR"/>
              <a:t>individual parameter</a:t>
            </a:r>
            <a:r>
              <a:rPr lang="ko-KR" altLang="en-US"/>
              <a:t>가 유일한 것은 아닙니다</a:t>
            </a:r>
            <a:r>
              <a:rPr lang="en-US" altLang="ko-KR"/>
              <a:t>.
Source: §5.5 · §6.5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2151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학생에게 논문을 자기 말로 요약하게 하세요</a:t>
            </a:r>
            <a:r>
              <a:rPr lang="en-US" altLang="ko-KR"/>
              <a:t>. </a:t>
            </a:r>
            <a:r>
              <a:rPr lang="ko-KR" altLang="en-US"/>
              <a:t>첫 질문</a:t>
            </a:r>
            <a:r>
              <a:rPr lang="en-US" altLang="ko-KR"/>
              <a:t>: </a:t>
            </a:r>
            <a:r>
              <a:rPr lang="ko-KR" altLang="en-US"/>
              <a:t>토크 오차가 작으면 왜 질량도 맞다고 할 수 없는가</a:t>
            </a:r>
            <a:r>
              <a:rPr lang="en-US" altLang="ko-KR"/>
              <a:t>? Null space</a:t>
            </a:r>
            <a:r>
              <a:rPr lang="ko-KR" altLang="en-US"/>
              <a:t>와 </a:t>
            </a:r>
            <a:r>
              <a:rPr lang="en-US" altLang="ko-KR"/>
              <a:t>equivalence class</a:t>
            </a:r>
            <a:r>
              <a:rPr lang="ko-KR" altLang="en-US"/>
              <a:t>를 설명할 수 있어야 합니다</a:t>
            </a:r>
            <a:r>
              <a:rPr lang="en-US" altLang="ko-KR"/>
              <a:t>. </a:t>
            </a:r>
            <a:r>
              <a:rPr lang="ko-KR" altLang="en-US"/>
              <a:t>둘째</a:t>
            </a:r>
            <a:r>
              <a:rPr lang="en-US" altLang="ko-KR"/>
              <a:t>: </a:t>
            </a:r>
            <a:r>
              <a:rPr lang="ko-KR" altLang="en-US"/>
              <a:t>왜 </a:t>
            </a:r>
            <a:r>
              <a:rPr lang="en-US" altLang="ko-KR"/>
              <a:t>payload </a:t>
            </a:r>
            <a:r>
              <a:rPr lang="ko-KR" altLang="en-US"/>
              <a:t>제거는 기존 </a:t>
            </a:r>
            <a:r>
              <a:rPr lang="en-US" altLang="ko-KR"/>
              <a:t>replay</a:t>
            </a:r>
            <a:r>
              <a:rPr lang="ko-KR" altLang="en-US"/>
              <a:t>보다 강한 검증인가</a:t>
            </a:r>
            <a:r>
              <a:rPr lang="en-US" altLang="ko-KR"/>
              <a:t>? </a:t>
            </a:r>
            <a:r>
              <a:rPr lang="ko-KR" altLang="en-US"/>
              <a:t>모델의 특정 부위를 편집하기 때문입니다</a:t>
            </a:r>
            <a:r>
              <a:rPr lang="en-US" altLang="ko-KR"/>
              <a:t>. </a:t>
            </a:r>
            <a:r>
              <a:rPr lang="ko-KR" altLang="en-US"/>
              <a:t>셋째</a:t>
            </a:r>
            <a:r>
              <a:rPr lang="en-US" altLang="ko-KR"/>
              <a:t>: nominal control</a:t>
            </a:r>
            <a:r>
              <a:rPr lang="ko-KR" altLang="en-US"/>
              <a:t>에서 그룹 하나를 강제로 선택하면 무엇이 잘못되는가</a:t>
            </a:r>
            <a:r>
              <a:rPr lang="en-US" altLang="ko-KR"/>
              <a:t>? </a:t>
            </a:r>
            <a:r>
              <a:rPr lang="ko-KR" altLang="en-US"/>
              <a:t>가짜 </a:t>
            </a:r>
            <a:r>
              <a:rPr lang="en-US" altLang="ko-KR"/>
              <a:t>fault</a:t>
            </a:r>
            <a:r>
              <a:rPr lang="ko-KR" altLang="en-US"/>
              <a:t>를 만듭니다</a:t>
            </a:r>
            <a:r>
              <a:rPr lang="en-US" altLang="ko-KR"/>
              <a:t>. </a:t>
            </a:r>
            <a:r>
              <a:rPr lang="ko-KR" altLang="en-US"/>
              <a:t>마지막으로 관절 마찰을 정비한 상황에서 어떤 그룹을 </a:t>
            </a:r>
            <a:r>
              <a:rPr lang="en-US" altLang="ko-KR"/>
              <a:t>reset</a:t>
            </a:r>
            <a:r>
              <a:rPr lang="ko-KR" altLang="en-US"/>
              <a:t>하고 어떤 </a:t>
            </a:r>
            <a:r>
              <a:rPr lang="en-US" altLang="ko-KR"/>
              <a:t>reference</a:t>
            </a:r>
            <a:r>
              <a:rPr lang="ko-KR" altLang="en-US"/>
              <a:t>와 비교할지 제안하게 하세요</a:t>
            </a:r>
            <a:r>
              <a:rPr lang="en-US" altLang="ko-KR"/>
              <a:t>. </a:t>
            </a:r>
            <a:r>
              <a:rPr lang="ko-KR" altLang="en-US"/>
              <a:t>발표 자료는 </a:t>
            </a:r>
            <a:r>
              <a:rPr lang="en-US" altLang="ko-KR"/>
              <a:t>main.tex</a:t>
            </a:r>
            <a:r>
              <a:rPr lang="ko-KR" altLang="en-US"/>
              <a:t>에 기반하며 세부 출처는 각 슬라이드와 </a:t>
            </a:r>
            <a:r>
              <a:rPr lang="en-US" altLang="ko-KR"/>
              <a:t>manifest</a:t>
            </a:r>
            <a:r>
              <a:rPr lang="ko-KR" altLang="en-US"/>
              <a:t>에 있습니다</a:t>
            </a:r>
            <a:r>
              <a:rPr lang="en-US" altLang="ko-KR"/>
              <a:t>.
Source: Conclusion · teaching prompts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D834B-4ADC-40BE-98E0-1C11137E843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480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DFB15-D2FD-BEC0-0B5B-16DD4F917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99D4D4-FA82-46D7-C0BD-F38D9A682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94C176-FAD6-55A6-65FB-CF7CC5CB7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D0D96E-FF46-FCD8-7AA3-AD97A5E0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A17F11-0EDC-5739-1825-ED13E3AC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02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BC508-A717-EB7B-1FB5-5F7FCB16F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4B7979-5852-409C-0A5E-B82A60111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85EC6F-DB35-AA98-20AE-D341F26D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D43028-AC43-B596-6916-FB83F8B4F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A81A6E-AE70-A180-850A-893416BF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341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BB38A-F8E1-0389-D4B1-B6F8E37C4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C15731-E083-D4DA-4CE0-EAA5B213E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130AC3-768C-5B21-5D02-23B359D43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9C54C9-E21F-874D-F1FA-CB127BEEA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499EDC-1996-2EAA-3829-4C1D77EC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64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CC5C1-D00B-8DC7-B63B-0F1B9CBB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0B28D-035D-3ADE-7B17-E180862BE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689CF5-7385-C21F-2E76-3B2342FF1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7ECED2-0ADB-3D06-66B3-816B6C356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2F7193-2B92-F763-A1B1-648FCDF4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AF6A0E-29CC-318E-4B5D-5F9E06C5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608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73C71-13A1-EB35-9E1E-1A3E0695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5285FC-B375-61B7-3C87-E85BEF3C6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A2A4F9-2AA2-9D35-A3B2-38D61A628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61A5F8-44CE-1701-223A-98111F1A4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3153AA-048A-6DBF-5BE4-47C062E43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46C1E4-3A62-510C-EBCB-165D6A95D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461DED-3900-3888-F330-107AAA0B1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DD1AA9-964A-9FB4-D2A9-22649BD80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14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AD10F-5007-6DA9-9D0B-1F5A6F47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F733FC-3C4F-3E53-2B95-2D3CEC5AC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AAF42F-952F-8837-3250-F08CA1F7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386BDE-9A9C-933E-04CF-7AA70CA1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56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60AA8A-84CE-C231-FC78-9E04FB19F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8BAB7A-1D0A-C4CB-ED5F-D22A7E80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34EB15-8DD8-7A26-1F68-957F4475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3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3658F-63A6-C208-76E2-8FD1B1B6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14CCA4-04CF-5050-DE2A-61668F913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D54679-22C0-95E7-D7A6-AE7968C7D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C3419C-2871-0C7F-9E6E-702483D32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27F212-113A-6F41-E1C4-AC3D8F34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6179E-0754-0D88-1367-CC6D7D45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89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C1E8C-1431-8E22-5C90-91FBADC76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8F93B4-9A37-A725-059E-7FA7AE6BC9B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EFF1B7-B42E-D817-F212-E92B01C82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3E7DD0-0D5B-7005-FE7F-ED3433C74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6EDC71-71FF-A103-98EE-728EB6EF1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89A6E8-89C1-0C2E-F66E-DF2CCF55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92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4985B-CA7D-5856-1D42-E8801EB3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25DA05-CF5C-BB86-BC1C-D4033FE60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8E8794-93DE-2960-A038-17D8DDB23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094A1B-AEA3-F833-DC38-79C1AF02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F4348C-6F9D-E6A8-C42F-76E1E570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48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8C9AF3-4F89-991F-DDF4-BD1098AB2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EEDA29-660D-04EB-01E5-7A57A47F9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D972AC-E4E7-2CAE-A1F1-B962133AF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80361E-63CC-5354-0A60-CA2BFD38C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8C238F-12A8-6927-DADC-014E6BF60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292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6891214-E2BA-03E6-0173-74787B5D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2523F9-F35B-A221-267B-56F02E4FA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7B9F2-BCB2-7BFC-FC1E-2DE95A399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4A141-AD30-4BE1-B863-27A414D613C7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C1B118-F256-68CE-7877-5CA610BAC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331E63-9C01-DCCE-5594-E248E16B3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FEE4A-A56D-4C49-BE88-2A7F781F8D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16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_001_text">
            <a:extLst>
              <a:ext uri="{FF2B5EF4-FFF2-40B4-BE49-F238E27FC236}">
                <a16:creationId xmlns:a16="http://schemas.microsoft.com/office/drawing/2014/main" id="{8A3A05A4-75B2-40C0-0FD9-83C5BDFE786C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MOTIVATION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01_002_text">
            <a:extLst>
              <a:ext uri="{FF2B5EF4-FFF2-40B4-BE49-F238E27FC236}">
                <a16:creationId xmlns:a16="http://schemas.microsoft.com/office/drawing/2014/main" id="{F75DDDE0-32D6-5C72-AA52-46C86AE3E097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잘 움직이는 디지털 트윈은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물리도 맞을까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28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4" name="S01_003_line">
            <a:extLst>
              <a:ext uri="{FF2B5EF4-FFF2-40B4-BE49-F238E27FC236}">
                <a16:creationId xmlns:a16="http://schemas.microsoft.com/office/drawing/2014/main" id="{5947E7F5-6C59-7104-DD17-C87A60280861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01_004_text">
            <a:extLst>
              <a:ext uri="{FF2B5EF4-FFF2-40B4-BE49-F238E27FC236}">
                <a16:creationId xmlns:a16="http://schemas.microsoft.com/office/drawing/2014/main" id="{ABCFC75F-996E-7251-41A7-852E747F170A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main.tex · Introduction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01_005_text">
            <a:extLst>
              <a:ext uri="{FF2B5EF4-FFF2-40B4-BE49-F238E27FC236}">
                <a16:creationId xmlns:a16="http://schemas.microsoft.com/office/drawing/2014/main" id="{A1B81C61-E0F0-CB28-B836-5DAC5A198FCD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01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01_006_text">
            <a:extLst>
              <a:ext uri="{FF2B5EF4-FFF2-40B4-BE49-F238E27FC236}">
                <a16:creationId xmlns:a16="http://schemas.microsoft.com/office/drawing/2014/main" id="{8E90C683-426C-471F-8112-1162A6810A2A}"/>
              </a:ext>
            </a:extLst>
          </p:cNvPr>
          <p:cNvSpPr txBox="1"/>
          <p:nvPr/>
        </p:nvSpPr>
        <p:spPr>
          <a:xfrm>
            <a:off x="533400" y="1549400"/>
            <a:ext cx="825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203244"/>
                </a:solidFill>
                <a:latin typeface="Arial" panose="020B0604020202020204" pitchFamily="34" charset="0"/>
              </a:rPr>
              <a:t>Fidelity Is Not Identification</a:t>
            </a:r>
            <a:endParaRPr lang="ko-KR" altLang="en-US" sz="3400" b="1">
              <a:solidFill>
                <a:srgbClr val="203244"/>
              </a:solidFill>
              <a:latin typeface="Arial" panose="020B0604020202020204" pitchFamily="34" charset="0"/>
            </a:endParaRPr>
          </a:p>
        </p:txBody>
      </p:sp>
      <p:sp>
        <p:nvSpPr>
          <p:cNvPr id="8" name="S01_007_text">
            <a:extLst>
              <a:ext uri="{FF2B5EF4-FFF2-40B4-BE49-F238E27FC236}">
                <a16:creationId xmlns:a16="http://schemas.microsoft.com/office/drawing/2014/main" id="{F034C0D5-8D4B-6ECA-5660-5CEAB11E6DF3}"/>
              </a:ext>
            </a:extLst>
          </p:cNvPr>
          <p:cNvSpPr txBox="1"/>
          <p:nvPr/>
        </p:nvSpPr>
        <p:spPr>
          <a:xfrm>
            <a:off x="546100" y="22860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900">
                <a:solidFill>
                  <a:srgbClr val="657583"/>
                </a:solidFill>
                <a:latin typeface="Arial" panose="020B0604020202020204" pitchFamily="34" charset="0"/>
              </a:rPr>
              <a:t>Structure-Aware Calibration of Robot Digital Twins</a:t>
            </a:r>
            <a:endParaRPr lang="ko-KR" altLang="en-US" sz="1900">
              <a:solidFill>
                <a:srgbClr val="657583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S01_008_image">
            <a:extLst>
              <a:ext uri="{FF2B5EF4-FFF2-40B4-BE49-F238E27FC236}">
                <a16:creationId xmlns:a16="http://schemas.microsoft.com/office/drawing/2014/main" id="{EFF72D3E-0E84-2164-CD3E-CE1376D100E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2971800"/>
            <a:ext cx="3048000" cy="3005667"/>
          </a:xfrm>
          <a:prstGeom prst="rect">
            <a:avLst/>
          </a:prstGeom>
        </p:spPr>
      </p:pic>
      <p:sp>
        <p:nvSpPr>
          <p:cNvPr id="11" name="S01_009_text">
            <a:extLst>
              <a:ext uri="{FF2B5EF4-FFF2-40B4-BE49-F238E27FC236}">
                <a16:creationId xmlns:a16="http://schemas.microsoft.com/office/drawing/2014/main" id="{CCF2F40E-4272-5485-895C-2C038085A0AE}"/>
              </a:ext>
            </a:extLst>
          </p:cNvPr>
          <p:cNvSpPr txBox="1"/>
          <p:nvPr/>
        </p:nvSpPr>
        <p:spPr>
          <a:xfrm>
            <a:off x="546100" y="3314700"/>
            <a:ext cx="762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논문이 구분하는 두 가지</a:t>
            </a:r>
          </a:p>
        </p:txBody>
      </p:sp>
      <p:sp>
        <p:nvSpPr>
          <p:cNvPr id="12" name="S01_010_text">
            <a:extLst>
              <a:ext uri="{FF2B5EF4-FFF2-40B4-BE49-F238E27FC236}">
                <a16:creationId xmlns:a16="http://schemas.microsoft.com/office/drawing/2014/main" id="{11127A03-3862-16A8-3721-05FB3961E570}"/>
              </a:ext>
            </a:extLst>
          </p:cNvPr>
          <p:cNvSpPr txBox="1"/>
          <p:nvPr/>
        </p:nvSpPr>
        <p:spPr>
          <a:xfrm>
            <a:off x="546100" y="3924300"/>
            <a:ext cx="7620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5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측정한 동작을 재현하는가</a:t>
            </a:r>
            <a:r>
              <a:rPr lang="en-US" altLang="ko-KR" sz="25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
② </a:t>
            </a:r>
            <a:r>
              <a:rPr lang="ko-KR" altLang="en-US" sz="25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실제로 바뀐 부품과 물성을 찾았는가</a:t>
            </a:r>
            <a:r>
              <a:rPr lang="en-US" altLang="ko-KR" sz="25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25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S01_011_text">
            <a:extLst>
              <a:ext uri="{FF2B5EF4-FFF2-40B4-BE49-F238E27FC236}">
                <a16:creationId xmlns:a16="http://schemas.microsoft.com/office/drawing/2014/main" id="{A93E42B5-653E-9274-DBF5-ACFBB9F57C69}"/>
              </a:ext>
            </a:extLst>
          </p:cNvPr>
          <p:cNvSpPr txBox="1"/>
          <p:nvPr/>
        </p:nvSpPr>
        <p:spPr>
          <a:xfrm>
            <a:off x="558800" y="5651500"/>
            <a:ext cx="762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동기 → 알고리즘 → 영상</a:t>
            </a:r>
            <a:r>
              <a:rPr lang="en-US" altLang="ko-KR" sz="1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결과 → 한계</a:t>
            </a:r>
          </a:p>
        </p:txBody>
      </p:sp>
    </p:spTree>
    <p:extLst>
      <p:ext uri="{BB962C8B-B14F-4D97-AF65-F5344CB8AC3E}">
        <p14:creationId xmlns:p14="http://schemas.microsoft.com/office/powerpoint/2010/main" val="231733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_001_text">
            <a:extLst>
              <a:ext uri="{FF2B5EF4-FFF2-40B4-BE49-F238E27FC236}">
                <a16:creationId xmlns:a16="http://schemas.microsoft.com/office/drawing/2014/main" id="{13E4F05F-DA56-E69E-858C-EA0538F328D7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MOTIVATION · VIDEO 1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02_002_text">
            <a:extLst>
              <a:ext uri="{FF2B5EF4-FFF2-40B4-BE49-F238E27FC236}">
                <a16:creationId xmlns:a16="http://schemas.microsoft.com/office/drawing/2014/main" id="{1743D9C0-80DF-BC61-7AA4-847E9B570B52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토크를 넣어도 움직임은 달라진다</a:t>
            </a:r>
          </a:p>
        </p:txBody>
      </p:sp>
      <p:cxnSp>
        <p:nvCxnSpPr>
          <p:cNvPr id="4" name="S02_003_line">
            <a:extLst>
              <a:ext uri="{FF2B5EF4-FFF2-40B4-BE49-F238E27FC236}">
                <a16:creationId xmlns:a16="http://schemas.microsoft.com/office/drawing/2014/main" id="{5544945F-6A06-B4E4-5438-D737B63C04B8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02_004_text">
            <a:extLst>
              <a:ext uri="{FF2B5EF4-FFF2-40B4-BE49-F238E27FC236}">
                <a16:creationId xmlns:a16="http://schemas.microsoft.com/office/drawing/2014/main" id="{8E5C5CE3-5E7A-BC93-C0EF-B6CCCF71DEC4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intro_motion/*.npz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02_005_text">
            <a:extLst>
              <a:ext uri="{FF2B5EF4-FFF2-40B4-BE49-F238E27FC236}">
                <a16:creationId xmlns:a16="http://schemas.microsoft.com/office/drawing/2014/main" id="{A0EE4766-A2BB-BF20-F6BD-70FD7750C48C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02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7" name="S02_006_video">
            <a:hlinkClick r:id="" action="ppaction://media"/>
            <a:extLst>
              <a:ext uri="{FF2B5EF4-FFF2-40B4-BE49-F238E27FC236}">
                <a16:creationId xmlns:a16="http://schemas.microsoft.com/office/drawing/2014/main" id="{519A9A20-6DA5-5CA2-822F-438C2DF41D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3100" y="1320800"/>
            <a:ext cx="10845800" cy="5021204"/>
          </a:xfrm>
          <a:prstGeom prst="rect">
            <a:avLst/>
          </a:prstGeom>
        </p:spPr>
      </p:pic>
      <p:sp>
        <p:nvSpPr>
          <p:cNvPr id="8" name="S02_007_text">
            <a:extLst>
              <a:ext uri="{FF2B5EF4-FFF2-40B4-BE49-F238E27FC236}">
                <a16:creationId xmlns:a16="http://schemas.microsoft.com/office/drawing/2014/main" id="{F58D1682-FCBB-D33E-CDF0-27F08EBFE271}"/>
              </a:ext>
            </a:extLst>
          </p:cNvPr>
          <p:cNvSpPr txBox="1"/>
          <p:nvPr/>
        </p:nvSpPr>
        <p:spPr>
          <a:xfrm>
            <a:off x="546100" y="6362700"/>
            <a:ext cx="11112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질문</a:t>
            </a:r>
            <a:r>
              <a:rPr lang="en-US" altLang="ko-KR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차이를 </a:t>
            </a:r>
            <a:r>
              <a:rPr lang="en-US" altLang="ko-KR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payload, </a:t>
            </a:r>
            <a:r>
              <a:rPr lang="ko-KR" altLang="en-US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링크 관성</a:t>
            </a:r>
            <a:r>
              <a:rPr lang="en-US" altLang="ko-KR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관절 마찰 중 어디에 보정해야 할까</a:t>
            </a:r>
            <a:r>
              <a:rPr lang="en-US" altLang="ko-KR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15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4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_001_text">
            <a:extLst>
              <a:ext uri="{FF2B5EF4-FFF2-40B4-BE49-F238E27FC236}">
                <a16:creationId xmlns:a16="http://schemas.microsoft.com/office/drawing/2014/main" id="{77309178-67DF-E751-C66D-5D4F61A468FA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MOTIVATION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03_002_text">
            <a:extLst>
              <a:ext uri="{FF2B5EF4-FFF2-40B4-BE49-F238E27FC236}">
                <a16:creationId xmlns:a16="http://schemas.microsoft.com/office/drawing/2014/main" id="{DFB78B57-C317-B890-DB34-3AE2DECD74BF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보정값에는 “어디가 바뀌었는가”라는 주소가 필요하다</a:t>
            </a:r>
          </a:p>
        </p:txBody>
      </p:sp>
      <p:cxnSp>
        <p:nvCxnSpPr>
          <p:cNvPr id="4" name="S03_003_line">
            <a:extLst>
              <a:ext uri="{FF2B5EF4-FFF2-40B4-BE49-F238E27FC236}">
                <a16:creationId xmlns:a16="http://schemas.microsoft.com/office/drawing/2014/main" id="{7E536DD1-CCE0-4566-2D56-16DCCCDBBE1C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03_004_text">
            <a:extLst>
              <a:ext uri="{FF2B5EF4-FFF2-40B4-BE49-F238E27FC236}">
                <a16:creationId xmlns:a16="http://schemas.microsoft.com/office/drawing/2014/main" id="{B14AEA7B-0F67-1639-7184-57CE3F5BC215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§3 · §5.3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03_005_text">
            <a:extLst>
              <a:ext uri="{FF2B5EF4-FFF2-40B4-BE49-F238E27FC236}">
                <a16:creationId xmlns:a16="http://schemas.microsoft.com/office/drawing/2014/main" id="{D6D75834-1F6F-DCA7-B33D-90E6209D2086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8" name="S03_006_image">
            <a:extLst>
              <a:ext uri="{FF2B5EF4-FFF2-40B4-BE49-F238E27FC236}">
                <a16:creationId xmlns:a16="http://schemas.microsoft.com/office/drawing/2014/main" id="{A3ADA460-4620-35EC-E5B6-034EDB686F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625600"/>
            <a:ext cx="3302000" cy="3256139"/>
          </a:xfrm>
          <a:prstGeom prst="rect">
            <a:avLst/>
          </a:prstGeom>
        </p:spPr>
      </p:pic>
      <p:sp>
        <p:nvSpPr>
          <p:cNvPr id="9" name="S03_007_text">
            <a:extLst>
              <a:ext uri="{FF2B5EF4-FFF2-40B4-BE49-F238E27FC236}">
                <a16:creationId xmlns:a16="http://schemas.microsoft.com/office/drawing/2014/main" id="{5747CCF5-68A5-7C01-92B4-7756D4200832}"/>
              </a:ext>
            </a:extLst>
          </p:cNvPr>
          <p:cNvSpPr txBox="1"/>
          <p:nvPr/>
        </p:nvSpPr>
        <p:spPr>
          <a:xfrm>
            <a:off x="4445000" y="1600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기존 </a:t>
            </a:r>
            <a:r>
              <a:rPr lang="en-US" altLang="ko-KR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twin T₀</a:t>
            </a:r>
            <a:endParaRPr lang="ko-KR" altLang="en-US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S03_008_text">
            <a:extLst>
              <a:ext uri="{FF2B5EF4-FFF2-40B4-BE49-F238E27FC236}">
                <a16:creationId xmlns:a16="http://schemas.microsoft.com/office/drawing/2014/main" id="{166C250B-AA66-8D7D-27C7-64E66E1E6234}"/>
              </a:ext>
            </a:extLst>
          </p:cNvPr>
          <p:cNvSpPr txBox="1"/>
          <p:nvPr/>
        </p:nvSpPr>
        <p:spPr>
          <a:xfrm>
            <a:off x="4445000" y="2095500"/>
            <a:ext cx="660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질량</a:t>
            </a:r>
            <a:r>
              <a:rPr lang="en-US" altLang="ko-KR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관성</a:t>
            </a:r>
            <a:r>
              <a:rPr lang="en-US" altLang="ko-KR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마찰의 기준값이 이미 있다</a:t>
            </a:r>
            <a:r>
              <a:rPr lang="en-US" altLang="ko-KR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1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S03_009_text">
            <a:extLst>
              <a:ext uri="{FF2B5EF4-FFF2-40B4-BE49-F238E27FC236}">
                <a16:creationId xmlns:a16="http://schemas.microsoft.com/office/drawing/2014/main" id="{416A2428-B43A-E2C8-4E0A-7F6B558EE9DD}"/>
              </a:ext>
            </a:extLst>
          </p:cNvPr>
          <p:cNvSpPr txBox="1"/>
          <p:nvPr/>
        </p:nvSpPr>
        <p:spPr>
          <a:xfrm>
            <a:off x="4445000" y="29337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물리 시스템의 변화</a:t>
            </a:r>
          </a:p>
        </p:txBody>
      </p:sp>
      <p:sp>
        <p:nvSpPr>
          <p:cNvPr id="12" name="S03_010_text">
            <a:extLst>
              <a:ext uri="{FF2B5EF4-FFF2-40B4-BE49-F238E27FC236}">
                <a16:creationId xmlns:a16="http://schemas.microsoft.com/office/drawing/2014/main" id="{B571517B-5B11-96DA-3086-48FBD1BA9D42}"/>
              </a:ext>
            </a:extLst>
          </p:cNvPr>
          <p:cNvSpPr txBox="1"/>
          <p:nvPr/>
        </p:nvSpPr>
        <p:spPr>
          <a:xfrm>
            <a:off x="4445000" y="3429000"/>
            <a:ext cx="6921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도구 장착 </a:t>
            </a:r>
            <a:r>
              <a:rPr lang="en-US" altLang="ko-KR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관절 마모 </a:t>
            </a:r>
            <a:r>
              <a:rPr lang="en-US" altLang="ko-KR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부품 교체
→ 기준값에서 달라진 양 </a:t>
            </a:r>
            <a:r>
              <a:rPr lang="en-US" altLang="ko-KR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Δparameter</a:t>
            </a:r>
            <a:r>
              <a:rPr lang="ko-KR" altLang="en-US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찾는다</a:t>
            </a:r>
            <a:r>
              <a:rPr lang="en-US" altLang="ko-KR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1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S03_011_text">
            <a:extLst>
              <a:ext uri="{FF2B5EF4-FFF2-40B4-BE49-F238E27FC236}">
                <a16:creationId xmlns:a16="http://schemas.microsoft.com/office/drawing/2014/main" id="{A1F6F45F-3104-7D4B-7036-59B8DCB2016D}"/>
              </a:ext>
            </a:extLst>
          </p:cNvPr>
          <p:cNvSpPr txBox="1"/>
          <p:nvPr/>
        </p:nvSpPr>
        <p:spPr>
          <a:xfrm>
            <a:off x="4445000" y="47371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서비스 중 유지보수</a:t>
            </a:r>
          </a:p>
        </p:txBody>
      </p:sp>
      <p:sp>
        <p:nvSpPr>
          <p:cNvPr id="14" name="S03_012_text">
            <a:extLst>
              <a:ext uri="{FF2B5EF4-FFF2-40B4-BE49-F238E27FC236}">
                <a16:creationId xmlns:a16="http://schemas.microsoft.com/office/drawing/2014/main" id="{2165AABB-BD4E-30C7-29EF-AEB864B22A09}"/>
              </a:ext>
            </a:extLst>
          </p:cNvPr>
          <p:cNvSpPr txBox="1"/>
          <p:nvPr/>
        </p:nvSpPr>
        <p:spPr>
          <a:xfrm>
            <a:off x="4445000" y="5181600"/>
            <a:ext cx="6921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도구를 떼면</a:t>
            </a:r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도구에 해당하는 보정만 제거한다</a:t>
            </a:r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5" name="S03_013_line">
            <a:extLst>
              <a:ext uri="{FF2B5EF4-FFF2-40B4-BE49-F238E27FC236}">
                <a16:creationId xmlns:a16="http://schemas.microsoft.com/office/drawing/2014/main" id="{0A3E2AD2-435E-3192-8F9A-493107A34124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03_014_text">
            <a:extLst>
              <a:ext uri="{FF2B5EF4-FFF2-40B4-BE49-F238E27FC236}">
                <a16:creationId xmlns:a16="http://schemas.microsoft.com/office/drawing/2014/main" id="{212CA6D6-CDAD-E3B2-3761-99B5B9D6DAFC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논문의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prior: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물성 변화는 소수의 링크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관절에 집중되어 있다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8871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_001_text">
            <a:extLst>
              <a:ext uri="{FF2B5EF4-FFF2-40B4-BE49-F238E27FC236}">
                <a16:creationId xmlns:a16="http://schemas.microsoft.com/office/drawing/2014/main" id="{CDC719BA-C715-4E90-FFC5-435C21B1DAFC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EXPERIMENTAL SETUP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04_002_text">
            <a:extLst>
              <a:ext uri="{FF2B5EF4-FFF2-40B4-BE49-F238E27FC236}">
                <a16:creationId xmlns:a16="http://schemas.microsoft.com/office/drawing/2014/main" id="{B5167E38-3B20-3516-AB3B-3C66426F1439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정답을 아는 로봇을 만들어 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attribution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평가한다</a:t>
            </a:r>
          </a:p>
        </p:txBody>
      </p:sp>
      <p:cxnSp>
        <p:nvCxnSpPr>
          <p:cNvPr id="4" name="S04_003_line">
            <a:extLst>
              <a:ext uri="{FF2B5EF4-FFF2-40B4-BE49-F238E27FC236}">
                <a16:creationId xmlns:a16="http://schemas.microsoft.com/office/drawing/2014/main" id="{C57446E5-42B4-AFB2-7142-B7D29D3FAB7A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04_004_text">
            <a:extLst>
              <a:ext uri="{FF2B5EF4-FFF2-40B4-BE49-F238E27FC236}">
                <a16:creationId xmlns:a16="http://schemas.microsoft.com/office/drawing/2014/main" id="{E54B7470-C64E-E479-2567-F05C919478F7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Table 1 · fr3_twin.GAP_TRUE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04_005_text">
            <a:extLst>
              <a:ext uri="{FF2B5EF4-FFF2-40B4-BE49-F238E27FC236}">
                <a16:creationId xmlns:a16="http://schemas.microsoft.com/office/drawing/2014/main" id="{AB42D79A-AE75-F9CE-8997-91550C1BD055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04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8" name="S04_006_image">
            <a:extLst>
              <a:ext uri="{FF2B5EF4-FFF2-40B4-BE49-F238E27FC236}">
                <a16:creationId xmlns:a16="http://schemas.microsoft.com/office/drawing/2014/main" id="{4E87104A-A732-0A98-C0F2-61C00ADD95E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587500"/>
            <a:ext cx="3683000" cy="3631847"/>
          </a:xfrm>
          <a:prstGeom prst="rect">
            <a:avLst/>
          </a:prstGeom>
        </p:spPr>
      </p:pic>
      <p:cxnSp>
        <p:nvCxnSpPr>
          <p:cNvPr id="9" name="S04_007_line">
            <a:extLst>
              <a:ext uri="{FF2B5EF4-FFF2-40B4-BE49-F238E27FC236}">
                <a16:creationId xmlns:a16="http://schemas.microsoft.com/office/drawing/2014/main" id="{45793665-C09C-027E-1A3E-300B70F0E683}"/>
              </a:ext>
            </a:extLst>
          </p:cNvPr>
          <p:cNvCxnSpPr/>
          <p:nvPr/>
        </p:nvCxnSpPr>
        <p:spPr>
          <a:xfrm>
            <a:off x="4508500" y="1714500"/>
            <a:ext cx="7112000" cy="0"/>
          </a:xfrm>
          <a:prstGeom prst="straightConnector1">
            <a:avLst/>
          </a:prstGeom>
          <a:ln w="12700">
            <a:solidFill>
              <a:srgbClr val="2032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04_008_text">
            <a:extLst>
              <a:ext uri="{FF2B5EF4-FFF2-40B4-BE49-F238E27FC236}">
                <a16:creationId xmlns:a16="http://schemas.microsoft.com/office/drawing/2014/main" id="{324342DC-FC1C-F26B-6103-DD12C8EAF733}"/>
              </a:ext>
            </a:extLst>
          </p:cNvPr>
          <p:cNvSpPr txBox="1"/>
          <p:nvPr/>
        </p:nvSpPr>
        <p:spPr>
          <a:xfrm>
            <a:off x="4610100" y="1816100"/>
            <a:ext cx="2019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바뀐 위치</a:t>
            </a:r>
          </a:p>
        </p:txBody>
      </p:sp>
      <p:sp>
        <p:nvSpPr>
          <p:cNvPr id="11" name="S04_009_text">
            <a:extLst>
              <a:ext uri="{FF2B5EF4-FFF2-40B4-BE49-F238E27FC236}">
                <a16:creationId xmlns:a16="http://schemas.microsoft.com/office/drawing/2014/main" id="{984BCB2D-7F1F-39C7-3E24-2F6F4BA3BF3B}"/>
              </a:ext>
            </a:extLst>
          </p:cNvPr>
          <p:cNvSpPr txBox="1"/>
          <p:nvPr/>
        </p:nvSpPr>
        <p:spPr>
          <a:xfrm>
            <a:off x="6832600" y="1816100"/>
            <a:ext cx="4686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주입한 변화</a:t>
            </a:r>
          </a:p>
        </p:txBody>
      </p:sp>
      <p:cxnSp>
        <p:nvCxnSpPr>
          <p:cNvPr id="12" name="S04_010_line">
            <a:extLst>
              <a:ext uri="{FF2B5EF4-FFF2-40B4-BE49-F238E27FC236}">
                <a16:creationId xmlns:a16="http://schemas.microsoft.com/office/drawing/2014/main" id="{E2CCB83D-DFBA-13EE-B25C-8E7FFF6AC20D}"/>
              </a:ext>
            </a:extLst>
          </p:cNvPr>
          <p:cNvCxnSpPr/>
          <p:nvPr/>
        </p:nvCxnSpPr>
        <p:spPr>
          <a:xfrm>
            <a:off x="4508500" y="2311400"/>
            <a:ext cx="7112000" cy="0"/>
          </a:xfrm>
          <a:prstGeom prst="straightConnector1">
            <a:avLst/>
          </a:prstGeom>
          <a:ln w="8890">
            <a:solidFill>
              <a:srgbClr val="2032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04_011_text">
            <a:extLst>
              <a:ext uri="{FF2B5EF4-FFF2-40B4-BE49-F238E27FC236}">
                <a16:creationId xmlns:a16="http://schemas.microsoft.com/office/drawing/2014/main" id="{97F479AD-7374-9C62-74A8-F226FBE62581}"/>
              </a:ext>
            </a:extLst>
          </p:cNvPr>
          <p:cNvSpPr txBox="1"/>
          <p:nvPr/>
        </p:nvSpPr>
        <p:spPr>
          <a:xfrm>
            <a:off x="4610100" y="2425700"/>
            <a:ext cx="2019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Flange / link 7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S04_012_text">
            <a:extLst>
              <a:ext uri="{FF2B5EF4-FFF2-40B4-BE49-F238E27FC236}">
                <a16:creationId xmlns:a16="http://schemas.microsoft.com/office/drawing/2014/main" id="{F47061D9-00FE-1860-DB29-F83BFD67DD30}"/>
              </a:ext>
            </a:extLst>
          </p:cNvPr>
          <p:cNvSpPr txBox="1"/>
          <p:nvPr/>
        </p:nvSpPr>
        <p:spPr>
          <a:xfrm>
            <a:off x="6832600" y="2425700"/>
            <a:ext cx="4686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 0.8 kg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5" name="S04_013_line">
            <a:extLst>
              <a:ext uri="{FF2B5EF4-FFF2-40B4-BE49-F238E27FC236}">
                <a16:creationId xmlns:a16="http://schemas.microsoft.com/office/drawing/2014/main" id="{C8E5F047-D8F9-C142-5938-523F0C2C76D5}"/>
              </a:ext>
            </a:extLst>
          </p:cNvPr>
          <p:cNvCxnSpPr/>
          <p:nvPr/>
        </p:nvCxnSpPr>
        <p:spPr>
          <a:xfrm>
            <a:off x="4508500" y="2908300"/>
            <a:ext cx="71120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04_014_text">
            <a:extLst>
              <a:ext uri="{FF2B5EF4-FFF2-40B4-BE49-F238E27FC236}">
                <a16:creationId xmlns:a16="http://schemas.microsoft.com/office/drawing/2014/main" id="{57080CD8-B1F0-6CED-5E1C-98E1EB6AF674}"/>
              </a:ext>
            </a:extLst>
          </p:cNvPr>
          <p:cNvSpPr txBox="1"/>
          <p:nvPr/>
        </p:nvSpPr>
        <p:spPr>
          <a:xfrm>
            <a:off x="4610100" y="3022600"/>
            <a:ext cx="2019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 CoM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S04_015_text">
            <a:extLst>
              <a:ext uri="{FF2B5EF4-FFF2-40B4-BE49-F238E27FC236}">
                <a16:creationId xmlns:a16="http://schemas.microsoft.com/office/drawing/2014/main" id="{55A8B34E-AC55-84DB-C700-07615D8D8EF9}"/>
              </a:ext>
            </a:extLst>
          </p:cNvPr>
          <p:cNvSpPr txBox="1"/>
          <p:nvPr/>
        </p:nvSpPr>
        <p:spPr>
          <a:xfrm>
            <a:off x="6832600" y="3022600"/>
            <a:ext cx="4686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(20, −15, 60) mm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8" name="S04_016_line">
            <a:extLst>
              <a:ext uri="{FF2B5EF4-FFF2-40B4-BE49-F238E27FC236}">
                <a16:creationId xmlns:a16="http://schemas.microsoft.com/office/drawing/2014/main" id="{C7D56BFB-A1E6-87CC-408F-BBE83751D337}"/>
              </a:ext>
            </a:extLst>
          </p:cNvPr>
          <p:cNvCxnSpPr/>
          <p:nvPr/>
        </p:nvCxnSpPr>
        <p:spPr>
          <a:xfrm>
            <a:off x="4508500" y="3505200"/>
            <a:ext cx="71120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04_017_text">
            <a:extLst>
              <a:ext uri="{FF2B5EF4-FFF2-40B4-BE49-F238E27FC236}">
                <a16:creationId xmlns:a16="http://schemas.microsoft.com/office/drawing/2014/main" id="{FB5DC3B5-B352-D9ED-264D-53DCE4A4822F}"/>
              </a:ext>
            </a:extLst>
          </p:cNvPr>
          <p:cNvSpPr txBox="1"/>
          <p:nvPr/>
        </p:nvSpPr>
        <p:spPr>
          <a:xfrm>
            <a:off x="4610100" y="3619500"/>
            <a:ext cx="2019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Link 3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S04_018_text">
            <a:extLst>
              <a:ext uri="{FF2B5EF4-FFF2-40B4-BE49-F238E27FC236}">
                <a16:creationId xmlns:a16="http://schemas.microsoft.com/office/drawing/2014/main" id="{96CF1FA2-B5B5-7293-9790-3458C438E3D2}"/>
              </a:ext>
            </a:extLst>
          </p:cNvPr>
          <p:cNvSpPr txBox="1"/>
          <p:nvPr/>
        </p:nvSpPr>
        <p:spPr>
          <a:xfrm>
            <a:off x="6832600" y="3619500"/>
            <a:ext cx="4686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질량</a:t>
            </a:r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관성 </a:t>
            </a:r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+12%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1" name="S04_019_line">
            <a:extLst>
              <a:ext uri="{FF2B5EF4-FFF2-40B4-BE49-F238E27FC236}">
                <a16:creationId xmlns:a16="http://schemas.microsoft.com/office/drawing/2014/main" id="{4F9086E5-E25D-33EF-90CB-D83BC43EE2A0}"/>
              </a:ext>
            </a:extLst>
          </p:cNvPr>
          <p:cNvCxnSpPr/>
          <p:nvPr/>
        </p:nvCxnSpPr>
        <p:spPr>
          <a:xfrm>
            <a:off x="4508500" y="4102100"/>
            <a:ext cx="71120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04_020_text">
            <a:extLst>
              <a:ext uri="{FF2B5EF4-FFF2-40B4-BE49-F238E27FC236}">
                <a16:creationId xmlns:a16="http://schemas.microsoft.com/office/drawing/2014/main" id="{811F8F0E-9463-7D1C-0394-1B9F4F383170}"/>
              </a:ext>
            </a:extLst>
          </p:cNvPr>
          <p:cNvSpPr txBox="1"/>
          <p:nvPr/>
        </p:nvSpPr>
        <p:spPr>
          <a:xfrm>
            <a:off x="4610100" y="4216400"/>
            <a:ext cx="2019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Joint 4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S04_021_text">
            <a:extLst>
              <a:ext uri="{FF2B5EF4-FFF2-40B4-BE49-F238E27FC236}">
                <a16:creationId xmlns:a16="http://schemas.microsoft.com/office/drawing/2014/main" id="{D6AC4B92-4028-F5B5-D64D-A36747222715}"/>
              </a:ext>
            </a:extLst>
          </p:cNvPr>
          <p:cNvSpPr txBox="1"/>
          <p:nvPr/>
        </p:nvSpPr>
        <p:spPr>
          <a:xfrm>
            <a:off x="6832600" y="4216400"/>
            <a:ext cx="4686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l-GR" altLang="ko-KR" sz="1600">
                <a:solidFill>
                  <a:srgbClr val="203244"/>
                </a:solidFill>
                <a:ea typeface="Malgun Gothic" panose="020B0503020000020004" pitchFamily="50" charset="-127"/>
              </a:rPr>
              <a:t>Δ</a:t>
            </a:r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fc = 1.66 Nm; </a:t>
            </a:r>
            <a:r>
              <a:rPr lang="el-GR" altLang="ko-KR" sz="1600">
                <a:solidFill>
                  <a:srgbClr val="203244"/>
                </a:solidFill>
                <a:ea typeface="Malgun Gothic" panose="020B0503020000020004" pitchFamily="50" charset="-127"/>
              </a:rPr>
              <a:t>Δ</a:t>
            </a:r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fv = 0.34 Nm·s/rad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4" name="S04_022_line">
            <a:extLst>
              <a:ext uri="{FF2B5EF4-FFF2-40B4-BE49-F238E27FC236}">
                <a16:creationId xmlns:a16="http://schemas.microsoft.com/office/drawing/2014/main" id="{8264487C-42D7-F166-6739-CF45083E1E0D}"/>
              </a:ext>
            </a:extLst>
          </p:cNvPr>
          <p:cNvCxnSpPr/>
          <p:nvPr/>
        </p:nvCxnSpPr>
        <p:spPr>
          <a:xfrm>
            <a:off x="4508500" y="4699000"/>
            <a:ext cx="71120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04_023_text">
            <a:extLst>
              <a:ext uri="{FF2B5EF4-FFF2-40B4-BE49-F238E27FC236}">
                <a16:creationId xmlns:a16="http://schemas.microsoft.com/office/drawing/2014/main" id="{676DB57E-9C55-6188-AF49-266316254EC8}"/>
              </a:ext>
            </a:extLst>
          </p:cNvPr>
          <p:cNvSpPr txBox="1"/>
          <p:nvPr/>
        </p:nvSpPr>
        <p:spPr>
          <a:xfrm>
            <a:off x="4610100" y="4813300"/>
            <a:ext cx="2019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Joint 6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S04_024_text">
            <a:extLst>
              <a:ext uri="{FF2B5EF4-FFF2-40B4-BE49-F238E27FC236}">
                <a16:creationId xmlns:a16="http://schemas.microsoft.com/office/drawing/2014/main" id="{7F3484FD-8B61-2F8A-AF1F-8B0739EB32F5}"/>
              </a:ext>
            </a:extLst>
          </p:cNvPr>
          <p:cNvSpPr txBox="1"/>
          <p:nvPr/>
        </p:nvSpPr>
        <p:spPr>
          <a:xfrm>
            <a:off x="6832600" y="4813300"/>
            <a:ext cx="4686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Coulomb +0.66 Nm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7" name="S04_025_line">
            <a:extLst>
              <a:ext uri="{FF2B5EF4-FFF2-40B4-BE49-F238E27FC236}">
                <a16:creationId xmlns:a16="http://schemas.microsoft.com/office/drawing/2014/main" id="{45F294E7-BCE2-370E-454A-C5B4C3CE3E4D}"/>
              </a:ext>
            </a:extLst>
          </p:cNvPr>
          <p:cNvCxnSpPr/>
          <p:nvPr/>
        </p:nvCxnSpPr>
        <p:spPr>
          <a:xfrm>
            <a:off x="4508500" y="5295900"/>
            <a:ext cx="71120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04_026_line">
            <a:extLst>
              <a:ext uri="{FF2B5EF4-FFF2-40B4-BE49-F238E27FC236}">
                <a16:creationId xmlns:a16="http://schemas.microsoft.com/office/drawing/2014/main" id="{F6B0008C-26EC-0DDC-35E7-BF68C0E272C0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04_027_text">
            <a:extLst>
              <a:ext uri="{FF2B5EF4-FFF2-40B4-BE49-F238E27FC236}">
                <a16:creationId xmlns:a16="http://schemas.microsoft.com/office/drawing/2014/main" id="{310C1BCE-5774-26F4-A370-198272695B64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참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support = {link3, link7, joint4, joint6};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네 그룹을 다시 찾는가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7040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_001_text">
            <a:extLst>
              <a:ext uri="{FF2B5EF4-FFF2-40B4-BE49-F238E27FC236}">
                <a16:creationId xmlns:a16="http://schemas.microsoft.com/office/drawing/2014/main" id="{1E30FA1D-88B2-CF57-4671-1401BAA84AE4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EXPERIMENTAL DESIGN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05_002_text">
            <a:extLst>
              <a:ext uri="{FF2B5EF4-FFF2-40B4-BE49-F238E27FC236}">
                <a16:creationId xmlns:a16="http://schemas.microsoft.com/office/drawing/2014/main" id="{C7E6728E-CFFC-BA19-A948-7FB903B703E2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세 종류의 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reference, 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 대상은 항상 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MuJoCo</a:t>
            </a:r>
            <a:endParaRPr lang="ko-KR" altLang="en-US" sz="28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4" name="S05_003_line">
            <a:extLst>
              <a:ext uri="{FF2B5EF4-FFF2-40B4-BE49-F238E27FC236}">
                <a16:creationId xmlns:a16="http://schemas.microsoft.com/office/drawing/2014/main" id="{D6A1BBE6-D561-D7EC-2F44-EDFD9D5BD41E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05_004_text">
            <a:extLst>
              <a:ext uri="{FF2B5EF4-FFF2-40B4-BE49-F238E27FC236}">
                <a16:creationId xmlns:a16="http://schemas.microsoft.com/office/drawing/2014/main" id="{DF5326D6-361D-95FB-0ECC-5CB5988544AF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§5.1 · Appendix C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05_005_text">
            <a:extLst>
              <a:ext uri="{FF2B5EF4-FFF2-40B4-BE49-F238E27FC236}">
                <a16:creationId xmlns:a16="http://schemas.microsoft.com/office/drawing/2014/main" id="{6EB7C28A-769D-E29B-AC60-CA57750DAF90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05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8" name="S05_006_image">
            <a:extLst>
              <a:ext uri="{FF2B5EF4-FFF2-40B4-BE49-F238E27FC236}">
                <a16:creationId xmlns:a16="http://schemas.microsoft.com/office/drawing/2014/main" id="{06A73C34-6AB3-CA4D-B356-B45900D8D30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62100"/>
            <a:ext cx="1651000" cy="1574800"/>
          </a:xfrm>
          <a:prstGeom prst="rect">
            <a:avLst/>
          </a:prstGeom>
        </p:spPr>
      </p:pic>
      <p:sp>
        <p:nvSpPr>
          <p:cNvPr id="9" name="S05_007_text">
            <a:extLst>
              <a:ext uri="{FF2B5EF4-FFF2-40B4-BE49-F238E27FC236}">
                <a16:creationId xmlns:a16="http://schemas.microsoft.com/office/drawing/2014/main" id="{80004F61-A3AE-500B-DEFD-1CC43D12F7A5}"/>
              </a:ext>
            </a:extLst>
          </p:cNvPr>
          <p:cNvSpPr txBox="1"/>
          <p:nvPr/>
        </p:nvSpPr>
        <p:spPr>
          <a:xfrm>
            <a:off x="2324100" y="1790700"/>
            <a:ext cx="203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9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MuJoCo</a:t>
            </a:r>
            <a:endParaRPr lang="ko-KR" altLang="en-US" sz="19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S05_008_text">
            <a:extLst>
              <a:ext uri="{FF2B5EF4-FFF2-40B4-BE49-F238E27FC236}">
                <a16:creationId xmlns:a16="http://schemas.microsoft.com/office/drawing/2014/main" id="{9ECE33CB-847D-AEB4-F852-A97599AA54F7}"/>
              </a:ext>
            </a:extLst>
          </p:cNvPr>
          <p:cNvSpPr txBox="1"/>
          <p:nvPr/>
        </p:nvSpPr>
        <p:spPr>
          <a:xfrm>
            <a:off x="2324100" y="2489200"/>
            <a:ext cx="1968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엔진 </a:t>
            </a:r>
            <a:r>
              <a:rPr lang="en-US" altLang="ko-KR" sz="15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5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정답 복원</a:t>
            </a:r>
          </a:p>
        </p:txBody>
      </p:sp>
      <p:cxnSp>
        <p:nvCxnSpPr>
          <p:cNvPr id="11" name="S05_009_line">
            <a:extLst>
              <a:ext uri="{FF2B5EF4-FFF2-40B4-BE49-F238E27FC236}">
                <a16:creationId xmlns:a16="http://schemas.microsoft.com/office/drawing/2014/main" id="{9E5DD0D3-532E-EFCD-E3FB-06B39D1FCA5A}"/>
              </a:ext>
            </a:extLst>
          </p:cNvPr>
          <p:cNvCxnSpPr/>
          <p:nvPr/>
        </p:nvCxnSpPr>
        <p:spPr>
          <a:xfrm>
            <a:off x="1384300" y="3302000"/>
            <a:ext cx="0" cy="38100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S05_010_image">
            <a:extLst>
              <a:ext uri="{FF2B5EF4-FFF2-40B4-BE49-F238E27FC236}">
                <a16:creationId xmlns:a16="http://schemas.microsoft.com/office/drawing/2014/main" id="{897C0DE8-222E-4BA9-55EF-F1E7D58C40E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1562100"/>
            <a:ext cx="1651000" cy="1574800"/>
          </a:xfrm>
          <a:prstGeom prst="rect">
            <a:avLst/>
          </a:prstGeom>
        </p:spPr>
      </p:pic>
      <p:sp>
        <p:nvSpPr>
          <p:cNvPr id="14" name="S05_011_text">
            <a:extLst>
              <a:ext uri="{FF2B5EF4-FFF2-40B4-BE49-F238E27FC236}">
                <a16:creationId xmlns:a16="http://schemas.microsoft.com/office/drawing/2014/main" id="{E8C7FE26-A86B-74BC-D018-43E29643FB99}"/>
              </a:ext>
            </a:extLst>
          </p:cNvPr>
          <p:cNvSpPr txBox="1"/>
          <p:nvPr/>
        </p:nvSpPr>
        <p:spPr>
          <a:xfrm>
            <a:off x="6159500" y="1790700"/>
            <a:ext cx="203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9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Gazebo / DART</a:t>
            </a:r>
            <a:endParaRPr lang="ko-KR" altLang="en-US" sz="19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S05_012_text">
            <a:extLst>
              <a:ext uri="{FF2B5EF4-FFF2-40B4-BE49-F238E27FC236}">
                <a16:creationId xmlns:a16="http://schemas.microsoft.com/office/drawing/2014/main" id="{CD332DB7-351C-6253-6326-4A29982FA9BF}"/>
              </a:ext>
            </a:extLst>
          </p:cNvPr>
          <p:cNvSpPr txBox="1"/>
          <p:nvPr/>
        </p:nvSpPr>
        <p:spPr>
          <a:xfrm>
            <a:off x="6159500" y="2489200"/>
            <a:ext cx="1968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엔진 간 검증 ①</a:t>
            </a:r>
          </a:p>
        </p:txBody>
      </p:sp>
      <p:cxnSp>
        <p:nvCxnSpPr>
          <p:cNvPr id="16" name="S05_013_line">
            <a:extLst>
              <a:ext uri="{FF2B5EF4-FFF2-40B4-BE49-F238E27FC236}">
                <a16:creationId xmlns:a16="http://schemas.microsoft.com/office/drawing/2014/main" id="{BD7D7E2B-168E-10F6-DFA0-C2EF20E13156}"/>
              </a:ext>
            </a:extLst>
          </p:cNvPr>
          <p:cNvCxnSpPr/>
          <p:nvPr/>
        </p:nvCxnSpPr>
        <p:spPr>
          <a:xfrm>
            <a:off x="5219700" y="3302000"/>
            <a:ext cx="0" cy="38100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S05_014_image">
            <a:extLst>
              <a:ext uri="{FF2B5EF4-FFF2-40B4-BE49-F238E27FC236}">
                <a16:creationId xmlns:a16="http://schemas.microsoft.com/office/drawing/2014/main" id="{5D1539F7-7739-E1D0-1089-536FFCBF9D8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200" y="1562100"/>
            <a:ext cx="1651000" cy="1574800"/>
          </a:xfrm>
          <a:prstGeom prst="rect">
            <a:avLst/>
          </a:prstGeom>
        </p:spPr>
      </p:pic>
      <p:sp>
        <p:nvSpPr>
          <p:cNvPr id="19" name="S05_015_text">
            <a:extLst>
              <a:ext uri="{FF2B5EF4-FFF2-40B4-BE49-F238E27FC236}">
                <a16:creationId xmlns:a16="http://schemas.microsoft.com/office/drawing/2014/main" id="{9D72DFAD-B8E4-2CB1-77BA-9A948EBDBEC7}"/>
              </a:ext>
            </a:extLst>
          </p:cNvPr>
          <p:cNvSpPr txBox="1"/>
          <p:nvPr/>
        </p:nvSpPr>
        <p:spPr>
          <a:xfrm>
            <a:off x="9994900" y="1790700"/>
            <a:ext cx="203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9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Isaac / PhysX</a:t>
            </a:r>
            <a:endParaRPr lang="ko-KR" altLang="en-US" sz="19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S05_016_text">
            <a:extLst>
              <a:ext uri="{FF2B5EF4-FFF2-40B4-BE49-F238E27FC236}">
                <a16:creationId xmlns:a16="http://schemas.microsoft.com/office/drawing/2014/main" id="{86D94454-5BD3-6D42-F74A-8D3C6002A60D}"/>
              </a:ext>
            </a:extLst>
          </p:cNvPr>
          <p:cNvSpPr txBox="1"/>
          <p:nvPr/>
        </p:nvSpPr>
        <p:spPr>
          <a:xfrm>
            <a:off x="9994900" y="2489200"/>
            <a:ext cx="1968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엔진 간 검증 ②</a:t>
            </a:r>
          </a:p>
        </p:txBody>
      </p:sp>
      <p:cxnSp>
        <p:nvCxnSpPr>
          <p:cNvPr id="21" name="S05_017_line">
            <a:extLst>
              <a:ext uri="{FF2B5EF4-FFF2-40B4-BE49-F238E27FC236}">
                <a16:creationId xmlns:a16="http://schemas.microsoft.com/office/drawing/2014/main" id="{98FB3E86-08AF-CF2A-D01F-D7CFD76B6998}"/>
              </a:ext>
            </a:extLst>
          </p:cNvPr>
          <p:cNvCxnSpPr/>
          <p:nvPr/>
        </p:nvCxnSpPr>
        <p:spPr>
          <a:xfrm>
            <a:off x="9055100" y="3302000"/>
            <a:ext cx="0" cy="38100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05_018_line">
            <a:extLst>
              <a:ext uri="{FF2B5EF4-FFF2-40B4-BE49-F238E27FC236}">
                <a16:creationId xmlns:a16="http://schemas.microsoft.com/office/drawing/2014/main" id="{A150FEA8-CD57-8DC4-8942-F6D0E63EC8A5}"/>
              </a:ext>
            </a:extLst>
          </p:cNvPr>
          <p:cNvCxnSpPr/>
          <p:nvPr/>
        </p:nvCxnSpPr>
        <p:spPr>
          <a:xfrm>
            <a:off x="1384300" y="3683000"/>
            <a:ext cx="8521700" cy="0"/>
          </a:xfrm>
          <a:prstGeom prst="straightConnector1">
            <a:avLst/>
          </a:prstGeom>
          <a:ln w="1270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05_019_line">
            <a:extLst>
              <a:ext uri="{FF2B5EF4-FFF2-40B4-BE49-F238E27FC236}">
                <a16:creationId xmlns:a16="http://schemas.microsoft.com/office/drawing/2014/main" id="{C7B04F16-E09E-94EF-5F75-27650E827C3D}"/>
              </a:ext>
            </a:extLst>
          </p:cNvPr>
          <p:cNvCxnSpPr/>
          <p:nvPr/>
        </p:nvCxnSpPr>
        <p:spPr>
          <a:xfrm>
            <a:off x="6096000" y="3683000"/>
            <a:ext cx="0" cy="33020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05_020_text">
            <a:extLst>
              <a:ext uri="{FF2B5EF4-FFF2-40B4-BE49-F238E27FC236}">
                <a16:creationId xmlns:a16="http://schemas.microsoft.com/office/drawing/2014/main" id="{56B79AFF-48FD-13EC-406A-1B576D1E1FAE}"/>
              </a:ext>
            </a:extLst>
          </p:cNvPr>
          <p:cNvSpPr txBox="1"/>
          <p:nvPr/>
        </p:nvSpPr>
        <p:spPr>
          <a:xfrm>
            <a:off x="1524000" y="4076700"/>
            <a:ext cx="914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MuJoCo twin: </a:t>
            </a:r>
            <a:r>
              <a:rPr lang="ko-KR" altLang="en-US" sz="2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동일한 </a:t>
            </a:r>
            <a:r>
              <a:rPr lang="en-US" altLang="ko-KR" sz="2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library</a:t>
            </a:r>
            <a:r>
              <a:rPr lang="ko-KR" altLang="en-US" sz="2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write-back</a:t>
            </a:r>
            <a:endParaRPr lang="ko-KR" altLang="en-US" sz="2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S05_021_text">
            <a:extLst>
              <a:ext uri="{FF2B5EF4-FFF2-40B4-BE49-F238E27FC236}">
                <a16:creationId xmlns:a16="http://schemas.microsoft.com/office/drawing/2014/main" id="{8F476443-9EBE-8F8C-F49E-3D525B45C8FD}"/>
              </a:ext>
            </a:extLst>
          </p:cNvPr>
          <p:cNvSpPr txBox="1"/>
          <p:nvPr/>
        </p:nvSpPr>
        <p:spPr>
          <a:xfrm>
            <a:off x="952500" y="4914900"/>
            <a:ext cx="1041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학습</a:t>
            </a:r>
            <a:r>
              <a:rPr lang="en-US" altLang="ko-KR" sz="23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3 × 20 s     </a:t>
            </a:r>
            <a:r>
              <a:rPr lang="ko-KR" altLang="en-US" sz="23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검증</a:t>
            </a:r>
            <a:r>
              <a:rPr lang="en-US" altLang="ko-KR" sz="23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2 × 20 s     </a:t>
            </a:r>
            <a:r>
              <a:rPr lang="ko-KR" altLang="en-US" sz="23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로그</a:t>
            </a:r>
            <a:r>
              <a:rPr lang="en-US" altLang="ko-KR" sz="23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1 kHz</a:t>
            </a:r>
            <a:endParaRPr lang="ko-KR" altLang="en-US" sz="23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S05_022_text">
            <a:extLst>
              <a:ext uri="{FF2B5EF4-FFF2-40B4-BE49-F238E27FC236}">
                <a16:creationId xmlns:a16="http://schemas.microsoft.com/office/drawing/2014/main" id="{CFAC71BD-6601-AA38-1DD8-1567EB4CE3BD}"/>
              </a:ext>
            </a:extLst>
          </p:cNvPr>
          <p:cNvSpPr txBox="1"/>
          <p:nvPr/>
        </p:nvSpPr>
        <p:spPr>
          <a:xfrm>
            <a:off x="1016000" y="54356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측정 노이즈 </a:t>
            </a:r>
            <a:r>
              <a:rPr lang="en-US" altLang="ko-KR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×0 / ×1 / ×3 · SG </a:t>
            </a:r>
            <a:r>
              <a:rPr lang="ko-KR" altLang="en-US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미분 </a:t>
            </a:r>
            <a:r>
              <a:rPr lang="en-US" altLang="ko-KR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궤적 단위 검증</a:t>
            </a:r>
          </a:p>
        </p:txBody>
      </p:sp>
      <p:cxnSp>
        <p:nvCxnSpPr>
          <p:cNvPr id="27" name="S05_023_line">
            <a:extLst>
              <a:ext uri="{FF2B5EF4-FFF2-40B4-BE49-F238E27FC236}">
                <a16:creationId xmlns:a16="http://schemas.microsoft.com/office/drawing/2014/main" id="{F6A7FE0A-52FC-8487-AF77-6D4DE1DAF41F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05_024_text">
            <a:extLst>
              <a:ext uri="{FF2B5EF4-FFF2-40B4-BE49-F238E27FC236}">
                <a16:creationId xmlns:a16="http://schemas.microsoft.com/office/drawing/2014/main" id="{34F6ADC1-A462-3AEE-1D27-3451AEEF1039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엔진의 차이와 주입한 물성 차이를 함께 평가하되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두 원인을 구분한다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2196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_001_text">
            <a:extLst>
              <a:ext uri="{FF2B5EF4-FFF2-40B4-BE49-F238E27FC236}">
                <a16:creationId xmlns:a16="http://schemas.microsoft.com/office/drawing/2014/main" id="{0B11B73A-4534-E9B5-C90F-D7606739D9D9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CORE IDEA · IDENTIFIABILITY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06_002_text">
            <a:extLst>
              <a:ext uri="{FF2B5EF4-FFF2-40B4-BE49-F238E27FC236}">
                <a16:creationId xmlns:a16="http://schemas.microsoft.com/office/drawing/2014/main" id="{1F905EEE-4B76-5575-1876-C9D7B569C123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토크를 만드는 파라미터는 하나가 아닐 수 있다</a:t>
            </a:r>
          </a:p>
        </p:txBody>
      </p:sp>
      <p:cxnSp>
        <p:nvCxnSpPr>
          <p:cNvPr id="4" name="S06_003_line">
            <a:extLst>
              <a:ext uri="{FF2B5EF4-FFF2-40B4-BE49-F238E27FC236}">
                <a16:creationId xmlns:a16="http://schemas.microsoft.com/office/drawing/2014/main" id="{FBE64E20-6EDF-62F7-6C62-3EB4E32DC87C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06_004_text">
            <a:extLst>
              <a:ext uri="{FF2B5EF4-FFF2-40B4-BE49-F238E27FC236}">
                <a16:creationId xmlns:a16="http://schemas.microsoft.com/office/drawing/2014/main" id="{21CB93F5-0957-B43D-DC8B-D98F8B69BD9E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§4.6 · structural audit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06_005_text">
            <a:extLst>
              <a:ext uri="{FF2B5EF4-FFF2-40B4-BE49-F238E27FC236}">
                <a16:creationId xmlns:a16="http://schemas.microsoft.com/office/drawing/2014/main" id="{6D9ABB95-08B8-CDE9-6B4C-FC941EDBCC45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06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06_006_text">
            <a:extLst>
              <a:ext uri="{FF2B5EF4-FFF2-40B4-BE49-F238E27FC236}">
                <a16:creationId xmlns:a16="http://schemas.microsoft.com/office/drawing/2014/main" id="{096DC81A-A5DC-EC47-EF33-0C5356E525F8}"/>
              </a:ext>
            </a:extLst>
          </p:cNvPr>
          <p:cNvSpPr txBox="1"/>
          <p:nvPr/>
        </p:nvSpPr>
        <p:spPr>
          <a:xfrm>
            <a:off x="571500" y="1549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설명용 비유</a:t>
            </a:r>
            <a:r>
              <a:rPr lang="en-US" altLang="ko-KR" sz="23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23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측정값이 </a:t>
            </a:r>
            <a:r>
              <a:rPr lang="en-US" altLang="ko-KR" sz="23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 + b</a:t>
            </a:r>
            <a:r>
              <a:rPr lang="ko-KR" altLang="en-US" sz="23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 알려준다면</a:t>
            </a:r>
          </a:p>
        </p:txBody>
      </p:sp>
      <p:sp>
        <p:nvSpPr>
          <p:cNvPr id="8" name="S06_007_rect">
            <a:extLst>
              <a:ext uri="{FF2B5EF4-FFF2-40B4-BE49-F238E27FC236}">
                <a16:creationId xmlns:a16="http://schemas.microsoft.com/office/drawing/2014/main" id="{33C11666-F222-4FA7-46B6-02852F94832C}"/>
              </a:ext>
            </a:extLst>
          </p:cNvPr>
          <p:cNvSpPr/>
          <p:nvPr/>
        </p:nvSpPr>
        <p:spPr>
          <a:xfrm>
            <a:off x="825500" y="2374900"/>
            <a:ext cx="3048000" cy="685800"/>
          </a:xfrm>
          <a:prstGeom prst="rect">
            <a:avLst/>
          </a:prstGeom>
          <a:solidFill>
            <a:srgbClr val="1B9E77"/>
          </a:solidFill>
          <a:ln w="7620">
            <a:solidFill>
              <a:srgbClr val="1B9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S06_008_rect">
            <a:extLst>
              <a:ext uri="{FF2B5EF4-FFF2-40B4-BE49-F238E27FC236}">
                <a16:creationId xmlns:a16="http://schemas.microsoft.com/office/drawing/2014/main" id="{3A11D0C4-AC51-095C-07AE-C27C9E9D64AD}"/>
              </a:ext>
            </a:extLst>
          </p:cNvPr>
          <p:cNvSpPr/>
          <p:nvPr/>
        </p:nvSpPr>
        <p:spPr>
          <a:xfrm>
            <a:off x="3873500" y="2374900"/>
            <a:ext cx="762000" cy="685800"/>
          </a:xfrm>
          <a:prstGeom prst="rect">
            <a:avLst/>
          </a:prstGeom>
          <a:solidFill>
            <a:srgbClr val="BAC8D4"/>
          </a:solidFill>
          <a:ln w="7620">
            <a:solidFill>
              <a:srgbClr val="BAC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S06_009_text">
            <a:extLst>
              <a:ext uri="{FF2B5EF4-FFF2-40B4-BE49-F238E27FC236}">
                <a16:creationId xmlns:a16="http://schemas.microsoft.com/office/drawing/2014/main" id="{9C70FE4A-F875-D2DD-74A7-647E55C496E1}"/>
              </a:ext>
            </a:extLst>
          </p:cNvPr>
          <p:cNvSpPr txBox="1"/>
          <p:nvPr/>
        </p:nvSpPr>
        <p:spPr>
          <a:xfrm>
            <a:off x="825500" y="3276600"/>
            <a:ext cx="444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 = 0.8   b = 0.2</a:t>
            </a:r>
            <a:endParaRPr lang="ko-KR" altLang="en-US" sz="2200" b="1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S06_010_text">
            <a:extLst>
              <a:ext uri="{FF2B5EF4-FFF2-40B4-BE49-F238E27FC236}">
                <a16:creationId xmlns:a16="http://schemas.microsoft.com/office/drawing/2014/main" id="{F1946F45-1510-573E-423F-A025F194C2E3}"/>
              </a:ext>
            </a:extLst>
          </p:cNvPr>
          <p:cNvSpPr txBox="1"/>
          <p:nvPr/>
        </p:nvSpPr>
        <p:spPr>
          <a:xfrm>
            <a:off x="825500" y="3873500"/>
            <a:ext cx="444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측정값 </a:t>
            </a:r>
            <a:r>
              <a:rPr lang="en-US" altLang="ko-KR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 + b = 1.0</a:t>
            </a:r>
            <a:endParaRPr lang="ko-KR" altLang="en-US" sz="21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S06_011_rect">
            <a:extLst>
              <a:ext uri="{FF2B5EF4-FFF2-40B4-BE49-F238E27FC236}">
                <a16:creationId xmlns:a16="http://schemas.microsoft.com/office/drawing/2014/main" id="{E4F9ECA6-9258-2935-36DC-C4352A4E159B}"/>
              </a:ext>
            </a:extLst>
          </p:cNvPr>
          <p:cNvSpPr/>
          <p:nvPr/>
        </p:nvSpPr>
        <p:spPr>
          <a:xfrm>
            <a:off x="6477000" y="2374900"/>
            <a:ext cx="762000" cy="685800"/>
          </a:xfrm>
          <a:prstGeom prst="rect">
            <a:avLst/>
          </a:prstGeom>
          <a:solidFill>
            <a:srgbClr val="2874BA"/>
          </a:solidFill>
          <a:ln w="7620">
            <a:solidFill>
              <a:srgbClr val="2874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S06_012_rect">
            <a:extLst>
              <a:ext uri="{FF2B5EF4-FFF2-40B4-BE49-F238E27FC236}">
                <a16:creationId xmlns:a16="http://schemas.microsoft.com/office/drawing/2014/main" id="{4E255369-60FE-A3AF-A34C-B25416EB272A}"/>
              </a:ext>
            </a:extLst>
          </p:cNvPr>
          <p:cNvSpPr/>
          <p:nvPr/>
        </p:nvSpPr>
        <p:spPr>
          <a:xfrm>
            <a:off x="7239000" y="2374900"/>
            <a:ext cx="3048000" cy="685800"/>
          </a:xfrm>
          <a:prstGeom prst="rect">
            <a:avLst/>
          </a:prstGeom>
          <a:solidFill>
            <a:srgbClr val="BAC8D4"/>
          </a:solidFill>
          <a:ln w="7620">
            <a:solidFill>
              <a:srgbClr val="BAC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S06_013_text">
            <a:extLst>
              <a:ext uri="{FF2B5EF4-FFF2-40B4-BE49-F238E27FC236}">
                <a16:creationId xmlns:a16="http://schemas.microsoft.com/office/drawing/2014/main" id="{BFED19E0-62A8-7086-D81D-263AD1B28480}"/>
              </a:ext>
            </a:extLst>
          </p:cNvPr>
          <p:cNvSpPr txBox="1"/>
          <p:nvPr/>
        </p:nvSpPr>
        <p:spPr>
          <a:xfrm>
            <a:off x="6477000" y="3276600"/>
            <a:ext cx="444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 = 0.2   b = 0.8</a:t>
            </a:r>
            <a:endParaRPr lang="ko-KR" altLang="en-US" sz="22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S06_014_text">
            <a:extLst>
              <a:ext uri="{FF2B5EF4-FFF2-40B4-BE49-F238E27FC236}">
                <a16:creationId xmlns:a16="http://schemas.microsoft.com/office/drawing/2014/main" id="{1F439506-583D-D69F-9A49-0330C977BC43}"/>
              </a:ext>
            </a:extLst>
          </p:cNvPr>
          <p:cNvSpPr txBox="1"/>
          <p:nvPr/>
        </p:nvSpPr>
        <p:spPr>
          <a:xfrm>
            <a:off x="6477000" y="3873500"/>
            <a:ext cx="444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측정값 </a:t>
            </a:r>
            <a:r>
              <a:rPr lang="en-US" altLang="ko-KR" sz="21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 + b = 1.0</a:t>
            </a:r>
            <a:endParaRPr lang="ko-KR" altLang="en-US" sz="21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S06_015_text">
            <a:extLst>
              <a:ext uri="{FF2B5EF4-FFF2-40B4-BE49-F238E27FC236}">
                <a16:creationId xmlns:a16="http://schemas.microsoft.com/office/drawing/2014/main" id="{997572E3-5DE6-FFCC-FCB0-A981C8280DEE}"/>
              </a:ext>
            </a:extLst>
          </p:cNvPr>
          <p:cNvSpPr txBox="1"/>
          <p:nvPr/>
        </p:nvSpPr>
        <p:spPr>
          <a:xfrm>
            <a:off x="673100" y="4889500"/>
            <a:ext cx="406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FR3</a:t>
            </a:r>
            <a:r>
              <a:rPr lang="ko-KR" altLang="en-US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관성 파라미터</a:t>
            </a:r>
          </a:p>
        </p:txBody>
      </p:sp>
      <p:sp>
        <p:nvSpPr>
          <p:cNvPr id="17" name="S06_016_text">
            <a:extLst>
              <a:ext uri="{FF2B5EF4-FFF2-40B4-BE49-F238E27FC236}">
                <a16:creationId xmlns:a16="http://schemas.microsoft.com/office/drawing/2014/main" id="{A6A351F7-E2D7-7F71-E8D7-1B41D569FBF3}"/>
              </a:ext>
            </a:extLst>
          </p:cNvPr>
          <p:cNvSpPr txBox="1"/>
          <p:nvPr/>
        </p:nvSpPr>
        <p:spPr>
          <a:xfrm>
            <a:off x="4508500" y="4889500"/>
            <a:ext cx="7048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70</a:t>
            </a:r>
            <a:r>
              <a:rPr lang="ko-KR" altLang="en-US" sz="24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→ 독립 조합 </a:t>
            </a:r>
            <a:r>
              <a:rPr lang="en-US" altLang="ko-KR" sz="24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43</a:t>
            </a:r>
            <a:r>
              <a:rPr lang="ko-KR" altLang="en-US" sz="24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</a:t>
            </a:r>
            <a:r>
              <a:rPr lang="en-US" altLang="ko-KR" sz="24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null </a:t>
            </a:r>
            <a:r>
              <a:rPr lang="ko-KR" altLang="en-US" sz="24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방향 </a:t>
            </a:r>
            <a:r>
              <a:rPr lang="en-US" altLang="ko-KR" sz="24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27</a:t>
            </a:r>
            <a:r>
              <a:rPr lang="ko-KR" altLang="en-US" sz="24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</a:t>
            </a:r>
          </a:p>
        </p:txBody>
      </p:sp>
      <p:cxnSp>
        <p:nvCxnSpPr>
          <p:cNvPr id="18" name="S06_017_line">
            <a:extLst>
              <a:ext uri="{FF2B5EF4-FFF2-40B4-BE49-F238E27FC236}">
                <a16:creationId xmlns:a16="http://schemas.microsoft.com/office/drawing/2014/main" id="{75BA0D15-354A-09C2-C353-F362625ED7CB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06_018_text">
            <a:extLst>
              <a:ext uri="{FF2B5EF4-FFF2-40B4-BE49-F238E27FC236}">
                <a16:creationId xmlns:a16="http://schemas.microsoft.com/office/drawing/2014/main" id="{C5113100-0BB1-5A5C-8A6C-243917792CEB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동작 검증으로 구별할 수 없는 부분에는 물리적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prior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식별 한계 보고가 필요하다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6777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_001_text">
            <a:extLst>
              <a:ext uri="{FF2B5EF4-FFF2-40B4-BE49-F238E27FC236}">
                <a16:creationId xmlns:a16="http://schemas.microsoft.com/office/drawing/2014/main" id="{5130D56C-4482-59BE-8A3B-F93728B96E70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VALIDATION FRAMEWORK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07_002_text">
            <a:extLst>
              <a:ext uri="{FF2B5EF4-FFF2-40B4-BE49-F238E27FC236}">
                <a16:creationId xmlns:a16="http://schemas.microsoft.com/office/drawing/2014/main" id="{B936F2E4-5FA6-89AD-4000-4D38B204B21E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평가는 하나의 오차 점수로 끝나지 않는다</a:t>
            </a:r>
          </a:p>
        </p:txBody>
      </p:sp>
      <p:cxnSp>
        <p:nvCxnSpPr>
          <p:cNvPr id="4" name="S07_003_line">
            <a:extLst>
              <a:ext uri="{FF2B5EF4-FFF2-40B4-BE49-F238E27FC236}">
                <a16:creationId xmlns:a16="http://schemas.microsoft.com/office/drawing/2014/main" id="{9851B98A-4887-1647-4E44-941DBB90D581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07_004_text">
            <a:extLst>
              <a:ext uri="{FF2B5EF4-FFF2-40B4-BE49-F238E27FC236}">
                <a16:creationId xmlns:a16="http://schemas.microsoft.com/office/drawing/2014/main" id="{DF31ECD5-F772-6AAB-10A5-0DA008846488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Definitions 1–2 · §3.4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07_005_text">
            <a:extLst>
              <a:ext uri="{FF2B5EF4-FFF2-40B4-BE49-F238E27FC236}">
                <a16:creationId xmlns:a16="http://schemas.microsoft.com/office/drawing/2014/main" id="{8F9420CD-9D3A-9527-7F5F-A4E6DE963066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07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7" name="S07_006_line">
            <a:extLst>
              <a:ext uri="{FF2B5EF4-FFF2-40B4-BE49-F238E27FC236}">
                <a16:creationId xmlns:a16="http://schemas.microsoft.com/office/drawing/2014/main" id="{9DE738E7-9442-F398-1D12-134BB6F60CDA}"/>
              </a:ext>
            </a:extLst>
          </p:cNvPr>
          <p:cNvCxnSpPr/>
          <p:nvPr/>
        </p:nvCxnSpPr>
        <p:spPr>
          <a:xfrm>
            <a:off x="508000" y="1689100"/>
            <a:ext cx="3505200" cy="0"/>
          </a:xfrm>
          <a:prstGeom prst="straightConnector1">
            <a:avLst/>
          </a:prstGeom>
          <a:ln w="38100">
            <a:solidFill>
              <a:srgbClr val="2874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07_007_text">
            <a:extLst>
              <a:ext uri="{FF2B5EF4-FFF2-40B4-BE49-F238E27FC236}">
                <a16:creationId xmlns:a16="http://schemas.microsoft.com/office/drawing/2014/main" id="{11C89BBC-8766-E15B-C9B5-CFB7AD0941E2}"/>
              </a:ext>
            </a:extLst>
          </p:cNvPr>
          <p:cNvSpPr txBox="1"/>
          <p:nvPr/>
        </p:nvSpPr>
        <p:spPr>
          <a:xfrm>
            <a:off x="508000" y="1917700"/>
            <a:ext cx="35687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Behavioral fidelity</a:t>
            </a:r>
            <a:endParaRPr lang="ko-KR" altLang="en-US" sz="22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S07_008_text">
            <a:extLst>
              <a:ext uri="{FF2B5EF4-FFF2-40B4-BE49-F238E27FC236}">
                <a16:creationId xmlns:a16="http://schemas.microsoft.com/office/drawing/2014/main" id="{5ABE1E36-8990-6A72-BCB3-03A97450250B}"/>
              </a:ext>
            </a:extLst>
          </p:cNvPr>
          <p:cNvSpPr txBox="1"/>
          <p:nvPr/>
        </p:nvSpPr>
        <p:spPr>
          <a:xfrm>
            <a:off x="508000" y="3073400"/>
            <a:ext cx="35687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토크를 맞히는가</a:t>
            </a:r>
            <a:r>
              <a:rPr lang="en-US" altLang="ko-KR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
</a:t>
            </a:r>
            <a:r>
              <a:rPr lang="ko-KR" altLang="en-US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말단 궤적을 따라가는가</a:t>
            </a:r>
            <a:r>
              <a:rPr lang="en-US" altLang="ko-KR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
</a:t>
            </a:r>
            <a:r>
              <a:rPr lang="ko-KR" altLang="en-US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새 접촉 과제를 수행하는가</a:t>
            </a:r>
            <a:r>
              <a:rPr lang="en-US" altLang="ko-KR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9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0" name="S07_009_line">
            <a:extLst>
              <a:ext uri="{FF2B5EF4-FFF2-40B4-BE49-F238E27FC236}">
                <a16:creationId xmlns:a16="http://schemas.microsoft.com/office/drawing/2014/main" id="{EFFECFD0-C13D-88F8-A240-14809892A4A7}"/>
              </a:ext>
            </a:extLst>
          </p:cNvPr>
          <p:cNvCxnSpPr/>
          <p:nvPr/>
        </p:nvCxnSpPr>
        <p:spPr>
          <a:xfrm>
            <a:off x="4406900" y="1689100"/>
            <a:ext cx="3505200" cy="0"/>
          </a:xfrm>
          <a:prstGeom prst="straightConnector1">
            <a:avLst/>
          </a:prstGeom>
          <a:ln w="38100">
            <a:solidFill>
              <a:srgbClr val="1B9E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07_010_text">
            <a:extLst>
              <a:ext uri="{FF2B5EF4-FFF2-40B4-BE49-F238E27FC236}">
                <a16:creationId xmlns:a16="http://schemas.microsoft.com/office/drawing/2014/main" id="{A38505D8-12BE-680A-06BC-C9561C0CC77B}"/>
              </a:ext>
            </a:extLst>
          </p:cNvPr>
          <p:cNvSpPr txBox="1"/>
          <p:nvPr/>
        </p:nvSpPr>
        <p:spPr>
          <a:xfrm>
            <a:off x="4406900" y="1917700"/>
            <a:ext cx="35687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Physical attribution</a:t>
            </a:r>
            <a:endParaRPr lang="ko-KR" altLang="en-US" sz="2200" b="1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S07_011_text">
            <a:extLst>
              <a:ext uri="{FF2B5EF4-FFF2-40B4-BE49-F238E27FC236}">
                <a16:creationId xmlns:a16="http://schemas.microsoft.com/office/drawing/2014/main" id="{80975E19-C70C-4DA8-961B-3EE62AC29270}"/>
              </a:ext>
            </a:extLst>
          </p:cNvPr>
          <p:cNvSpPr txBox="1"/>
          <p:nvPr/>
        </p:nvSpPr>
        <p:spPr>
          <a:xfrm>
            <a:off x="4406900" y="3073400"/>
            <a:ext cx="35687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어느 링크</a:t>
            </a:r>
            <a:r>
              <a:rPr lang="en-US" altLang="ko-KR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관절이 바뀌었나</a:t>
            </a:r>
            <a:r>
              <a:rPr lang="en-US" altLang="ko-KR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
</a:t>
            </a:r>
            <a:r>
              <a:rPr lang="ko-KR" altLang="en-US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질량</a:t>
            </a:r>
            <a:r>
              <a:rPr lang="en-US" altLang="ko-KR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·CoM·</a:t>
            </a:r>
            <a:r>
              <a:rPr lang="ko-KR" altLang="en-US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마찰 크기가 맞나</a:t>
            </a:r>
            <a:r>
              <a:rPr lang="en-US" altLang="ko-KR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
</a:t>
            </a:r>
            <a:r>
              <a:rPr lang="ko-KR" altLang="en-US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노이즈가 바뀌어도 안정적인가</a:t>
            </a:r>
            <a:r>
              <a:rPr lang="en-US" altLang="ko-KR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9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3" name="S07_012_line">
            <a:extLst>
              <a:ext uri="{FF2B5EF4-FFF2-40B4-BE49-F238E27FC236}">
                <a16:creationId xmlns:a16="http://schemas.microsoft.com/office/drawing/2014/main" id="{D924D46E-6EAE-CE85-8865-827A1D5FB379}"/>
              </a:ext>
            </a:extLst>
          </p:cNvPr>
          <p:cNvCxnSpPr/>
          <p:nvPr/>
        </p:nvCxnSpPr>
        <p:spPr>
          <a:xfrm>
            <a:off x="8305800" y="1689100"/>
            <a:ext cx="3505200" cy="0"/>
          </a:xfrm>
          <a:prstGeom prst="straightConnector1">
            <a:avLst/>
          </a:prstGeom>
          <a:ln w="38100">
            <a:solidFill>
              <a:srgbClr val="B47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07_013_text">
            <a:extLst>
              <a:ext uri="{FF2B5EF4-FFF2-40B4-BE49-F238E27FC236}">
                <a16:creationId xmlns:a16="http://schemas.microsoft.com/office/drawing/2014/main" id="{C3314326-5215-1353-A489-82FA6F4B6D67}"/>
              </a:ext>
            </a:extLst>
          </p:cNvPr>
          <p:cNvSpPr txBox="1"/>
          <p:nvPr/>
        </p:nvSpPr>
        <p:spPr>
          <a:xfrm>
            <a:off x="8305800" y="1917700"/>
            <a:ext cx="35687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B47B2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Residual discrepancy</a:t>
            </a:r>
            <a:endParaRPr lang="ko-KR" altLang="en-US" sz="2200" b="1">
              <a:solidFill>
                <a:srgbClr val="B47B2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S07_014_text">
            <a:extLst>
              <a:ext uri="{FF2B5EF4-FFF2-40B4-BE49-F238E27FC236}">
                <a16:creationId xmlns:a16="http://schemas.microsoft.com/office/drawing/2014/main" id="{86B5811C-7B73-69C3-1D4B-29994BB5FEE7}"/>
              </a:ext>
            </a:extLst>
          </p:cNvPr>
          <p:cNvSpPr txBox="1"/>
          <p:nvPr/>
        </p:nvSpPr>
        <p:spPr>
          <a:xfrm>
            <a:off x="8305800" y="3073400"/>
            <a:ext cx="35687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참 파라미터를 넣어도
남는 엔진</a:t>
            </a:r>
            <a:r>
              <a:rPr lang="en-US" altLang="ko-KR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마찰법칙</a:t>
            </a:r>
            <a:r>
              <a:rPr lang="en-US" altLang="ko-KR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9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접촉 차이
→ 로봇 물성 오류와 구분</a:t>
            </a:r>
          </a:p>
        </p:txBody>
      </p:sp>
      <p:sp>
        <p:nvSpPr>
          <p:cNvPr id="16" name="S07_015_text">
            <a:extLst>
              <a:ext uri="{FF2B5EF4-FFF2-40B4-BE49-F238E27FC236}">
                <a16:creationId xmlns:a16="http://schemas.microsoft.com/office/drawing/2014/main" id="{EB21317C-4AA6-30DE-8E57-80B6EF25B5FC}"/>
              </a:ext>
            </a:extLst>
          </p:cNvPr>
          <p:cNvSpPr txBox="1"/>
          <p:nvPr/>
        </p:nvSpPr>
        <p:spPr>
          <a:xfrm>
            <a:off x="546100" y="5308600"/>
            <a:ext cx="11074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NRMSE: nominal = 1       TCP RMSE: </a:t>
            </a:r>
            <a:r>
              <a:rPr lang="ko-KR" altLang="en-US" sz="17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단위 </a:t>
            </a:r>
            <a:r>
              <a:rPr lang="en-US" altLang="ko-KR" sz="17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mm       Support: </a:t>
            </a:r>
            <a:r>
              <a:rPr lang="ko-KR" altLang="en-US" sz="17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선택된 물리 그룹</a:t>
            </a:r>
          </a:p>
        </p:txBody>
      </p:sp>
      <p:cxnSp>
        <p:nvCxnSpPr>
          <p:cNvPr id="17" name="S07_016_line">
            <a:extLst>
              <a:ext uri="{FF2B5EF4-FFF2-40B4-BE49-F238E27FC236}">
                <a16:creationId xmlns:a16="http://schemas.microsoft.com/office/drawing/2014/main" id="{03C424A4-5896-8966-7BEE-A874757B3E94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07_017_text">
            <a:extLst>
              <a:ext uri="{FF2B5EF4-FFF2-40B4-BE49-F238E27FC236}">
                <a16:creationId xmlns:a16="http://schemas.microsoft.com/office/drawing/2014/main" id="{92388BE7-DCC9-1B8F-8828-014380A53318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행동을 보였다는 사실은 “물성이 맞다”는 증거와 다르다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287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_001_text">
            <a:extLst>
              <a:ext uri="{FF2B5EF4-FFF2-40B4-BE49-F238E27FC236}">
                <a16:creationId xmlns:a16="http://schemas.microsoft.com/office/drawing/2014/main" id="{E4ADF3ED-C8B5-AAA3-DA87-7018DB22438B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ALGORITHM OVERVIEW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08_002_text">
            <a:extLst>
              <a:ext uri="{FF2B5EF4-FFF2-40B4-BE49-F238E27FC236}">
                <a16:creationId xmlns:a16="http://schemas.microsoft.com/office/drawing/2014/main" id="{D951AEDC-657F-78B4-0A20-56A18FC210CF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SAPC: 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잔차를 물리 그룹의 보정으로 바꾼다</a:t>
            </a:r>
          </a:p>
        </p:txBody>
      </p:sp>
      <p:cxnSp>
        <p:nvCxnSpPr>
          <p:cNvPr id="4" name="S08_003_line">
            <a:extLst>
              <a:ext uri="{FF2B5EF4-FFF2-40B4-BE49-F238E27FC236}">
                <a16:creationId xmlns:a16="http://schemas.microsoft.com/office/drawing/2014/main" id="{47390699-0B2D-20F7-0C31-05CB8F632304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08_004_text">
            <a:extLst>
              <a:ext uri="{FF2B5EF4-FFF2-40B4-BE49-F238E27FC236}">
                <a16:creationId xmlns:a16="http://schemas.microsoft.com/office/drawing/2014/main" id="{37C64134-7CB1-3FDC-8DE2-11F1687037D0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§4 · fig_overview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08_005_text">
            <a:extLst>
              <a:ext uri="{FF2B5EF4-FFF2-40B4-BE49-F238E27FC236}">
                <a16:creationId xmlns:a16="http://schemas.microsoft.com/office/drawing/2014/main" id="{239EB273-B2CE-5FDA-30A6-45821A834855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08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08_006_circle">
            <a:extLst>
              <a:ext uri="{FF2B5EF4-FFF2-40B4-BE49-F238E27FC236}">
                <a16:creationId xmlns:a16="http://schemas.microsoft.com/office/drawing/2014/main" id="{CD22DF3E-C53D-6A5A-A1BB-C7E1BBE48D4A}"/>
              </a:ext>
            </a:extLst>
          </p:cNvPr>
          <p:cNvSpPr/>
          <p:nvPr/>
        </p:nvSpPr>
        <p:spPr>
          <a:xfrm>
            <a:off x="520700" y="1739900"/>
            <a:ext cx="355600" cy="355600"/>
          </a:xfrm>
          <a:prstGeom prst="ellipse">
            <a:avLst/>
          </a:prstGeom>
          <a:solidFill>
            <a:srgbClr val="2874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S08_007_text">
            <a:extLst>
              <a:ext uri="{FF2B5EF4-FFF2-40B4-BE49-F238E27FC236}">
                <a16:creationId xmlns:a16="http://schemas.microsoft.com/office/drawing/2014/main" id="{7486C006-D8AC-3FA8-DB35-BFA25E124416}"/>
              </a:ext>
            </a:extLst>
          </p:cNvPr>
          <p:cNvSpPr txBox="1"/>
          <p:nvPr/>
        </p:nvSpPr>
        <p:spPr>
          <a:xfrm>
            <a:off x="546100" y="17653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S08_008_text">
            <a:extLst>
              <a:ext uri="{FF2B5EF4-FFF2-40B4-BE49-F238E27FC236}">
                <a16:creationId xmlns:a16="http://schemas.microsoft.com/office/drawing/2014/main" id="{EFD35973-2526-EC80-3771-C501359B2478}"/>
              </a:ext>
            </a:extLst>
          </p:cNvPr>
          <p:cNvSpPr txBox="1"/>
          <p:nvPr/>
        </p:nvSpPr>
        <p:spPr>
          <a:xfrm>
            <a:off x="508000" y="2336800"/>
            <a:ext cx="2171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관측</a:t>
            </a:r>
          </a:p>
        </p:txBody>
      </p:sp>
      <p:sp>
        <p:nvSpPr>
          <p:cNvPr id="10" name="S08_009_text">
            <a:extLst>
              <a:ext uri="{FF2B5EF4-FFF2-40B4-BE49-F238E27FC236}">
                <a16:creationId xmlns:a16="http://schemas.microsoft.com/office/drawing/2014/main" id="{73E8D291-A55E-5BE9-636E-AFCC14AECAEF}"/>
              </a:ext>
            </a:extLst>
          </p:cNvPr>
          <p:cNvSpPr txBox="1"/>
          <p:nvPr/>
        </p:nvSpPr>
        <p:spPr>
          <a:xfrm>
            <a:off x="508000" y="3175000"/>
            <a:ext cx="2171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q(t), </a:t>
            </a:r>
            <a:r>
              <a:rPr lang="el-GR" altLang="ko-KR" sz="1600">
                <a:solidFill>
                  <a:srgbClr val="657583"/>
                </a:solidFill>
                <a:ea typeface="Malgun Gothic" panose="020B0503020000020004" pitchFamily="50" charset="-127"/>
              </a:rPr>
              <a:t>τ(</a:t>
            </a:r>
            <a:r>
              <a:rPr lang="en-US" altLang="ko-KR" sz="16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t)</a:t>
            </a:r>
            <a:endParaRPr lang="ko-KR" altLang="en-US" sz="16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1" name="S08_010_line">
            <a:extLst>
              <a:ext uri="{FF2B5EF4-FFF2-40B4-BE49-F238E27FC236}">
                <a16:creationId xmlns:a16="http://schemas.microsoft.com/office/drawing/2014/main" id="{41F6C0A1-61EC-FBD8-E827-32DEFEF2B292}"/>
              </a:ext>
            </a:extLst>
          </p:cNvPr>
          <p:cNvCxnSpPr/>
          <p:nvPr/>
        </p:nvCxnSpPr>
        <p:spPr>
          <a:xfrm>
            <a:off x="2273300" y="1917700"/>
            <a:ext cx="381000" cy="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08_011_circle">
            <a:extLst>
              <a:ext uri="{FF2B5EF4-FFF2-40B4-BE49-F238E27FC236}">
                <a16:creationId xmlns:a16="http://schemas.microsoft.com/office/drawing/2014/main" id="{4396CF7D-AF49-DBEB-D15C-BB013BA561D4}"/>
              </a:ext>
            </a:extLst>
          </p:cNvPr>
          <p:cNvSpPr/>
          <p:nvPr/>
        </p:nvSpPr>
        <p:spPr>
          <a:xfrm>
            <a:off x="2857500" y="1739900"/>
            <a:ext cx="355600" cy="355600"/>
          </a:xfrm>
          <a:prstGeom prst="ellipse">
            <a:avLst/>
          </a:prstGeom>
          <a:solidFill>
            <a:srgbClr val="2874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S08_012_text">
            <a:extLst>
              <a:ext uri="{FF2B5EF4-FFF2-40B4-BE49-F238E27FC236}">
                <a16:creationId xmlns:a16="http://schemas.microsoft.com/office/drawing/2014/main" id="{0246A6ED-0416-243F-AD0F-ED0C79C2C9B4}"/>
              </a:ext>
            </a:extLst>
          </p:cNvPr>
          <p:cNvSpPr txBox="1"/>
          <p:nvPr/>
        </p:nvSpPr>
        <p:spPr>
          <a:xfrm>
            <a:off x="2882900" y="17653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S08_013_text">
            <a:extLst>
              <a:ext uri="{FF2B5EF4-FFF2-40B4-BE49-F238E27FC236}">
                <a16:creationId xmlns:a16="http://schemas.microsoft.com/office/drawing/2014/main" id="{3D4916EA-8F8A-553E-7D21-AD7C18A1C4DA}"/>
              </a:ext>
            </a:extLst>
          </p:cNvPr>
          <p:cNvSpPr txBox="1"/>
          <p:nvPr/>
        </p:nvSpPr>
        <p:spPr>
          <a:xfrm>
            <a:off x="2844800" y="2336800"/>
            <a:ext cx="2171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잔차</a:t>
            </a:r>
          </a:p>
        </p:txBody>
      </p:sp>
      <p:sp>
        <p:nvSpPr>
          <p:cNvPr id="15" name="S08_014_text">
            <a:extLst>
              <a:ext uri="{FF2B5EF4-FFF2-40B4-BE49-F238E27FC236}">
                <a16:creationId xmlns:a16="http://schemas.microsoft.com/office/drawing/2014/main" id="{548493CD-F94A-3DEE-748F-D1E049861C5C}"/>
              </a:ext>
            </a:extLst>
          </p:cNvPr>
          <p:cNvSpPr txBox="1"/>
          <p:nvPr/>
        </p:nvSpPr>
        <p:spPr>
          <a:xfrm>
            <a:off x="2844800" y="3175000"/>
            <a:ext cx="2171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l-GR" altLang="ko-KR" sz="1600">
                <a:solidFill>
                  <a:srgbClr val="657583"/>
                </a:solidFill>
                <a:ea typeface="Malgun Gothic" panose="020B0503020000020004" pitchFamily="50" charset="-127"/>
              </a:rPr>
              <a:t>τ − </a:t>
            </a:r>
            <a:r>
              <a:rPr lang="en-US" altLang="ko-KR" sz="16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ID₀</a:t>
            </a:r>
            <a:endParaRPr lang="ko-KR" altLang="en-US" sz="16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6" name="S08_015_line">
            <a:extLst>
              <a:ext uri="{FF2B5EF4-FFF2-40B4-BE49-F238E27FC236}">
                <a16:creationId xmlns:a16="http://schemas.microsoft.com/office/drawing/2014/main" id="{4701CCA5-FBFA-A671-D065-A2D59B79F355}"/>
              </a:ext>
            </a:extLst>
          </p:cNvPr>
          <p:cNvCxnSpPr/>
          <p:nvPr/>
        </p:nvCxnSpPr>
        <p:spPr>
          <a:xfrm>
            <a:off x="4610100" y="1917700"/>
            <a:ext cx="381000" cy="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08_016_circle">
            <a:extLst>
              <a:ext uri="{FF2B5EF4-FFF2-40B4-BE49-F238E27FC236}">
                <a16:creationId xmlns:a16="http://schemas.microsoft.com/office/drawing/2014/main" id="{CB5853DF-457B-D76B-F021-345545D1CDC9}"/>
              </a:ext>
            </a:extLst>
          </p:cNvPr>
          <p:cNvSpPr/>
          <p:nvPr/>
        </p:nvSpPr>
        <p:spPr>
          <a:xfrm>
            <a:off x="5194300" y="1739900"/>
            <a:ext cx="355600" cy="355600"/>
          </a:xfrm>
          <a:prstGeom prst="ellipse">
            <a:avLst/>
          </a:prstGeom>
          <a:solidFill>
            <a:srgbClr val="2874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S08_017_text">
            <a:extLst>
              <a:ext uri="{FF2B5EF4-FFF2-40B4-BE49-F238E27FC236}">
                <a16:creationId xmlns:a16="http://schemas.microsoft.com/office/drawing/2014/main" id="{FD0D5E60-E050-5BE0-2040-6E56868CBF3B}"/>
              </a:ext>
            </a:extLst>
          </p:cNvPr>
          <p:cNvSpPr txBox="1"/>
          <p:nvPr/>
        </p:nvSpPr>
        <p:spPr>
          <a:xfrm>
            <a:off x="5219700" y="17653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S08_018_text">
            <a:extLst>
              <a:ext uri="{FF2B5EF4-FFF2-40B4-BE49-F238E27FC236}">
                <a16:creationId xmlns:a16="http://schemas.microsoft.com/office/drawing/2014/main" id="{1F567689-8BBD-D299-EC4F-A646031E9AA8}"/>
              </a:ext>
            </a:extLst>
          </p:cNvPr>
          <p:cNvSpPr txBox="1"/>
          <p:nvPr/>
        </p:nvSpPr>
        <p:spPr>
          <a:xfrm>
            <a:off x="5181600" y="2336800"/>
            <a:ext cx="2171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물리 </a:t>
            </a:r>
            <a:r>
              <a:rPr lang="en-US" altLang="ko-KR" sz="21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library</a:t>
            </a:r>
            <a:endParaRPr lang="ko-KR" altLang="en-US" sz="21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S08_019_text">
            <a:extLst>
              <a:ext uri="{FF2B5EF4-FFF2-40B4-BE49-F238E27FC236}">
                <a16:creationId xmlns:a16="http://schemas.microsoft.com/office/drawing/2014/main" id="{44EB1130-73D1-DE0B-5A71-91B3B79C2913}"/>
              </a:ext>
            </a:extLst>
          </p:cNvPr>
          <p:cNvSpPr txBox="1"/>
          <p:nvPr/>
        </p:nvSpPr>
        <p:spPr>
          <a:xfrm>
            <a:off x="5181600" y="3175000"/>
            <a:ext cx="2171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 ≈ A</a:t>
            </a:r>
            <a:r>
              <a:rPr lang="el-GR" altLang="ko-KR" sz="1600">
                <a:solidFill>
                  <a:srgbClr val="657583"/>
                </a:solidFill>
                <a:ea typeface="Malgun Gothic" panose="020B0503020000020004" pitchFamily="50" charset="-127"/>
              </a:rPr>
              <a:t>ξ</a:t>
            </a:r>
            <a:endParaRPr lang="ko-KR" altLang="en-US" sz="16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1" name="S08_020_line">
            <a:extLst>
              <a:ext uri="{FF2B5EF4-FFF2-40B4-BE49-F238E27FC236}">
                <a16:creationId xmlns:a16="http://schemas.microsoft.com/office/drawing/2014/main" id="{0484980D-7008-7D92-A577-A4DBBBC4685E}"/>
              </a:ext>
            </a:extLst>
          </p:cNvPr>
          <p:cNvCxnSpPr/>
          <p:nvPr/>
        </p:nvCxnSpPr>
        <p:spPr>
          <a:xfrm>
            <a:off x="6946900" y="1917700"/>
            <a:ext cx="381000" cy="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08_021_circle">
            <a:extLst>
              <a:ext uri="{FF2B5EF4-FFF2-40B4-BE49-F238E27FC236}">
                <a16:creationId xmlns:a16="http://schemas.microsoft.com/office/drawing/2014/main" id="{FF152944-9CF1-C1FE-F6DF-920B2E6210A1}"/>
              </a:ext>
            </a:extLst>
          </p:cNvPr>
          <p:cNvSpPr/>
          <p:nvPr/>
        </p:nvSpPr>
        <p:spPr>
          <a:xfrm>
            <a:off x="7531100" y="1739900"/>
            <a:ext cx="355600" cy="355600"/>
          </a:xfrm>
          <a:prstGeom prst="ellipse">
            <a:avLst/>
          </a:prstGeom>
          <a:solidFill>
            <a:srgbClr val="2874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S08_022_text">
            <a:extLst>
              <a:ext uri="{FF2B5EF4-FFF2-40B4-BE49-F238E27FC236}">
                <a16:creationId xmlns:a16="http://schemas.microsoft.com/office/drawing/2014/main" id="{DABD6B8C-C13D-8274-7DA3-56408D03B970}"/>
              </a:ext>
            </a:extLst>
          </p:cNvPr>
          <p:cNvSpPr txBox="1"/>
          <p:nvPr/>
        </p:nvSpPr>
        <p:spPr>
          <a:xfrm>
            <a:off x="7556500" y="17653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4" name="S08_023_text">
            <a:extLst>
              <a:ext uri="{FF2B5EF4-FFF2-40B4-BE49-F238E27FC236}">
                <a16:creationId xmlns:a16="http://schemas.microsoft.com/office/drawing/2014/main" id="{492C13C1-5479-F58E-B6E5-AB91B0E94416}"/>
              </a:ext>
            </a:extLst>
          </p:cNvPr>
          <p:cNvSpPr txBox="1"/>
          <p:nvPr/>
        </p:nvSpPr>
        <p:spPr>
          <a:xfrm>
            <a:off x="7518400" y="2336800"/>
            <a:ext cx="2171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그룹 선택</a:t>
            </a:r>
          </a:p>
        </p:txBody>
      </p:sp>
      <p:sp>
        <p:nvSpPr>
          <p:cNvPr id="25" name="S08_024_text">
            <a:extLst>
              <a:ext uri="{FF2B5EF4-FFF2-40B4-BE49-F238E27FC236}">
                <a16:creationId xmlns:a16="http://schemas.microsoft.com/office/drawing/2014/main" id="{E97C955C-3A14-B2A4-DAE7-A7261B2A4CA9}"/>
              </a:ext>
            </a:extLst>
          </p:cNvPr>
          <p:cNvSpPr txBox="1"/>
          <p:nvPr/>
        </p:nvSpPr>
        <p:spPr>
          <a:xfrm>
            <a:off x="7518400" y="3175000"/>
            <a:ext cx="2171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Forward + CV</a:t>
            </a:r>
            <a:endParaRPr lang="ko-KR" altLang="en-US" sz="16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6" name="S08_025_line">
            <a:extLst>
              <a:ext uri="{FF2B5EF4-FFF2-40B4-BE49-F238E27FC236}">
                <a16:creationId xmlns:a16="http://schemas.microsoft.com/office/drawing/2014/main" id="{0B0B64DE-B603-66FC-B548-2AD4EDFFC649}"/>
              </a:ext>
            </a:extLst>
          </p:cNvPr>
          <p:cNvCxnSpPr/>
          <p:nvPr/>
        </p:nvCxnSpPr>
        <p:spPr>
          <a:xfrm>
            <a:off x="9283700" y="1917700"/>
            <a:ext cx="381000" cy="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08_026_circle">
            <a:extLst>
              <a:ext uri="{FF2B5EF4-FFF2-40B4-BE49-F238E27FC236}">
                <a16:creationId xmlns:a16="http://schemas.microsoft.com/office/drawing/2014/main" id="{7D73C70A-7C67-9D08-FB24-1D23CF07DBD6}"/>
              </a:ext>
            </a:extLst>
          </p:cNvPr>
          <p:cNvSpPr/>
          <p:nvPr/>
        </p:nvSpPr>
        <p:spPr>
          <a:xfrm>
            <a:off x="9867900" y="1739900"/>
            <a:ext cx="355600" cy="355600"/>
          </a:xfrm>
          <a:prstGeom prst="ellipse">
            <a:avLst/>
          </a:prstGeom>
          <a:solidFill>
            <a:srgbClr val="2874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S08_027_text">
            <a:extLst>
              <a:ext uri="{FF2B5EF4-FFF2-40B4-BE49-F238E27FC236}">
                <a16:creationId xmlns:a16="http://schemas.microsoft.com/office/drawing/2014/main" id="{8A72484B-BF78-A992-7EDA-4554EF78CAD2}"/>
              </a:ext>
            </a:extLst>
          </p:cNvPr>
          <p:cNvSpPr txBox="1"/>
          <p:nvPr/>
        </p:nvSpPr>
        <p:spPr>
          <a:xfrm>
            <a:off x="9893300" y="17653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S08_028_text">
            <a:extLst>
              <a:ext uri="{FF2B5EF4-FFF2-40B4-BE49-F238E27FC236}">
                <a16:creationId xmlns:a16="http://schemas.microsoft.com/office/drawing/2014/main" id="{C952314C-CA2F-D949-ECBE-DABD511341B3}"/>
              </a:ext>
            </a:extLst>
          </p:cNvPr>
          <p:cNvSpPr txBox="1"/>
          <p:nvPr/>
        </p:nvSpPr>
        <p:spPr>
          <a:xfrm>
            <a:off x="9855200" y="2336800"/>
            <a:ext cx="2171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실행 가능한 </a:t>
            </a:r>
            <a:r>
              <a:rPr lang="en-US" altLang="ko-KR" sz="21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twin</a:t>
            </a:r>
            <a:endParaRPr lang="ko-KR" altLang="en-US" sz="21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S08_029_text">
            <a:extLst>
              <a:ext uri="{FF2B5EF4-FFF2-40B4-BE49-F238E27FC236}">
                <a16:creationId xmlns:a16="http://schemas.microsoft.com/office/drawing/2014/main" id="{4EE0AF60-18C8-EE7C-B9EC-173E2297654A}"/>
              </a:ext>
            </a:extLst>
          </p:cNvPr>
          <p:cNvSpPr txBox="1"/>
          <p:nvPr/>
        </p:nvSpPr>
        <p:spPr>
          <a:xfrm>
            <a:off x="9855200" y="3175000"/>
            <a:ext cx="21717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Projection → write-back</a:t>
            </a:r>
            <a:endParaRPr lang="ko-KR" altLang="en-US" sz="16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2" name="S08_030_image">
            <a:extLst>
              <a:ext uri="{FF2B5EF4-FFF2-40B4-BE49-F238E27FC236}">
                <a16:creationId xmlns:a16="http://schemas.microsoft.com/office/drawing/2014/main" id="{3A55B744-6484-9236-A6BC-C963323C7FE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4445000"/>
            <a:ext cx="4762500" cy="1117600"/>
          </a:xfrm>
          <a:prstGeom prst="rect">
            <a:avLst/>
          </a:prstGeom>
        </p:spPr>
      </p:pic>
      <p:pic>
        <p:nvPicPr>
          <p:cNvPr id="34" name="S08_031_image">
            <a:extLst>
              <a:ext uri="{FF2B5EF4-FFF2-40B4-BE49-F238E27FC236}">
                <a16:creationId xmlns:a16="http://schemas.microsoft.com/office/drawing/2014/main" id="{7B0CA823-F83C-1AA3-DD40-A2329436B83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873500"/>
            <a:ext cx="1905000" cy="1878542"/>
          </a:xfrm>
          <a:prstGeom prst="rect">
            <a:avLst/>
          </a:prstGeom>
        </p:spPr>
      </p:pic>
      <p:sp>
        <p:nvSpPr>
          <p:cNvPr id="35" name="S08_032_text">
            <a:extLst>
              <a:ext uri="{FF2B5EF4-FFF2-40B4-BE49-F238E27FC236}">
                <a16:creationId xmlns:a16="http://schemas.microsoft.com/office/drawing/2014/main" id="{DF28FB49-E96F-1073-0030-B3DA02B2E75F}"/>
              </a:ext>
            </a:extLst>
          </p:cNvPr>
          <p:cNvSpPr txBox="1"/>
          <p:nvPr/>
        </p:nvSpPr>
        <p:spPr>
          <a:xfrm>
            <a:off x="762000" y="5588000"/>
            <a:ext cx="508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시뮬레이터가 직접 만든 </a:t>
            </a:r>
            <a:r>
              <a:rPr lang="en-US" altLang="ko-KR" sz="15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regressor</a:t>
            </a:r>
            <a:endParaRPr lang="ko-KR" altLang="en-US" sz="15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6" name="S08_033_line">
            <a:extLst>
              <a:ext uri="{FF2B5EF4-FFF2-40B4-BE49-F238E27FC236}">
                <a16:creationId xmlns:a16="http://schemas.microsoft.com/office/drawing/2014/main" id="{91350CBD-BC6E-62CF-63F7-CA66D54B2008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08_034_text">
            <a:extLst>
              <a:ext uri="{FF2B5EF4-FFF2-40B4-BE49-F238E27FC236}">
                <a16:creationId xmlns:a16="http://schemas.microsoft.com/office/drawing/2014/main" id="{045B4B6E-1582-5611-6CDE-E4A434F04B2D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출력 보정 함수만 더하는 대신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twin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물리 파라미터 자체를 갱신한다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5113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_001_text">
            <a:extLst>
              <a:ext uri="{FF2B5EF4-FFF2-40B4-BE49-F238E27FC236}">
                <a16:creationId xmlns:a16="http://schemas.microsoft.com/office/drawing/2014/main" id="{83821096-2046-7912-5338-BF6A20A10A6E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ALGORITHM · LIBRARY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09_002_text">
            <a:extLst>
              <a:ext uri="{FF2B5EF4-FFF2-40B4-BE49-F238E27FC236}">
                <a16:creationId xmlns:a16="http://schemas.microsoft.com/office/drawing/2014/main" id="{07CCE746-74E0-959A-A959-8F84B166D422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Regressor: 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어떤 물성 변화가 어떤 토크를 만드는가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28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4" name="S09_003_line">
            <a:extLst>
              <a:ext uri="{FF2B5EF4-FFF2-40B4-BE49-F238E27FC236}">
                <a16:creationId xmlns:a16="http://schemas.microsoft.com/office/drawing/2014/main" id="{F6234220-AC43-11A0-0CB8-96FFCE7D7430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09_004_text">
            <a:extLst>
              <a:ext uri="{FF2B5EF4-FFF2-40B4-BE49-F238E27FC236}">
                <a16:creationId xmlns:a16="http://schemas.microsoft.com/office/drawing/2014/main" id="{277E9341-B8C1-A1E5-E93E-95892C3C200D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§4.1–4.2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09_005_text">
            <a:extLst>
              <a:ext uri="{FF2B5EF4-FFF2-40B4-BE49-F238E27FC236}">
                <a16:creationId xmlns:a16="http://schemas.microsoft.com/office/drawing/2014/main" id="{8C4030D0-EB26-ECBA-7125-6D84DC924D5D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09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09_006_text">
            <a:extLst>
              <a:ext uri="{FF2B5EF4-FFF2-40B4-BE49-F238E27FC236}">
                <a16:creationId xmlns:a16="http://schemas.microsoft.com/office/drawing/2014/main" id="{C5A4CE2E-5346-5E5F-0713-1E7F6D3F8E6C}"/>
              </a:ext>
            </a:extLst>
          </p:cNvPr>
          <p:cNvSpPr txBox="1"/>
          <p:nvPr/>
        </p:nvSpPr>
        <p:spPr>
          <a:xfrm>
            <a:off x="762000" y="1536700"/>
            <a:ext cx="10668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altLang="ko-KR" sz="3300" b="1">
                <a:solidFill>
                  <a:srgbClr val="203244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 = τ − ID₀(q, q̇, q̈) ≈ A ξ</a:t>
            </a:r>
            <a:endParaRPr lang="ko-KR" altLang="en-US" sz="3300" b="1">
              <a:solidFill>
                <a:srgbClr val="203244"/>
              </a:solidFill>
              <a:latin typeface="Cambria Math" panose="02040503050406030204" pitchFamily="18" charset="0"/>
            </a:endParaRPr>
          </a:p>
        </p:txBody>
      </p:sp>
      <p:sp>
        <p:nvSpPr>
          <p:cNvPr id="8" name="S09_007_text">
            <a:extLst>
              <a:ext uri="{FF2B5EF4-FFF2-40B4-BE49-F238E27FC236}">
                <a16:creationId xmlns:a16="http://schemas.microsoft.com/office/drawing/2014/main" id="{D065E15E-4E0A-CFA8-6BD4-55081A4F073E}"/>
              </a:ext>
            </a:extLst>
          </p:cNvPr>
          <p:cNvSpPr txBox="1"/>
          <p:nvPr/>
        </p:nvSpPr>
        <p:spPr>
          <a:xfrm>
            <a:off x="571500" y="27813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r: </a:t>
            </a:r>
            <a:r>
              <a:rPr lang="ko-KR" altLang="en-US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설명할 차이</a:t>
            </a:r>
          </a:p>
        </p:txBody>
      </p:sp>
      <p:sp>
        <p:nvSpPr>
          <p:cNvPr id="9" name="S09_008_text">
            <a:extLst>
              <a:ext uri="{FF2B5EF4-FFF2-40B4-BE49-F238E27FC236}">
                <a16:creationId xmlns:a16="http://schemas.microsoft.com/office/drawing/2014/main" id="{77D874AE-A029-47C9-8E3D-3D47146FB98B}"/>
              </a:ext>
            </a:extLst>
          </p:cNvPr>
          <p:cNvSpPr txBox="1"/>
          <p:nvPr/>
        </p:nvSpPr>
        <p:spPr>
          <a:xfrm>
            <a:off x="571500" y="33147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측정 토크 − </a:t>
            </a:r>
            <a:r>
              <a:rPr lang="en-US" altLang="ko-KR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nominal </a:t>
            </a:r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예측</a:t>
            </a:r>
          </a:p>
        </p:txBody>
      </p:sp>
      <p:sp>
        <p:nvSpPr>
          <p:cNvPr id="10" name="S09_009_text">
            <a:extLst>
              <a:ext uri="{FF2B5EF4-FFF2-40B4-BE49-F238E27FC236}">
                <a16:creationId xmlns:a16="http://schemas.microsoft.com/office/drawing/2014/main" id="{F847BCC9-15EB-4F0C-85F2-43BBA52F5134}"/>
              </a:ext>
            </a:extLst>
          </p:cNvPr>
          <p:cNvSpPr txBox="1"/>
          <p:nvPr/>
        </p:nvSpPr>
        <p:spPr>
          <a:xfrm>
            <a:off x="4508500" y="27813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A: </a:t>
            </a:r>
            <a:r>
              <a:rPr lang="ko-KR" altLang="en-US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물리 효과의 사전</a:t>
            </a:r>
          </a:p>
        </p:txBody>
      </p:sp>
      <p:sp>
        <p:nvSpPr>
          <p:cNvPr id="11" name="S09_010_text">
            <a:extLst>
              <a:ext uri="{FF2B5EF4-FFF2-40B4-BE49-F238E27FC236}">
                <a16:creationId xmlns:a16="http://schemas.microsoft.com/office/drawing/2014/main" id="{0F823018-A9CB-A0C2-063A-93CB6B06B15A}"/>
              </a:ext>
            </a:extLst>
          </p:cNvPr>
          <p:cNvSpPr txBox="1"/>
          <p:nvPr/>
        </p:nvSpPr>
        <p:spPr>
          <a:xfrm>
            <a:off x="4508500" y="3314700"/>
            <a:ext cx="3492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열 </a:t>
            </a:r>
            <a:r>
              <a:rPr lang="en-US" altLang="ko-KR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파라미터의 </a:t>
            </a:r>
            <a:r>
              <a:rPr lang="en-US" altLang="ko-KR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torque signature</a:t>
            </a:r>
            <a:endParaRPr lang="ko-KR" altLang="en-US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S09_011_text">
            <a:extLst>
              <a:ext uri="{FF2B5EF4-FFF2-40B4-BE49-F238E27FC236}">
                <a16:creationId xmlns:a16="http://schemas.microsoft.com/office/drawing/2014/main" id="{7CBDA3C3-21E3-5243-1B17-2B3E7F3FECCA}"/>
              </a:ext>
            </a:extLst>
          </p:cNvPr>
          <p:cNvSpPr txBox="1"/>
          <p:nvPr/>
        </p:nvSpPr>
        <p:spPr>
          <a:xfrm>
            <a:off x="8521700" y="27813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l-GR" altLang="ko-KR" b="1">
                <a:solidFill>
                  <a:srgbClr val="2874BA"/>
                </a:solidFill>
                <a:ea typeface="Malgun Gothic" panose="020B0503020000020004" pitchFamily="50" charset="-127"/>
              </a:rPr>
              <a:t>ξ: </a:t>
            </a:r>
            <a:r>
              <a:rPr lang="ko-KR" altLang="en-US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찾을 보정량</a:t>
            </a:r>
          </a:p>
        </p:txBody>
      </p:sp>
      <p:sp>
        <p:nvSpPr>
          <p:cNvPr id="13" name="S09_012_text">
            <a:extLst>
              <a:ext uri="{FF2B5EF4-FFF2-40B4-BE49-F238E27FC236}">
                <a16:creationId xmlns:a16="http://schemas.microsoft.com/office/drawing/2014/main" id="{D1B7EA59-75B4-810C-A120-51BBFB236253}"/>
              </a:ext>
            </a:extLst>
          </p:cNvPr>
          <p:cNvSpPr txBox="1"/>
          <p:nvPr/>
        </p:nvSpPr>
        <p:spPr>
          <a:xfrm>
            <a:off x="8521700" y="33147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모델에서의 변화량</a:t>
            </a:r>
          </a:p>
        </p:txBody>
      </p:sp>
      <p:sp>
        <p:nvSpPr>
          <p:cNvPr id="14" name="S09_013_rect">
            <a:extLst>
              <a:ext uri="{FF2B5EF4-FFF2-40B4-BE49-F238E27FC236}">
                <a16:creationId xmlns:a16="http://schemas.microsoft.com/office/drawing/2014/main" id="{04355B90-AA6E-622D-6C0B-B48CC38209AE}"/>
              </a:ext>
            </a:extLst>
          </p:cNvPr>
          <p:cNvSpPr/>
          <p:nvPr/>
        </p:nvSpPr>
        <p:spPr>
          <a:xfrm>
            <a:off x="787400" y="4470400"/>
            <a:ext cx="6588125" cy="342900"/>
          </a:xfrm>
          <a:prstGeom prst="rect">
            <a:avLst/>
          </a:prstGeom>
          <a:solidFill>
            <a:srgbClr val="2874BA"/>
          </a:solidFill>
          <a:ln w="7620">
            <a:solidFill>
              <a:srgbClr val="2874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S09_014_text">
            <a:extLst>
              <a:ext uri="{FF2B5EF4-FFF2-40B4-BE49-F238E27FC236}">
                <a16:creationId xmlns:a16="http://schemas.microsoft.com/office/drawing/2014/main" id="{8E861D4F-2AAF-84AF-EF84-95CDE24A35A5}"/>
              </a:ext>
            </a:extLst>
          </p:cNvPr>
          <p:cNvSpPr txBox="1"/>
          <p:nvPr/>
        </p:nvSpPr>
        <p:spPr>
          <a:xfrm>
            <a:off x="787400" y="4940300"/>
            <a:ext cx="6588125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관성 </a:t>
            </a:r>
            <a:r>
              <a:rPr lang="en-US" altLang="ko-KR" sz="16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70</a:t>
            </a:r>
            <a:endParaRPr lang="ko-KR" altLang="en-US" sz="16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S09_015_text">
            <a:extLst>
              <a:ext uri="{FF2B5EF4-FFF2-40B4-BE49-F238E27FC236}">
                <a16:creationId xmlns:a16="http://schemas.microsoft.com/office/drawing/2014/main" id="{06933711-B4C9-A963-FE84-AB42CC3F9670}"/>
              </a:ext>
            </a:extLst>
          </p:cNvPr>
          <p:cNvSpPr txBox="1"/>
          <p:nvPr/>
        </p:nvSpPr>
        <p:spPr>
          <a:xfrm>
            <a:off x="787400" y="5372100"/>
            <a:ext cx="6588125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 links × 10</a:t>
            </a:r>
            <a:endParaRPr lang="ko-KR" altLang="en-US" sz="13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S09_016_rect">
            <a:extLst>
              <a:ext uri="{FF2B5EF4-FFF2-40B4-BE49-F238E27FC236}">
                <a16:creationId xmlns:a16="http://schemas.microsoft.com/office/drawing/2014/main" id="{9D63F17B-1A08-B728-B228-A9865978B202}"/>
              </a:ext>
            </a:extLst>
          </p:cNvPr>
          <p:cNvSpPr/>
          <p:nvPr/>
        </p:nvSpPr>
        <p:spPr>
          <a:xfrm>
            <a:off x="7375525" y="4470400"/>
            <a:ext cx="3294063" cy="342900"/>
          </a:xfrm>
          <a:prstGeom prst="rect">
            <a:avLst/>
          </a:prstGeom>
          <a:solidFill>
            <a:srgbClr val="1B9E77"/>
          </a:solidFill>
          <a:ln w="7620">
            <a:solidFill>
              <a:srgbClr val="1B9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S09_017_text">
            <a:extLst>
              <a:ext uri="{FF2B5EF4-FFF2-40B4-BE49-F238E27FC236}">
                <a16:creationId xmlns:a16="http://schemas.microsoft.com/office/drawing/2014/main" id="{8BA187E9-4F38-9E1B-D4DF-F4542CBE3B20}"/>
              </a:ext>
            </a:extLst>
          </p:cNvPr>
          <p:cNvSpPr txBox="1"/>
          <p:nvPr/>
        </p:nvSpPr>
        <p:spPr>
          <a:xfrm>
            <a:off x="7375525" y="4940300"/>
            <a:ext cx="3294063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마찰 </a:t>
            </a:r>
            <a:r>
              <a:rPr lang="en-US" altLang="ko-KR" sz="1600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35</a:t>
            </a:r>
            <a:endParaRPr lang="ko-KR" altLang="en-US" sz="1600" b="1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S09_018_text">
            <a:extLst>
              <a:ext uri="{FF2B5EF4-FFF2-40B4-BE49-F238E27FC236}">
                <a16:creationId xmlns:a16="http://schemas.microsoft.com/office/drawing/2014/main" id="{18981EFC-CDE2-83A6-89E2-3763DF4374B7}"/>
              </a:ext>
            </a:extLst>
          </p:cNvPr>
          <p:cNvSpPr txBox="1"/>
          <p:nvPr/>
        </p:nvSpPr>
        <p:spPr>
          <a:xfrm>
            <a:off x="7375525" y="5372100"/>
            <a:ext cx="3294063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 joints × 5</a:t>
            </a:r>
            <a:endParaRPr lang="ko-KR" altLang="en-US" sz="13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S09_019_rect">
            <a:extLst>
              <a:ext uri="{FF2B5EF4-FFF2-40B4-BE49-F238E27FC236}">
                <a16:creationId xmlns:a16="http://schemas.microsoft.com/office/drawing/2014/main" id="{1976270F-6DFC-E0DA-3F54-7EDE31465179}"/>
              </a:ext>
            </a:extLst>
          </p:cNvPr>
          <p:cNvSpPr/>
          <p:nvPr/>
        </p:nvSpPr>
        <p:spPr>
          <a:xfrm>
            <a:off x="10669588" y="4470400"/>
            <a:ext cx="658812" cy="342900"/>
          </a:xfrm>
          <a:prstGeom prst="rect">
            <a:avLst/>
          </a:prstGeom>
          <a:solidFill>
            <a:srgbClr val="B47B25"/>
          </a:solidFill>
          <a:ln w="7620">
            <a:solidFill>
              <a:srgbClr val="B47B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S09_020_text">
            <a:extLst>
              <a:ext uri="{FF2B5EF4-FFF2-40B4-BE49-F238E27FC236}">
                <a16:creationId xmlns:a16="http://schemas.microsoft.com/office/drawing/2014/main" id="{018AA120-631A-363F-D5B4-908B61C42750}"/>
              </a:ext>
            </a:extLst>
          </p:cNvPr>
          <p:cNvSpPr txBox="1"/>
          <p:nvPr/>
        </p:nvSpPr>
        <p:spPr>
          <a:xfrm>
            <a:off x="10669588" y="4940300"/>
            <a:ext cx="114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B47B2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회전자 </a:t>
            </a:r>
            <a:r>
              <a:rPr lang="en-US" altLang="ko-KR" sz="1600" b="1">
                <a:solidFill>
                  <a:srgbClr val="B47B2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</a:t>
            </a:r>
            <a:endParaRPr lang="ko-KR" altLang="en-US" sz="1600" b="1">
              <a:solidFill>
                <a:srgbClr val="B47B2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S09_021_text">
            <a:extLst>
              <a:ext uri="{FF2B5EF4-FFF2-40B4-BE49-F238E27FC236}">
                <a16:creationId xmlns:a16="http://schemas.microsoft.com/office/drawing/2014/main" id="{3C9A93CB-07AA-A7C8-3476-0C1F7FEBD42C}"/>
              </a:ext>
            </a:extLst>
          </p:cNvPr>
          <p:cNvSpPr txBox="1"/>
          <p:nvPr/>
        </p:nvSpPr>
        <p:spPr>
          <a:xfrm>
            <a:off x="10669588" y="5372100"/>
            <a:ext cx="1193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armature</a:t>
            </a:r>
            <a:endParaRPr lang="ko-KR" altLang="en-US" sz="13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3" name="S09_022_line">
            <a:extLst>
              <a:ext uri="{FF2B5EF4-FFF2-40B4-BE49-F238E27FC236}">
                <a16:creationId xmlns:a16="http://schemas.microsoft.com/office/drawing/2014/main" id="{204D1739-3508-D133-9A4A-D5E5520D9419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09_023_text">
            <a:extLst>
              <a:ext uri="{FF2B5EF4-FFF2-40B4-BE49-F238E27FC236}">
                <a16:creationId xmlns:a16="http://schemas.microsoft.com/office/drawing/2014/main" id="{23EC22CD-7352-8D26-B789-BB2F7E0728B0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총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112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계수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15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그룹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7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링크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+ 7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관절 마찰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+ 1 armature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그룹</a:t>
            </a:r>
          </a:p>
        </p:txBody>
      </p:sp>
    </p:spTree>
    <p:extLst>
      <p:ext uri="{BB962C8B-B14F-4D97-AF65-F5344CB8AC3E}">
        <p14:creationId xmlns:p14="http://schemas.microsoft.com/office/powerpoint/2010/main" val="1938462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001_text">
            <a:extLst>
              <a:ext uri="{FF2B5EF4-FFF2-40B4-BE49-F238E27FC236}">
                <a16:creationId xmlns:a16="http://schemas.microsoft.com/office/drawing/2014/main" id="{9985B53F-7278-ADA1-C1CB-D979567EB791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ALGORITHM · GROUP SELECTION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10_002_text">
            <a:extLst>
              <a:ext uri="{FF2B5EF4-FFF2-40B4-BE49-F238E27FC236}">
                <a16:creationId xmlns:a16="http://schemas.microsoft.com/office/drawing/2014/main" id="{5896EC24-8906-0E88-0A0E-01B0B6738E8F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Forward 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선택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계수 하나가 아니라 부품 그룹을 추가한다</a:t>
            </a:r>
          </a:p>
        </p:txBody>
      </p:sp>
      <p:cxnSp>
        <p:nvCxnSpPr>
          <p:cNvPr id="4" name="S10_003_line">
            <a:extLst>
              <a:ext uri="{FF2B5EF4-FFF2-40B4-BE49-F238E27FC236}">
                <a16:creationId xmlns:a16="http://schemas.microsoft.com/office/drawing/2014/main" id="{192BB59D-5A33-FAE3-5F79-5D4FB33023F9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10_004_text">
            <a:extLst>
              <a:ext uri="{FF2B5EF4-FFF2-40B4-BE49-F238E27FC236}">
                <a16:creationId xmlns:a16="http://schemas.microsoft.com/office/drawing/2014/main" id="{FFF9F863-36AE-0A0D-F97C-3A962EE9F4FF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§4.4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10_005_text">
            <a:extLst>
              <a:ext uri="{FF2B5EF4-FFF2-40B4-BE49-F238E27FC236}">
                <a16:creationId xmlns:a16="http://schemas.microsoft.com/office/drawing/2014/main" id="{89DCB1F5-13B1-398C-D821-D8DC74E1BE9D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10_006_rect">
            <a:extLst>
              <a:ext uri="{FF2B5EF4-FFF2-40B4-BE49-F238E27FC236}">
                <a16:creationId xmlns:a16="http://schemas.microsoft.com/office/drawing/2014/main" id="{2F3768D4-31C9-DBAE-19D3-BBDFAC7DF0E6}"/>
              </a:ext>
            </a:extLst>
          </p:cNvPr>
          <p:cNvSpPr/>
          <p:nvPr/>
        </p:nvSpPr>
        <p:spPr>
          <a:xfrm>
            <a:off x="546100" y="1841500"/>
            <a:ext cx="2667000" cy="965200"/>
          </a:xfrm>
          <a:prstGeom prst="rect">
            <a:avLst/>
          </a:prstGeom>
          <a:solidFill>
            <a:srgbClr val="F2F6F9"/>
          </a:solidFill>
          <a:ln w="7620">
            <a:solidFill>
              <a:srgbClr val="D9E1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S10_007_text">
            <a:extLst>
              <a:ext uri="{FF2B5EF4-FFF2-40B4-BE49-F238E27FC236}">
                <a16:creationId xmlns:a16="http://schemas.microsoft.com/office/drawing/2014/main" id="{A0E86077-7189-4BF3-C665-A04F84635990}"/>
              </a:ext>
            </a:extLst>
          </p:cNvPr>
          <p:cNvSpPr txBox="1"/>
          <p:nvPr/>
        </p:nvSpPr>
        <p:spPr>
          <a:xfrm>
            <a:off x="673100" y="2095500"/>
            <a:ext cx="2413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 없음</a:t>
            </a:r>
            <a:r>
              <a:rPr lang="en-US" altLang="ko-KR" sz="20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S = ∅</a:t>
            </a:r>
            <a:endParaRPr lang="ko-KR" altLang="en-US" sz="20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S10_008_rect">
            <a:extLst>
              <a:ext uri="{FF2B5EF4-FFF2-40B4-BE49-F238E27FC236}">
                <a16:creationId xmlns:a16="http://schemas.microsoft.com/office/drawing/2014/main" id="{D8858B7A-2B47-29AE-2C5A-C55B1CE0BA24}"/>
              </a:ext>
            </a:extLst>
          </p:cNvPr>
          <p:cNvSpPr/>
          <p:nvPr/>
        </p:nvSpPr>
        <p:spPr>
          <a:xfrm>
            <a:off x="4648200" y="1841500"/>
            <a:ext cx="2984500" cy="965200"/>
          </a:xfrm>
          <a:prstGeom prst="rect">
            <a:avLst/>
          </a:prstGeom>
          <a:solidFill>
            <a:srgbClr val="F2F6F9"/>
          </a:solidFill>
          <a:ln w="7620">
            <a:solidFill>
              <a:srgbClr val="D9E1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S10_009_text">
            <a:extLst>
              <a:ext uri="{FF2B5EF4-FFF2-40B4-BE49-F238E27FC236}">
                <a16:creationId xmlns:a16="http://schemas.microsoft.com/office/drawing/2014/main" id="{F3EDDF5C-A7C8-8E20-173A-B629C67AE0ED}"/>
              </a:ext>
            </a:extLst>
          </p:cNvPr>
          <p:cNvSpPr txBox="1"/>
          <p:nvPr/>
        </p:nvSpPr>
        <p:spPr>
          <a:xfrm>
            <a:off x="4775200" y="2095500"/>
            <a:ext cx="273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후보 그룹 하나 추가</a:t>
            </a:r>
          </a:p>
        </p:txBody>
      </p:sp>
      <p:sp>
        <p:nvSpPr>
          <p:cNvPr id="11" name="S10_010_rect">
            <a:extLst>
              <a:ext uri="{FF2B5EF4-FFF2-40B4-BE49-F238E27FC236}">
                <a16:creationId xmlns:a16="http://schemas.microsoft.com/office/drawing/2014/main" id="{5C5B4915-CCF0-6762-31E2-ED5E1177AF06}"/>
              </a:ext>
            </a:extLst>
          </p:cNvPr>
          <p:cNvSpPr/>
          <p:nvPr/>
        </p:nvSpPr>
        <p:spPr>
          <a:xfrm>
            <a:off x="8915400" y="1841500"/>
            <a:ext cx="2730500" cy="965200"/>
          </a:xfrm>
          <a:prstGeom prst="rect">
            <a:avLst/>
          </a:prstGeom>
          <a:solidFill>
            <a:srgbClr val="F2F6F9"/>
          </a:solidFill>
          <a:ln w="7620">
            <a:solidFill>
              <a:srgbClr val="D9E1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10_011_text">
            <a:extLst>
              <a:ext uri="{FF2B5EF4-FFF2-40B4-BE49-F238E27FC236}">
                <a16:creationId xmlns:a16="http://schemas.microsoft.com/office/drawing/2014/main" id="{B02146E4-8CB7-75D6-65E3-AB49587E661B}"/>
              </a:ext>
            </a:extLst>
          </p:cNvPr>
          <p:cNvSpPr txBox="1"/>
          <p:nvPr/>
        </p:nvSpPr>
        <p:spPr>
          <a:xfrm>
            <a:off x="9042400" y="2095500"/>
            <a:ext cx="2476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Bounded LS + CV</a:t>
            </a:r>
            <a:endParaRPr lang="ko-KR" altLang="en-US" sz="20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3" name="S10_012_line">
            <a:extLst>
              <a:ext uri="{FF2B5EF4-FFF2-40B4-BE49-F238E27FC236}">
                <a16:creationId xmlns:a16="http://schemas.microsoft.com/office/drawing/2014/main" id="{2BC03F2B-1A75-44F9-85D6-6B6C37831047}"/>
              </a:ext>
            </a:extLst>
          </p:cNvPr>
          <p:cNvCxnSpPr/>
          <p:nvPr/>
        </p:nvCxnSpPr>
        <p:spPr>
          <a:xfrm>
            <a:off x="3263900" y="2324100"/>
            <a:ext cx="1270000" cy="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10_013_line">
            <a:extLst>
              <a:ext uri="{FF2B5EF4-FFF2-40B4-BE49-F238E27FC236}">
                <a16:creationId xmlns:a16="http://schemas.microsoft.com/office/drawing/2014/main" id="{D4FDB55A-FB2B-DA9F-E5B0-A0EA27659C1D}"/>
              </a:ext>
            </a:extLst>
          </p:cNvPr>
          <p:cNvCxnSpPr/>
          <p:nvPr/>
        </p:nvCxnSpPr>
        <p:spPr>
          <a:xfrm>
            <a:off x="7683500" y="2324100"/>
            <a:ext cx="1130300" cy="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10_014_text">
            <a:extLst>
              <a:ext uri="{FF2B5EF4-FFF2-40B4-BE49-F238E27FC236}">
                <a16:creationId xmlns:a16="http://schemas.microsoft.com/office/drawing/2014/main" id="{8D8DB23D-A5E6-8CF8-A612-5DDCA7978CDE}"/>
              </a:ext>
            </a:extLst>
          </p:cNvPr>
          <p:cNvSpPr txBox="1"/>
          <p:nvPr/>
        </p:nvSpPr>
        <p:spPr>
          <a:xfrm>
            <a:off x="4965700" y="3314700"/>
            <a:ext cx="29464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link1 … link7
joint1 … joint7
armature</a:t>
            </a:r>
            <a:endParaRPr lang="ko-KR" altLang="en-US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S10_015_text">
            <a:extLst>
              <a:ext uri="{FF2B5EF4-FFF2-40B4-BE49-F238E27FC236}">
                <a16:creationId xmlns:a16="http://schemas.microsoft.com/office/drawing/2014/main" id="{5F30D6AC-62B3-56B8-4AF4-84C2225E73A7}"/>
              </a:ext>
            </a:extLst>
          </p:cNvPr>
          <p:cNvSpPr txBox="1"/>
          <p:nvPr/>
        </p:nvSpPr>
        <p:spPr>
          <a:xfrm>
            <a:off x="8978900" y="3416300"/>
            <a:ext cx="26416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학습 궤적 일부로 </a:t>
            </a:r>
            <a:r>
              <a:rPr lang="en-US" altLang="ko-KR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fit
</a:t>
            </a:r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남긴 궤적으로 검증</a:t>
            </a:r>
          </a:p>
        </p:txBody>
      </p:sp>
      <p:cxnSp>
        <p:nvCxnSpPr>
          <p:cNvPr id="17" name="S10_016_line">
            <a:extLst>
              <a:ext uri="{FF2B5EF4-FFF2-40B4-BE49-F238E27FC236}">
                <a16:creationId xmlns:a16="http://schemas.microsoft.com/office/drawing/2014/main" id="{761AC87F-04E7-6ACC-87F5-F349497BCF44}"/>
              </a:ext>
            </a:extLst>
          </p:cNvPr>
          <p:cNvCxnSpPr/>
          <p:nvPr/>
        </p:nvCxnSpPr>
        <p:spPr>
          <a:xfrm>
            <a:off x="10274300" y="2908300"/>
            <a:ext cx="0" cy="1993900"/>
          </a:xfrm>
          <a:prstGeom prst="straightConnector1">
            <a:avLst/>
          </a:prstGeom>
          <a:ln w="1270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10_017_line">
            <a:extLst>
              <a:ext uri="{FF2B5EF4-FFF2-40B4-BE49-F238E27FC236}">
                <a16:creationId xmlns:a16="http://schemas.microsoft.com/office/drawing/2014/main" id="{8A64CFD1-F3AA-8B54-F11C-BC0AF35D5FFE}"/>
              </a:ext>
            </a:extLst>
          </p:cNvPr>
          <p:cNvCxnSpPr/>
          <p:nvPr/>
        </p:nvCxnSpPr>
        <p:spPr>
          <a:xfrm flipH="1">
            <a:off x="1816100" y="4902200"/>
            <a:ext cx="8458200" cy="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10_018_text">
            <a:extLst>
              <a:ext uri="{FF2B5EF4-FFF2-40B4-BE49-F238E27FC236}">
                <a16:creationId xmlns:a16="http://schemas.microsoft.com/office/drawing/2014/main" id="{603156A7-ACEB-4E69-ADDD-6DEAA932B846}"/>
              </a:ext>
            </a:extLst>
          </p:cNvPr>
          <p:cNvSpPr txBox="1"/>
          <p:nvPr/>
        </p:nvSpPr>
        <p:spPr>
          <a:xfrm>
            <a:off x="558800" y="5168900"/>
            <a:ext cx="11049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9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경로 전체에서</a:t>
            </a:r>
            <a:r>
              <a:rPr lang="en-US" altLang="ko-KR" sz="19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9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최적 </a:t>
            </a:r>
            <a:r>
              <a:rPr lang="en-US" altLang="ko-KR" sz="19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CV </a:t>
            </a:r>
            <a:r>
              <a:rPr lang="ko-KR" altLang="en-US" sz="19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오차 </a:t>
            </a:r>
            <a:r>
              <a:rPr lang="en-US" altLang="ko-KR" sz="19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+ 1 SE </a:t>
            </a:r>
            <a:r>
              <a:rPr lang="ko-KR" altLang="en-US" sz="19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이내의 가장 작은 모델을 선택</a:t>
            </a:r>
          </a:p>
        </p:txBody>
      </p:sp>
      <p:cxnSp>
        <p:nvCxnSpPr>
          <p:cNvPr id="20" name="S10_019_line">
            <a:extLst>
              <a:ext uri="{FF2B5EF4-FFF2-40B4-BE49-F238E27FC236}">
                <a16:creationId xmlns:a16="http://schemas.microsoft.com/office/drawing/2014/main" id="{F7C945BE-9028-865F-250A-B597008F001F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10_020_text">
            <a:extLst>
              <a:ext uri="{FF2B5EF4-FFF2-40B4-BE49-F238E27FC236}">
                <a16:creationId xmlns:a16="http://schemas.microsoft.com/office/drawing/2014/main" id="{4BA90CC3-FA52-8E61-92D3-6B06778CFC92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저노이즈에서 실제 최종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support: {link3, link7, joint4, joint6}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5595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001_text">
            <a:extLst>
              <a:ext uri="{FF2B5EF4-FFF2-40B4-BE49-F238E27FC236}">
                <a16:creationId xmlns:a16="http://schemas.microsoft.com/office/drawing/2014/main" id="{E67A9025-A38B-B6E4-A328-21C96049D0B4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ALGORITHM · EXECUTABLE TWIN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11_002_text">
            <a:extLst>
              <a:ext uri="{FF2B5EF4-FFF2-40B4-BE49-F238E27FC236}">
                <a16:creationId xmlns:a16="http://schemas.microsoft.com/office/drawing/2014/main" id="{5E4A20E6-B2DD-ADC6-24AC-992390B57140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선택한 계수가 곧바로 실행 가능한 물리는 아니다</a:t>
            </a:r>
          </a:p>
        </p:txBody>
      </p:sp>
      <p:cxnSp>
        <p:nvCxnSpPr>
          <p:cNvPr id="4" name="S11_003_line">
            <a:extLst>
              <a:ext uri="{FF2B5EF4-FFF2-40B4-BE49-F238E27FC236}">
                <a16:creationId xmlns:a16="http://schemas.microsoft.com/office/drawing/2014/main" id="{C2031B9E-4EA6-2EB8-0E6B-083F1FF0AAF6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11_004_text">
            <a:extLst>
              <a:ext uri="{FF2B5EF4-FFF2-40B4-BE49-F238E27FC236}">
                <a16:creationId xmlns:a16="http://schemas.microsoft.com/office/drawing/2014/main" id="{30F9CDB5-4733-E4B0-E6FE-377307A01C9B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§4.3–4.5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11_005_text">
            <a:extLst>
              <a:ext uri="{FF2B5EF4-FFF2-40B4-BE49-F238E27FC236}">
                <a16:creationId xmlns:a16="http://schemas.microsoft.com/office/drawing/2014/main" id="{4AAE9EF4-3A5E-4ED9-3010-7630DD17E772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11_006_text">
            <a:extLst>
              <a:ext uri="{FF2B5EF4-FFF2-40B4-BE49-F238E27FC236}">
                <a16:creationId xmlns:a16="http://schemas.microsoft.com/office/drawing/2014/main" id="{085049A6-1022-66AD-80F9-51F775D27286}"/>
              </a:ext>
            </a:extLst>
          </p:cNvPr>
          <p:cNvSpPr txBox="1"/>
          <p:nvPr/>
        </p:nvSpPr>
        <p:spPr>
          <a:xfrm>
            <a:off x="546100" y="1765300"/>
            <a:ext cx="361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후보 </a:t>
            </a:r>
            <a:r>
              <a:rPr lang="en-US" altLang="ko-KR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fit</a:t>
            </a:r>
            <a:r>
              <a:rPr lang="ko-KR" altLang="en-US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</a:t>
            </a:r>
            <a:r>
              <a:rPr lang="en-US" altLang="ko-KR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bounds</a:t>
            </a:r>
            <a:endParaRPr lang="ko-KR" altLang="en-US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S11_007_text">
            <a:extLst>
              <a:ext uri="{FF2B5EF4-FFF2-40B4-BE49-F238E27FC236}">
                <a16:creationId xmlns:a16="http://schemas.microsoft.com/office/drawing/2014/main" id="{D231DAB5-DCA9-0A39-31BD-35731842A713}"/>
              </a:ext>
            </a:extLst>
          </p:cNvPr>
          <p:cNvSpPr txBox="1"/>
          <p:nvPr/>
        </p:nvSpPr>
        <p:spPr>
          <a:xfrm>
            <a:off x="546100" y="2679700"/>
            <a:ext cx="3556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질량 하한
총 마찰</a:t>
            </a:r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감쇠</a:t>
            </a:r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·armature ≥ 0</a:t>
            </a:r>
            <a:endParaRPr lang="ko-KR" altLang="en-US" sz="20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9" name="S11_008_line">
            <a:extLst>
              <a:ext uri="{FF2B5EF4-FFF2-40B4-BE49-F238E27FC236}">
                <a16:creationId xmlns:a16="http://schemas.microsoft.com/office/drawing/2014/main" id="{6C741F65-F68D-9458-F454-676FD43CFEE2}"/>
              </a:ext>
            </a:extLst>
          </p:cNvPr>
          <p:cNvCxnSpPr/>
          <p:nvPr/>
        </p:nvCxnSpPr>
        <p:spPr>
          <a:xfrm>
            <a:off x="3848100" y="4318000"/>
            <a:ext cx="431800" cy="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11_009_text">
            <a:extLst>
              <a:ext uri="{FF2B5EF4-FFF2-40B4-BE49-F238E27FC236}">
                <a16:creationId xmlns:a16="http://schemas.microsoft.com/office/drawing/2014/main" id="{C1AB9AE0-BD25-C49F-5A03-1E2C4BF4930A}"/>
              </a:ext>
            </a:extLst>
          </p:cNvPr>
          <p:cNvSpPr txBox="1"/>
          <p:nvPr/>
        </p:nvSpPr>
        <p:spPr>
          <a:xfrm>
            <a:off x="4406900" y="1765300"/>
            <a:ext cx="361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선택 후 </a:t>
            </a:r>
            <a:r>
              <a:rPr lang="en-US" altLang="ko-KR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physical projection</a:t>
            </a:r>
            <a:endParaRPr lang="ko-KR" altLang="en-US" b="1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S11_010_text">
            <a:extLst>
              <a:ext uri="{FF2B5EF4-FFF2-40B4-BE49-F238E27FC236}">
                <a16:creationId xmlns:a16="http://schemas.microsoft.com/office/drawing/2014/main" id="{498AD464-8351-76BD-13CA-80BD6AD99C8E}"/>
              </a:ext>
            </a:extLst>
          </p:cNvPr>
          <p:cNvSpPr txBox="1"/>
          <p:nvPr/>
        </p:nvSpPr>
        <p:spPr>
          <a:xfrm>
            <a:off x="4406900" y="2679700"/>
            <a:ext cx="3556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Pseudo-inertia</a:t>
            </a:r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</a:t>
            </a:r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PSD </a:t>
            </a:r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조건
→ 실현 가능한 강체 관성</a:t>
            </a:r>
          </a:p>
        </p:txBody>
      </p:sp>
      <p:cxnSp>
        <p:nvCxnSpPr>
          <p:cNvPr id="12" name="S11_011_line">
            <a:extLst>
              <a:ext uri="{FF2B5EF4-FFF2-40B4-BE49-F238E27FC236}">
                <a16:creationId xmlns:a16="http://schemas.microsoft.com/office/drawing/2014/main" id="{588B2114-9130-109A-01E8-E3ECA0ED43A7}"/>
              </a:ext>
            </a:extLst>
          </p:cNvPr>
          <p:cNvCxnSpPr/>
          <p:nvPr/>
        </p:nvCxnSpPr>
        <p:spPr>
          <a:xfrm>
            <a:off x="7708900" y="4318000"/>
            <a:ext cx="431800" cy="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11_012_text">
            <a:extLst>
              <a:ext uri="{FF2B5EF4-FFF2-40B4-BE49-F238E27FC236}">
                <a16:creationId xmlns:a16="http://schemas.microsoft.com/office/drawing/2014/main" id="{641051E6-F9A1-37B2-B2E0-98621F40789C}"/>
              </a:ext>
            </a:extLst>
          </p:cNvPr>
          <p:cNvSpPr txBox="1"/>
          <p:nvPr/>
        </p:nvSpPr>
        <p:spPr>
          <a:xfrm>
            <a:off x="8267700" y="1765300"/>
            <a:ext cx="361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B47B2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③ simulator-native write-back</a:t>
            </a:r>
            <a:endParaRPr lang="ko-KR" altLang="en-US" b="1">
              <a:solidFill>
                <a:srgbClr val="B47B2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S11_013_text">
            <a:extLst>
              <a:ext uri="{FF2B5EF4-FFF2-40B4-BE49-F238E27FC236}">
                <a16:creationId xmlns:a16="http://schemas.microsoft.com/office/drawing/2014/main" id="{54D8D55B-639F-ECA9-D5E0-67D6CF809046}"/>
              </a:ext>
            </a:extLst>
          </p:cNvPr>
          <p:cNvSpPr txBox="1"/>
          <p:nvPr/>
        </p:nvSpPr>
        <p:spPr>
          <a:xfrm>
            <a:off x="8267700" y="2679700"/>
            <a:ext cx="3556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Mass / CoM / inertia
Friction / damping / armature</a:t>
            </a:r>
            <a:endParaRPr lang="ko-KR" altLang="en-US" sz="20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S11_014_text">
            <a:extLst>
              <a:ext uri="{FF2B5EF4-FFF2-40B4-BE49-F238E27FC236}">
                <a16:creationId xmlns:a16="http://schemas.microsoft.com/office/drawing/2014/main" id="{DA0F5692-1755-6ADC-D81E-F55624AD3C12}"/>
              </a:ext>
            </a:extLst>
          </p:cNvPr>
          <p:cNvSpPr txBox="1"/>
          <p:nvPr/>
        </p:nvSpPr>
        <p:spPr>
          <a:xfrm>
            <a:off x="723900" y="4635500"/>
            <a:ext cx="1062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검증 </a:t>
            </a:r>
            <a:r>
              <a:rPr lang="en-US" altLang="ko-KR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A: </a:t>
            </a:r>
            <a:r>
              <a:rPr lang="ko-KR" altLang="en-US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선형 </a:t>
            </a:r>
            <a:r>
              <a:rPr lang="en-US" altLang="ko-KR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library</a:t>
            </a:r>
            <a:r>
              <a:rPr lang="ko-KR" altLang="en-US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토크를 맞히는가</a:t>
            </a:r>
            <a:r>
              <a:rPr lang="en-US" altLang="ko-KR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22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S11_015_text">
            <a:extLst>
              <a:ext uri="{FF2B5EF4-FFF2-40B4-BE49-F238E27FC236}">
                <a16:creationId xmlns:a16="http://schemas.microsoft.com/office/drawing/2014/main" id="{DB9CE900-3600-6A59-6224-9255E1742820}"/>
              </a:ext>
            </a:extLst>
          </p:cNvPr>
          <p:cNvSpPr txBox="1"/>
          <p:nvPr/>
        </p:nvSpPr>
        <p:spPr>
          <a:xfrm>
            <a:off x="723900" y="5245100"/>
            <a:ext cx="1062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검증 </a:t>
            </a:r>
            <a:r>
              <a:rPr lang="en-US" altLang="ko-KR" sz="2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B: </a:t>
            </a:r>
            <a:r>
              <a:rPr lang="ko-KR" altLang="en-US" sz="2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실제로 구성한 </a:t>
            </a:r>
            <a:r>
              <a:rPr lang="en-US" altLang="ko-KR" sz="2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twin</a:t>
            </a:r>
            <a:r>
              <a:rPr lang="ko-KR" altLang="en-US" sz="2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 같은 성능을 내는가</a:t>
            </a:r>
            <a:r>
              <a:rPr lang="en-US" altLang="ko-KR" sz="2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22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7" name="S11_016_line">
            <a:extLst>
              <a:ext uri="{FF2B5EF4-FFF2-40B4-BE49-F238E27FC236}">
                <a16:creationId xmlns:a16="http://schemas.microsoft.com/office/drawing/2014/main" id="{EE0D6577-9CD4-5A92-2A1E-D463CFE3244C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11_017_text">
            <a:extLst>
              <a:ext uri="{FF2B5EF4-FFF2-40B4-BE49-F238E27FC236}">
                <a16:creationId xmlns:a16="http://schemas.microsoft.com/office/drawing/2014/main" id="{821AF9C0-AAF1-E483-C242-8FC7D689E4FF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Physical consistency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올바른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attribution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서로 다른 조건이다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7202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_001_text">
            <a:extLst>
              <a:ext uri="{FF2B5EF4-FFF2-40B4-BE49-F238E27FC236}">
                <a16:creationId xmlns:a16="http://schemas.microsoft.com/office/drawing/2014/main" id="{6F2CE08B-1F76-A5DC-1E88-312028DA2A6E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RESULTS · BEHAVIORAL FIDELITY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12_002_text">
            <a:extLst>
              <a:ext uri="{FF2B5EF4-FFF2-40B4-BE49-F238E27FC236}">
                <a16:creationId xmlns:a16="http://schemas.microsoft.com/office/drawing/2014/main" id="{A5CEA74C-4081-9A3A-062A-A72306F42CE8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결과 ① 동작만 보면 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Dense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거의 같다</a:t>
            </a:r>
          </a:p>
        </p:txBody>
      </p:sp>
      <p:cxnSp>
        <p:nvCxnSpPr>
          <p:cNvPr id="4" name="S12_003_line">
            <a:extLst>
              <a:ext uri="{FF2B5EF4-FFF2-40B4-BE49-F238E27FC236}">
                <a16:creationId xmlns:a16="http://schemas.microsoft.com/office/drawing/2014/main" id="{249224B2-F744-D454-50D1-31AF67175648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12_004_text">
            <a:extLst>
              <a:ext uri="{FF2B5EF4-FFF2-40B4-BE49-F238E27FC236}">
                <a16:creationId xmlns:a16="http://schemas.microsoft.com/office/drawing/2014/main" id="{5CF38D06-212D-C7BD-FFEA-ED9C98953B26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Table 2 · gate_results.json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12_005_text">
            <a:extLst>
              <a:ext uri="{FF2B5EF4-FFF2-40B4-BE49-F238E27FC236}">
                <a16:creationId xmlns:a16="http://schemas.microsoft.com/office/drawing/2014/main" id="{1F0C981B-1635-C37F-80EF-0040FC7C281A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12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12_006_text">
            <a:extLst>
              <a:ext uri="{FF2B5EF4-FFF2-40B4-BE49-F238E27FC236}">
                <a16:creationId xmlns:a16="http://schemas.microsoft.com/office/drawing/2014/main" id="{73FFD689-67FA-D225-9EEA-874E30A03FD8}"/>
              </a:ext>
            </a:extLst>
          </p:cNvPr>
          <p:cNvSpPr txBox="1"/>
          <p:nvPr/>
        </p:nvSpPr>
        <p:spPr>
          <a:xfrm>
            <a:off x="546100" y="1727200"/>
            <a:ext cx="535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말단 궤적 오차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(mm; log)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8" name="S12_007_line">
            <a:extLst>
              <a:ext uri="{FF2B5EF4-FFF2-40B4-BE49-F238E27FC236}">
                <a16:creationId xmlns:a16="http://schemas.microsoft.com/office/drawing/2014/main" id="{DC80FBB4-47F8-C696-0EE2-3EAB1B08E691}"/>
              </a:ext>
            </a:extLst>
          </p:cNvPr>
          <p:cNvCxnSpPr/>
          <p:nvPr/>
        </p:nvCxnSpPr>
        <p:spPr>
          <a:xfrm>
            <a:off x="1028700" y="5143500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12_008_text">
            <a:extLst>
              <a:ext uri="{FF2B5EF4-FFF2-40B4-BE49-F238E27FC236}">
                <a16:creationId xmlns:a16="http://schemas.microsoft.com/office/drawing/2014/main" id="{A2F457EE-51FF-2B36-E241-C32BE499258A}"/>
              </a:ext>
            </a:extLst>
          </p:cNvPr>
          <p:cNvSpPr txBox="1"/>
          <p:nvPr/>
        </p:nvSpPr>
        <p:spPr>
          <a:xfrm>
            <a:off x="546100" y="50419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0.01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0" name="S12_009_line">
            <a:extLst>
              <a:ext uri="{FF2B5EF4-FFF2-40B4-BE49-F238E27FC236}">
                <a16:creationId xmlns:a16="http://schemas.microsoft.com/office/drawing/2014/main" id="{503CE674-E1AD-BFAC-F4E9-2B8110515870}"/>
              </a:ext>
            </a:extLst>
          </p:cNvPr>
          <p:cNvCxnSpPr/>
          <p:nvPr/>
        </p:nvCxnSpPr>
        <p:spPr>
          <a:xfrm>
            <a:off x="1028700" y="4303437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12_010_text">
            <a:extLst>
              <a:ext uri="{FF2B5EF4-FFF2-40B4-BE49-F238E27FC236}">
                <a16:creationId xmlns:a16="http://schemas.microsoft.com/office/drawing/2014/main" id="{167EB0C4-0025-02BF-56A7-F52B459AB54F}"/>
              </a:ext>
            </a:extLst>
          </p:cNvPr>
          <p:cNvSpPr txBox="1"/>
          <p:nvPr/>
        </p:nvSpPr>
        <p:spPr>
          <a:xfrm>
            <a:off x="546100" y="4201837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0.1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2" name="S12_011_line">
            <a:extLst>
              <a:ext uri="{FF2B5EF4-FFF2-40B4-BE49-F238E27FC236}">
                <a16:creationId xmlns:a16="http://schemas.microsoft.com/office/drawing/2014/main" id="{BED638B3-8680-EE8C-C4C7-4639EBFFF294}"/>
              </a:ext>
            </a:extLst>
          </p:cNvPr>
          <p:cNvCxnSpPr/>
          <p:nvPr/>
        </p:nvCxnSpPr>
        <p:spPr>
          <a:xfrm>
            <a:off x="1079500" y="4303437"/>
            <a:ext cx="4699000" cy="0"/>
          </a:xfrm>
          <a:prstGeom prst="straightConnector1">
            <a:avLst/>
          </a:prstGeom>
          <a:ln w="6350">
            <a:solidFill>
              <a:srgbClr val="E8ED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12_012_line">
            <a:extLst>
              <a:ext uri="{FF2B5EF4-FFF2-40B4-BE49-F238E27FC236}">
                <a16:creationId xmlns:a16="http://schemas.microsoft.com/office/drawing/2014/main" id="{58E7B088-2F72-41C6-0B10-E2D129A0E7CC}"/>
              </a:ext>
            </a:extLst>
          </p:cNvPr>
          <p:cNvCxnSpPr/>
          <p:nvPr/>
        </p:nvCxnSpPr>
        <p:spPr>
          <a:xfrm>
            <a:off x="1028700" y="3463375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12_013_text">
            <a:extLst>
              <a:ext uri="{FF2B5EF4-FFF2-40B4-BE49-F238E27FC236}">
                <a16:creationId xmlns:a16="http://schemas.microsoft.com/office/drawing/2014/main" id="{BFA0B603-2776-62C8-4E42-72347069D399}"/>
              </a:ext>
            </a:extLst>
          </p:cNvPr>
          <p:cNvSpPr txBox="1"/>
          <p:nvPr/>
        </p:nvSpPr>
        <p:spPr>
          <a:xfrm>
            <a:off x="546100" y="3361775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5" name="S12_014_line">
            <a:extLst>
              <a:ext uri="{FF2B5EF4-FFF2-40B4-BE49-F238E27FC236}">
                <a16:creationId xmlns:a16="http://schemas.microsoft.com/office/drawing/2014/main" id="{37ABA80F-1D44-E246-DFCB-5E977149E678}"/>
              </a:ext>
            </a:extLst>
          </p:cNvPr>
          <p:cNvCxnSpPr/>
          <p:nvPr/>
        </p:nvCxnSpPr>
        <p:spPr>
          <a:xfrm>
            <a:off x="1079500" y="3463375"/>
            <a:ext cx="4699000" cy="0"/>
          </a:xfrm>
          <a:prstGeom prst="straightConnector1">
            <a:avLst/>
          </a:prstGeom>
          <a:ln w="6350">
            <a:solidFill>
              <a:srgbClr val="E8ED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12_015_line">
            <a:extLst>
              <a:ext uri="{FF2B5EF4-FFF2-40B4-BE49-F238E27FC236}">
                <a16:creationId xmlns:a16="http://schemas.microsoft.com/office/drawing/2014/main" id="{83AFF86E-1A53-0EBF-55EC-EE09E78AF808}"/>
              </a:ext>
            </a:extLst>
          </p:cNvPr>
          <p:cNvCxnSpPr/>
          <p:nvPr/>
        </p:nvCxnSpPr>
        <p:spPr>
          <a:xfrm>
            <a:off x="1028700" y="2623312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12_016_text">
            <a:extLst>
              <a:ext uri="{FF2B5EF4-FFF2-40B4-BE49-F238E27FC236}">
                <a16:creationId xmlns:a16="http://schemas.microsoft.com/office/drawing/2014/main" id="{3A2792B6-8AB3-A815-7D03-A3DCB19CEFF2}"/>
              </a:ext>
            </a:extLst>
          </p:cNvPr>
          <p:cNvSpPr txBox="1"/>
          <p:nvPr/>
        </p:nvSpPr>
        <p:spPr>
          <a:xfrm>
            <a:off x="546100" y="2521712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8" name="S12_017_line">
            <a:extLst>
              <a:ext uri="{FF2B5EF4-FFF2-40B4-BE49-F238E27FC236}">
                <a16:creationId xmlns:a16="http://schemas.microsoft.com/office/drawing/2014/main" id="{D46624BE-8B4E-4081-C7F3-E871E5ABF157}"/>
              </a:ext>
            </a:extLst>
          </p:cNvPr>
          <p:cNvCxnSpPr/>
          <p:nvPr/>
        </p:nvCxnSpPr>
        <p:spPr>
          <a:xfrm>
            <a:off x="1079500" y="2623312"/>
            <a:ext cx="4699000" cy="0"/>
          </a:xfrm>
          <a:prstGeom prst="straightConnector1">
            <a:avLst/>
          </a:prstGeom>
          <a:ln w="6350">
            <a:solidFill>
              <a:srgbClr val="E8ED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12_018_line">
            <a:extLst>
              <a:ext uri="{FF2B5EF4-FFF2-40B4-BE49-F238E27FC236}">
                <a16:creationId xmlns:a16="http://schemas.microsoft.com/office/drawing/2014/main" id="{1DE074FC-EC64-8E8C-02F2-6603F7E060B1}"/>
              </a:ext>
            </a:extLst>
          </p:cNvPr>
          <p:cNvCxnSpPr/>
          <p:nvPr/>
        </p:nvCxnSpPr>
        <p:spPr>
          <a:xfrm>
            <a:off x="1079500" y="2222500"/>
            <a:ext cx="0" cy="292100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12_019_line">
            <a:extLst>
              <a:ext uri="{FF2B5EF4-FFF2-40B4-BE49-F238E27FC236}">
                <a16:creationId xmlns:a16="http://schemas.microsoft.com/office/drawing/2014/main" id="{F9D55FBA-2154-809D-1B2E-E24ACF9115A8}"/>
              </a:ext>
            </a:extLst>
          </p:cNvPr>
          <p:cNvCxnSpPr/>
          <p:nvPr/>
        </p:nvCxnSpPr>
        <p:spPr>
          <a:xfrm>
            <a:off x="1079500" y="5143500"/>
            <a:ext cx="46990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12_020_text">
            <a:extLst>
              <a:ext uri="{FF2B5EF4-FFF2-40B4-BE49-F238E27FC236}">
                <a16:creationId xmlns:a16="http://schemas.microsoft.com/office/drawing/2014/main" id="{E2D7D1FD-BF61-49B9-7A25-65C4909A44AD}"/>
              </a:ext>
            </a:extLst>
          </p:cNvPr>
          <p:cNvSpPr txBox="1"/>
          <p:nvPr/>
        </p:nvSpPr>
        <p:spPr>
          <a:xfrm>
            <a:off x="1079500" y="5270500"/>
            <a:ext cx="1566333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Nominal</a:t>
            </a:r>
            <a:endParaRPr lang="ko-KR" altLang="en-US" sz="12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S12_021_rect">
            <a:extLst>
              <a:ext uri="{FF2B5EF4-FFF2-40B4-BE49-F238E27FC236}">
                <a16:creationId xmlns:a16="http://schemas.microsoft.com/office/drawing/2014/main" id="{EADEDC81-5703-FB51-DDE0-758ED64BC62D}"/>
              </a:ext>
            </a:extLst>
          </p:cNvPr>
          <p:cNvSpPr/>
          <p:nvPr/>
        </p:nvSpPr>
        <p:spPr>
          <a:xfrm>
            <a:off x="1622637" y="2489518"/>
            <a:ext cx="480060" cy="2653982"/>
          </a:xfrm>
          <a:prstGeom prst="rect">
            <a:avLst/>
          </a:prstGeom>
          <a:solidFill>
            <a:srgbClr val="657583"/>
          </a:solidFill>
          <a:ln w="7620">
            <a:solidFill>
              <a:srgbClr val="6575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S12_022_text">
            <a:extLst>
              <a:ext uri="{FF2B5EF4-FFF2-40B4-BE49-F238E27FC236}">
                <a16:creationId xmlns:a16="http://schemas.microsoft.com/office/drawing/2014/main" id="{2FBF534C-BE27-A986-0B13-22E9FBCCEC72}"/>
              </a:ext>
            </a:extLst>
          </p:cNvPr>
          <p:cNvSpPr txBox="1"/>
          <p:nvPr/>
        </p:nvSpPr>
        <p:spPr>
          <a:xfrm>
            <a:off x="1406737" y="2197418"/>
            <a:ext cx="1003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14.430</a:t>
            </a:r>
            <a:endParaRPr lang="ko-KR" altLang="en-US" sz="12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4" name="S12_023_text">
            <a:extLst>
              <a:ext uri="{FF2B5EF4-FFF2-40B4-BE49-F238E27FC236}">
                <a16:creationId xmlns:a16="http://schemas.microsoft.com/office/drawing/2014/main" id="{59C10C48-D6FD-99FC-FAA1-78E496ED587E}"/>
              </a:ext>
            </a:extLst>
          </p:cNvPr>
          <p:cNvSpPr txBox="1"/>
          <p:nvPr/>
        </p:nvSpPr>
        <p:spPr>
          <a:xfrm>
            <a:off x="2645833" y="5270500"/>
            <a:ext cx="1566333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Dense LS</a:t>
            </a:r>
            <a:endParaRPr lang="ko-KR" altLang="en-US" sz="12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S12_024_rect">
            <a:extLst>
              <a:ext uri="{FF2B5EF4-FFF2-40B4-BE49-F238E27FC236}">
                <a16:creationId xmlns:a16="http://schemas.microsoft.com/office/drawing/2014/main" id="{8D8FB75B-4FA8-0954-9712-C0C3E66E9D9E}"/>
              </a:ext>
            </a:extLst>
          </p:cNvPr>
          <p:cNvSpPr/>
          <p:nvPr/>
        </p:nvSpPr>
        <p:spPr>
          <a:xfrm>
            <a:off x="3188970" y="4780660"/>
            <a:ext cx="480060" cy="362840"/>
          </a:xfrm>
          <a:prstGeom prst="rect">
            <a:avLst/>
          </a:prstGeom>
          <a:solidFill>
            <a:srgbClr val="1B9E77"/>
          </a:solidFill>
          <a:ln w="7620">
            <a:solidFill>
              <a:srgbClr val="1B9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S12_025_text">
            <a:extLst>
              <a:ext uri="{FF2B5EF4-FFF2-40B4-BE49-F238E27FC236}">
                <a16:creationId xmlns:a16="http://schemas.microsoft.com/office/drawing/2014/main" id="{931DE281-24F0-EFCC-AC0C-E7DA69D5FA13}"/>
              </a:ext>
            </a:extLst>
          </p:cNvPr>
          <p:cNvSpPr txBox="1"/>
          <p:nvPr/>
        </p:nvSpPr>
        <p:spPr>
          <a:xfrm>
            <a:off x="2973070" y="4488560"/>
            <a:ext cx="1003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0.027</a:t>
            </a:r>
            <a:endParaRPr lang="ko-KR" altLang="en-US" sz="1200" b="1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" name="S12_026_text">
            <a:extLst>
              <a:ext uri="{FF2B5EF4-FFF2-40B4-BE49-F238E27FC236}">
                <a16:creationId xmlns:a16="http://schemas.microsoft.com/office/drawing/2014/main" id="{07AB0502-6FA5-2E01-9114-29868001271F}"/>
              </a:ext>
            </a:extLst>
          </p:cNvPr>
          <p:cNvSpPr txBox="1"/>
          <p:nvPr/>
        </p:nvSpPr>
        <p:spPr>
          <a:xfrm>
            <a:off x="4212167" y="5270500"/>
            <a:ext cx="1566333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</a:t>
            </a:r>
            <a:endParaRPr lang="ko-KR" altLang="en-US" sz="12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8" name="S12_027_rect">
            <a:extLst>
              <a:ext uri="{FF2B5EF4-FFF2-40B4-BE49-F238E27FC236}">
                <a16:creationId xmlns:a16="http://schemas.microsoft.com/office/drawing/2014/main" id="{1AF2A6D3-6F45-35FB-8EA0-1B3560117C40}"/>
              </a:ext>
            </a:extLst>
          </p:cNvPr>
          <p:cNvSpPr/>
          <p:nvPr/>
        </p:nvSpPr>
        <p:spPr>
          <a:xfrm>
            <a:off x="4755303" y="4747707"/>
            <a:ext cx="480060" cy="395793"/>
          </a:xfrm>
          <a:prstGeom prst="rect">
            <a:avLst/>
          </a:prstGeom>
          <a:solidFill>
            <a:srgbClr val="2874BA"/>
          </a:solidFill>
          <a:ln w="7620">
            <a:solidFill>
              <a:srgbClr val="2874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S12_028_text">
            <a:extLst>
              <a:ext uri="{FF2B5EF4-FFF2-40B4-BE49-F238E27FC236}">
                <a16:creationId xmlns:a16="http://schemas.microsoft.com/office/drawing/2014/main" id="{95DCAF4A-9EAE-6809-E4A2-3A0F84B438FB}"/>
              </a:ext>
            </a:extLst>
          </p:cNvPr>
          <p:cNvSpPr txBox="1"/>
          <p:nvPr/>
        </p:nvSpPr>
        <p:spPr>
          <a:xfrm>
            <a:off x="4539403" y="4455607"/>
            <a:ext cx="1003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0.030</a:t>
            </a:r>
            <a:endParaRPr lang="ko-KR" altLang="en-US" sz="12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S12_029_text">
            <a:extLst>
              <a:ext uri="{FF2B5EF4-FFF2-40B4-BE49-F238E27FC236}">
                <a16:creationId xmlns:a16="http://schemas.microsoft.com/office/drawing/2014/main" id="{1264D76F-4CDD-75D0-6AB2-55BDD1E76108}"/>
              </a:ext>
            </a:extLst>
          </p:cNvPr>
          <p:cNvSpPr txBox="1"/>
          <p:nvPr/>
        </p:nvSpPr>
        <p:spPr>
          <a:xfrm>
            <a:off x="6502400" y="1727200"/>
            <a:ext cx="5003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실행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twin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토크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NRMSE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1" name="S12_030_line">
            <a:extLst>
              <a:ext uri="{FF2B5EF4-FFF2-40B4-BE49-F238E27FC236}">
                <a16:creationId xmlns:a16="http://schemas.microsoft.com/office/drawing/2014/main" id="{8DA742B6-F8EF-9431-7A6D-D7B0777E90DD}"/>
              </a:ext>
            </a:extLst>
          </p:cNvPr>
          <p:cNvCxnSpPr/>
          <p:nvPr/>
        </p:nvCxnSpPr>
        <p:spPr>
          <a:xfrm>
            <a:off x="6985000" y="5143500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12_031_text">
            <a:extLst>
              <a:ext uri="{FF2B5EF4-FFF2-40B4-BE49-F238E27FC236}">
                <a16:creationId xmlns:a16="http://schemas.microsoft.com/office/drawing/2014/main" id="{DE7DE592-BF60-400D-2061-517BA53478D1}"/>
              </a:ext>
            </a:extLst>
          </p:cNvPr>
          <p:cNvSpPr txBox="1"/>
          <p:nvPr/>
        </p:nvSpPr>
        <p:spPr>
          <a:xfrm>
            <a:off x="6502400" y="50419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3" name="S12_032_line">
            <a:extLst>
              <a:ext uri="{FF2B5EF4-FFF2-40B4-BE49-F238E27FC236}">
                <a16:creationId xmlns:a16="http://schemas.microsoft.com/office/drawing/2014/main" id="{8A05CE93-0FDB-3273-3752-ACB42E33D911}"/>
              </a:ext>
            </a:extLst>
          </p:cNvPr>
          <p:cNvCxnSpPr/>
          <p:nvPr/>
        </p:nvCxnSpPr>
        <p:spPr>
          <a:xfrm>
            <a:off x="6985000" y="4413250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12_033_text">
            <a:extLst>
              <a:ext uri="{FF2B5EF4-FFF2-40B4-BE49-F238E27FC236}">
                <a16:creationId xmlns:a16="http://schemas.microsoft.com/office/drawing/2014/main" id="{E1EAE702-0A3E-7065-E308-70D62A7B406A}"/>
              </a:ext>
            </a:extLst>
          </p:cNvPr>
          <p:cNvSpPr txBox="1"/>
          <p:nvPr/>
        </p:nvSpPr>
        <p:spPr>
          <a:xfrm>
            <a:off x="6502400" y="431165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0.01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5" name="S12_034_line">
            <a:extLst>
              <a:ext uri="{FF2B5EF4-FFF2-40B4-BE49-F238E27FC236}">
                <a16:creationId xmlns:a16="http://schemas.microsoft.com/office/drawing/2014/main" id="{35FCCAED-31F3-B731-DF35-1BB002C55176}"/>
              </a:ext>
            </a:extLst>
          </p:cNvPr>
          <p:cNvCxnSpPr/>
          <p:nvPr/>
        </p:nvCxnSpPr>
        <p:spPr>
          <a:xfrm>
            <a:off x="7035800" y="4413250"/>
            <a:ext cx="4343400" cy="0"/>
          </a:xfrm>
          <a:prstGeom prst="straightConnector1">
            <a:avLst/>
          </a:prstGeom>
          <a:ln w="6350">
            <a:solidFill>
              <a:srgbClr val="E8ED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12_035_line">
            <a:extLst>
              <a:ext uri="{FF2B5EF4-FFF2-40B4-BE49-F238E27FC236}">
                <a16:creationId xmlns:a16="http://schemas.microsoft.com/office/drawing/2014/main" id="{AA00517A-2605-4034-3FA7-60CD0A8B9D82}"/>
              </a:ext>
            </a:extLst>
          </p:cNvPr>
          <p:cNvCxnSpPr/>
          <p:nvPr/>
        </p:nvCxnSpPr>
        <p:spPr>
          <a:xfrm>
            <a:off x="6985000" y="3683000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12_036_text">
            <a:extLst>
              <a:ext uri="{FF2B5EF4-FFF2-40B4-BE49-F238E27FC236}">
                <a16:creationId xmlns:a16="http://schemas.microsoft.com/office/drawing/2014/main" id="{D85C99D4-D1FA-F20F-2CE0-CDE75658BA80}"/>
              </a:ext>
            </a:extLst>
          </p:cNvPr>
          <p:cNvSpPr txBox="1"/>
          <p:nvPr/>
        </p:nvSpPr>
        <p:spPr>
          <a:xfrm>
            <a:off x="6502400" y="35814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0.02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8" name="S12_037_line">
            <a:extLst>
              <a:ext uri="{FF2B5EF4-FFF2-40B4-BE49-F238E27FC236}">
                <a16:creationId xmlns:a16="http://schemas.microsoft.com/office/drawing/2014/main" id="{1E7D4DD7-CAF9-4CAD-1359-E811F13CE63B}"/>
              </a:ext>
            </a:extLst>
          </p:cNvPr>
          <p:cNvCxnSpPr/>
          <p:nvPr/>
        </p:nvCxnSpPr>
        <p:spPr>
          <a:xfrm>
            <a:off x="7035800" y="3683000"/>
            <a:ext cx="4343400" cy="0"/>
          </a:xfrm>
          <a:prstGeom prst="straightConnector1">
            <a:avLst/>
          </a:prstGeom>
          <a:ln w="6350">
            <a:solidFill>
              <a:srgbClr val="E8ED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12_038_line">
            <a:extLst>
              <a:ext uri="{FF2B5EF4-FFF2-40B4-BE49-F238E27FC236}">
                <a16:creationId xmlns:a16="http://schemas.microsoft.com/office/drawing/2014/main" id="{AD82E71D-5932-ACD4-41EC-1AE162F2AE16}"/>
              </a:ext>
            </a:extLst>
          </p:cNvPr>
          <p:cNvCxnSpPr/>
          <p:nvPr/>
        </p:nvCxnSpPr>
        <p:spPr>
          <a:xfrm>
            <a:off x="6985000" y="2952750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12_039_text">
            <a:extLst>
              <a:ext uri="{FF2B5EF4-FFF2-40B4-BE49-F238E27FC236}">
                <a16:creationId xmlns:a16="http://schemas.microsoft.com/office/drawing/2014/main" id="{B8EA32E6-9FC3-5384-8F27-E3A8C2E698AD}"/>
              </a:ext>
            </a:extLst>
          </p:cNvPr>
          <p:cNvSpPr txBox="1"/>
          <p:nvPr/>
        </p:nvSpPr>
        <p:spPr>
          <a:xfrm>
            <a:off x="6502400" y="285115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0.03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41" name="S12_040_line">
            <a:extLst>
              <a:ext uri="{FF2B5EF4-FFF2-40B4-BE49-F238E27FC236}">
                <a16:creationId xmlns:a16="http://schemas.microsoft.com/office/drawing/2014/main" id="{4D294C1A-5B67-08B4-CE5F-B6F1CF8BC15E}"/>
              </a:ext>
            </a:extLst>
          </p:cNvPr>
          <p:cNvCxnSpPr/>
          <p:nvPr/>
        </p:nvCxnSpPr>
        <p:spPr>
          <a:xfrm>
            <a:off x="7035800" y="2952750"/>
            <a:ext cx="4343400" cy="0"/>
          </a:xfrm>
          <a:prstGeom prst="straightConnector1">
            <a:avLst/>
          </a:prstGeom>
          <a:ln w="6350">
            <a:solidFill>
              <a:srgbClr val="E8ED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12_041_line">
            <a:extLst>
              <a:ext uri="{FF2B5EF4-FFF2-40B4-BE49-F238E27FC236}">
                <a16:creationId xmlns:a16="http://schemas.microsoft.com/office/drawing/2014/main" id="{463EACA1-E927-BE16-7076-ECCCA7180358}"/>
              </a:ext>
            </a:extLst>
          </p:cNvPr>
          <p:cNvCxnSpPr/>
          <p:nvPr/>
        </p:nvCxnSpPr>
        <p:spPr>
          <a:xfrm>
            <a:off x="6985000" y="2222500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12_042_text">
            <a:extLst>
              <a:ext uri="{FF2B5EF4-FFF2-40B4-BE49-F238E27FC236}">
                <a16:creationId xmlns:a16="http://schemas.microsoft.com/office/drawing/2014/main" id="{13B80BA0-E796-5617-8F0F-79DBADD2CEED}"/>
              </a:ext>
            </a:extLst>
          </p:cNvPr>
          <p:cNvSpPr txBox="1"/>
          <p:nvPr/>
        </p:nvSpPr>
        <p:spPr>
          <a:xfrm>
            <a:off x="6502400" y="21209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0.04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44" name="S12_043_line">
            <a:extLst>
              <a:ext uri="{FF2B5EF4-FFF2-40B4-BE49-F238E27FC236}">
                <a16:creationId xmlns:a16="http://schemas.microsoft.com/office/drawing/2014/main" id="{1E9B5719-629F-83F7-2F7B-88538C1BF87F}"/>
              </a:ext>
            </a:extLst>
          </p:cNvPr>
          <p:cNvCxnSpPr/>
          <p:nvPr/>
        </p:nvCxnSpPr>
        <p:spPr>
          <a:xfrm>
            <a:off x="7035800" y="2222500"/>
            <a:ext cx="4343400" cy="0"/>
          </a:xfrm>
          <a:prstGeom prst="straightConnector1">
            <a:avLst/>
          </a:prstGeom>
          <a:ln w="6350">
            <a:solidFill>
              <a:srgbClr val="E8ED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12_044_line">
            <a:extLst>
              <a:ext uri="{FF2B5EF4-FFF2-40B4-BE49-F238E27FC236}">
                <a16:creationId xmlns:a16="http://schemas.microsoft.com/office/drawing/2014/main" id="{42B9668E-A305-EF29-8E81-15A296F87F77}"/>
              </a:ext>
            </a:extLst>
          </p:cNvPr>
          <p:cNvCxnSpPr/>
          <p:nvPr/>
        </p:nvCxnSpPr>
        <p:spPr>
          <a:xfrm>
            <a:off x="7035800" y="2222500"/>
            <a:ext cx="0" cy="292100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12_045_line">
            <a:extLst>
              <a:ext uri="{FF2B5EF4-FFF2-40B4-BE49-F238E27FC236}">
                <a16:creationId xmlns:a16="http://schemas.microsoft.com/office/drawing/2014/main" id="{F99466B5-F170-81CF-C933-9D9902C14281}"/>
              </a:ext>
            </a:extLst>
          </p:cNvPr>
          <p:cNvCxnSpPr/>
          <p:nvPr/>
        </p:nvCxnSpPr>
        <p:spPr>
          <a:xfrm>
            <a:off x="7035800" y="5143500"/>
            <a:ext cx="43434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12_046_text">
            <a:extLst>
              <a:ext uri="{FF2B5EF4-FFF2-40B4-BE49-F238E27FC236}">
                <a16:creationId xmlns:a16="http://schemas.microsoft.com/office/drawing/2014/main" id="{FEAF5B66-8BCC-3587-6F86-AFB85A3FE2EA}"/>
              </a:ext>
            </a:extLst>
          </p:cNvPr>
          <p:cNvSpPr txBox="1"/>
          <p:nvPr/>
        </p:nvSpPr>
        <p:spPr>
          <a:xfrm>
            <a:off x="7035800" y="5270500"/>
            <a:ext cx="2171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Dense LS</a:t>
            </a:r>
            <a:endParaRPr lang="ko-KR" altLang="en-US" sz="12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8" name="S12_047_rect">
            <a:extLst>
              <a:ext uri="{FF2B5EF4-FFF2-40B4-BE49-F238E27FC236}">
                <a16:creationId xmlns:a16="http://schemas.microsoft.com/office/drawing/2014/main" id="{0679DD66-20A2-7298-FC94-26A61D69F55D}"/>
              </a:ext>
            </a:extLst>
          </p:cNvPr>
          <p:cNvSpPr/>
          <p:nvPr/>
        </p:nvSpPr>
        <p:spPr>
          <a:xfrm>
            <a:off x="7881620" y="3352505"/>
            <a:ext cx="480060" cy="1790995"/>
          </a:xfrm>
          <a:prstGeom prst="rect">
            <a:avLst/>
          </a:prstGeom>
          <a:solidFill>
            <a:srgbClr val="1B9E77"/>
          </a:solidFill>
          <a:ln w="7620">
            <a:solidFill>
              <a:srgbClr val="1B9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S12_048_text">
            <a:extLst>
              <a:ext uri="{FF2B5EF4-FFF2-40B4-BE49-F238E27FC236}">
                <a16:creationId xmlns:a16="http://schemas.microsoft.com/office/drawing/2014/main" id="{3CD6A623-9CC5-7B64-6FE5-1FDE3AE4EBE7}"/>
              </a:ext>
            </a:extLst>
          </p:cNvPr>
          <p:cNvSpPr txBox="1"/>
          <p:nvPr/>
        </p:nvSpPr>
        <p:spPr>
          <a:xfrm>
            <a:off x="7665720" y="3060405"/>
            <a:ext cx="1003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0.025</a:t>
            </a:r>
            <a:endParaRPr lang="ko-KR" altLang="en-US" sz="1200" b="1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0" name="S12_049_text">
            <a:extLst>
              <a:ext uri="{FF2B5EF4-FFF2-40B4-BE49-F238E27FC236}">
                <a16:creationId xmlns:a16="http://schemas.microsoft.com/office/drawing/2014/main" id="{1CA931EF-505B-ED21-A167-166890C65C96}"/>
              </a:ext>
            </a:extLst>
          </p:cNvPr>
          <p:cNvSpPr txBox="1"/>
          <p:nvPr/>
        </p:nvSpPr>
        <p:spPr>
          <a:xfrm>
            <a:off x="9207500" y="5270500"/>
            <a:ext cx="2171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</a:t>
            </a:r>
            <a:endParaRPr lang="ko-KR" altLang="en-US" sz="12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1" name="S12_050_rect">
            <a:extLst>
              <a:ext uri="{FF2B5EF4-FFF2-40B4-BE49-F238E27FC236}">
                <a16:creationId xmlns:a16="http://schemas.microsoft.com/office/drawing/2014/main" id="{45496A68-7601-6CD8-8F81-F4521F6A59AE}"/>
              </a:ext>
            </a:extLst>
          </p:cNvPr>
          <p:cNvSpPr/>
          <p:nvPr/>
        </p:nvSpPr>
        <p:spPr>
          <a:xfrm>
            <a:off x="10053320" y="3358237"/>
            <a:ext cx="480060" cy="1785263"/>
          </a:xfrm>
          <a:prstGeom prst="rect">
            <a:avLst/>
          </a:prstGeom>
          <a:solidFill>
            <a:srgbClr val="2874BA"/>
          </a:solidFill>
          <a:ln w="7620">
            <a:solidFill>
              <a:srgbClr val="2874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S12_051_text">
            <a:extLst>
              <a:ext uri="{FF2B5EF4-FFF2-40B4-BE49-F238E27FC236}">
                <a16:creationId xmlns:a16="http://schemas.microsoft.com/office/drawing/2014/main" id="{95EBC691-F9DB-A8DC-3351-F6FA82EDD7A0}"/>
              </a:ext>
            </a:extLst>
          </p:cNvPr>
          <p:cNvSpPr txBox="1"/>
          <p:nvPr/>
        </p:nvSpPr>
        <p:spPr>
          <a:xfrm>
            <a:off x="9837420" y="3066137"/>
            <a:ext cx="1003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0.024</a:t>
            </a:r>
            <a:endParaRPr lang="ko-KR" altLang="en-US" sz="12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53" name="S12_052_line">
            <a:extLst>
              <a:ext uri="{FF2B5EF4-FFF2-40B4-BE49-F238E27FC236}">
                <a16:creationId xmlns:a16="http://schemas.microsoft.com/office/drawing/2014/main" id="{BBD62BF7-8F24-6734-1544-9E2912144A64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12_053_text">
            <a:extLst>
              <a:ext uri="{FF2B5EF4-FFF2-40B4-BE49-F238E27FC236}">
                <a16:creationId xmlns:a16="http://schemas.microsoft.com/office/drawing/2014/main" id="{E112826D-2885-ED58-3C4A-91B54DB9DA31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Noise ×1 · held-out trajectories: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두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calibrated twin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모두 좋은 행동 재현 성능</a:t>
            </a:r>
          </a:p>
        </p:txBody>
      </p:sp>
    </p:spTree>
    <p:extLst>
      <p:ext uri="{BB962C8B-B14F-4D97-AF65-F5344CB8AC3E}">
        <p14:creationId xmlns:p14="http://schemas.microsoft.com/office/powerpoint/2010/main" val="1463116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_001_text">
            <a:extLst>
              <a:ext uri="{FF2B5EF4-FFF2-40B4-BE49-F238E27FC236}">
                <a16:creationId xmlns:a16="http://schemas.microsoft.com/office/drawing/2014/main" id="{2A246B4E-CB45-134D-8E5F-CD8C5E83AF9E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RESULTS · PHYSICAL ATTRIBUTION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13_002_text">
            <a:extLst>
              <a:ext uri="{FF2B5EF4-FFF2-40B4-BE49-F238E27FC236}">
                <a16:creationId xmlns:a16="http://schemas.microsoft.com/office/drawing/2014/main" id="{00491110-D465-E4E3-746F-C92E3D49F9DB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결과 ② 같은 움직임 뒤에 다른 물성 설명이 숨어 있다</a:t>
            </a:r>
          </a:p>
        </p:txBody>
      </p:sp>
      <p:cxnSp>
        <p:nvCxnSpPr>
          <p:cNvPr id="4" name="S13_003_line">
            <a:extLst>
              <a:ext uri="{FF2B5EF4-FFF2-40B4-BE49-F238E27FC236}">
                <a16:creationId xmlns:a16="http://schemas.microsoft.com/office/drawing/2014/main" id="{26E13112-AC02-EAAE-17BC-41051AEA8418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13_004_text">
            <a:extLst>
              <a:ext uri="{FF2B5EF4-FFF2-40B4-BE49-F238E27FC236}">
                <a16:creationId xmlns:a16="http://schemas.microsoft.com/office/drawing/2014/main" id="{31BDD822-805D-EC8F-09A8-ADA2C133548D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Table 2 · counterfactual.json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13_005_text">
            <a:extLst>
              <a:ext uri="{FF2B5EF4-FFF2-40B4-BE49-F238E27FC236}">
                <a16:creationId xmlns:a16="http://schemas.microsoft.com/office/drawing/2014/main" id="{D5EB7EB3-738D-91A4-C526-162269F8E538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13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8" name="S13_006_image">
            <a:extLst>
              <a:ext uri="{FF2B5EF4-FFF2-40B4-BE49-F238E27FC236}">
                <a16:creationId xmlns:a16="http://schemas.microsoft.com/office/drawing/2014/main" id="{15912026-3A71-44AC-E387-B4A131986D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803400"/>
            <a:ext cx="2286000" cy="2254250"/>
          </a:xfrm>
          <a:prstGeom prst="rect">
            <a:avLst/>
          </a:prstGeom>
        </p:spPr>
      </p:pic>
      <p:pic>
        <p:nvPicPr>
          <p:cNvPr id="10" name="S13_007_image">
            <a:extLst>
              <a:ext uri="{FF2B5EF4-FFF2-40B4-BE49-F238E27FC236}">
                <a16:creationId xmlns:a16="http://schemas.microsoft.com/office/drawing/2014/main" id="{37D30350-E58E-3014-519D-80179CA4832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803400"/>
            <a:ext cx="2286000" cy="2254250"/>
          </a:xfrm>
          <a:prstGeom prst="rect">
            <a:avLst/>
          </a:prstGeom>
        </p:spPr>
      </p:pic>
      <p:sp>
        <p:nvSpPr>
          <p:cNvPr id="11" name="S13_008_text">
            <a:extLst>
              <a:ext uri="{FF2B5EF4-FFF2-40B4-BE49-F238E27FC236}">
                <a16:creationId xmlns:a16="http://schemas.microsoft.com/office/drawing/2014/main" id="{2049089C-3E7A-32EA-9DEB-C44428DBA920}"/>
              </a:ext>
            </a:extLst>
          </p:cNvPr>
          <p:cNvSpPr txBox="1"/>
          <p:nvPr/>
        </p:nvSpPr>
        <p:spPr>
          <a:xfrm>
            <a:off x="571500" y="4216400"/>
            <a:ext cx="2209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Dense LS</a:t>
            </a:r>
            <a:endParaRPr lang="ko-KR" altLang="en-US" sz="2100" b="1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S13_009_text">
            <a:extLst>
              <a:ext uri="{FF2B5EF4-FFF2-40B4-BE49-F238E27FC236}">
                <a16:creationId xmlns:a16="http://schemas.microsoft.com/office/drawing/2014/main" id="{42B7B70D-C474-1630-F534-CB540B7FB975}"/>
              </a:ext>
            </a:extLst>
          </p:cNvPr>
          <p:cNvSpPr txBox="1"/>
          <p:nvPr/>
        </p:nvSpPr>
        <p:spPr>
          <a:xfrm>
            <a:off x="3098800" y="4216400"/>
            <a:ext cx="2209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</a:t>
            </a:r>
            <a:endParaRPr lang="ko-KR" altLang="en-US" sz="21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3" name="S13_010_line">
            <a:extLst>
              <a:ext uri="{FF2B5EF4-FFF2-40B4-BE49-F238E27FC236}">
                <a16:creationId xmlns:a16="http://schemas.microsoft.com/office/drawing/2014/main" id="{6FF129C4-88E5-0251-264D-BE7549D5C62A}"/>
              </a:ext>
            </a:extLst>
          </p:cNvPr>
          <p:cNvCxnSpPr/>
          <p:nvPr/>
        </p:nvCxnSpPr>
        <p:spPr>
          <a:xfrm>
            <a:off x="5727700" y="1930400"/>
            <a:ext cx="5854700" cy="0"/>
          </a:xfrm>
          <a:prstGeom prst="straightConnector1">
            <a:avLst/>
          </a:prstGeom>
          <a:ln w="12700">
            <a:solidFill>
              <a:srgbClr val="2032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13_011_text">
            <a:extLst>
              <a:ext uri="{FF2B5EF4-FFF2-40B4-BE49-F238E27FC236}">
                <a16:creationId xmlns:a16="http://schemas.microsoft.com/office/drawing/2014/main" id="{3D928238-EDC5-B56A-7476-48FF27E1A068}"/>
              </a:ext>
            </a:extLst>
          </p:cNvPr>
          <p:cNvSpPr txBox="1"/>
          <p:nvPr/>
        </p:nvSpPr>
        <p:spPr>
          <a:xfrm>
            <a:off x="5829300" y="2032000"/>
            <a:ext cx="2463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항목</a:t>
            </a:r>
          </a:p>
        </p:txBody>
      </p:sp>
      <p:sp>
        <p:nvSpPr>
          <p:cNvPr id="15" name="S13_012_text">
            <a:extLst>
              <a:ext uri="{FF2B5EF4-FFF2-40B4-BE49-F238E27FC236}">
                <a16:creationId xmlns:a16="http://schemas.microsoft.com/office/drawing/2014/main" id="{4D4BED01-E953-8B8A-DF01-E98E9099B869}"/>
              </a:ext>
            </a:extLst>
          </p:cNvPr>
          <p:cNvSpPr txBox="1"/>
          <p:nvPr/>
        </p:nvSpPr>
        <p:spPr>
          <a:xfrm>
            <a:off x="8496300" y="2032000"/>
            <a:ext cx="1320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Dense LS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S13_013_text">
            <a:extLst>
              <a:ext uri="{FF2B5EF4-FFF2-40B4-BE49-F238E27FC236}">
                <a16:creationId xmlns:a16="http://schemas.microsoft.com/office/drawing/2014/main" id="{0875C01B-362A-EF2C-5691-629FBF049FAB}"/>
              </a:ext>
            </a:extLst>
          </p:cNvPr>
          <p:cNvSpPr txBox="1"/>
          <p:nvPr/>
        </p:nvSpPr>
        <p:spPr>
          <a:xfrm>
            <a:off x="10020300" y="2032000"/>
            <a:ext cx="1460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7" name="S13_014_line">
            <a:extLst>
              <a:ext uri="{FF2B5EF4-FFF2-40B4-BE49-F238E27FC236}">
                <a16:creationId xmlns:a16="http://schemas.microsoft.com/office/drawing/2014/main" id="{3F971856-0A9C-C242-219D-C4199F47B09D}"/>
              </a:ext>
            </a:extLst>
          </p:cNvPr>
          <p:cNvCxnSpPr/>
          <p:nvPr/>
        </p:nvCxnSpPr>
        <p:spPr>
          <a:xfrm>
            <a:off x="5727700" y="2705100"/>
            <a:ext cx="5854700" cy="0"/>
          </a:xfrm>
          <a:prstGeom prst="straightConnector1">
            <a:avLst/>
          </a:prstGeom>
          <a:ln w="8890">
            <a:solidFill>
              <a:srgbClr val="2032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13_015_text">
            <a:extLst>
              <a:ext uri="{FF2B5EF4-FFF2-40B4-BE49-F238E27FC236}">
                <a16:creationId xmlns:a16="http://schemas.microsoft.com/office/drawing/2014/main" id="{808BEA19-7E90-E230-D376-4B673EE77573}"/>
              </a:ext>
            </a:extLst>
          </p:cNvPr>
          <p:cNvSpPr txBox="1"/>
          <p:nvPr/>
        </p:nvSpPr>
        <p:spPr>
          <a:xfrm>
            <a:off x="5829300" y="2819400"/>
            <a:ext cx="2463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 (true 0.8 kg)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S13_016_text">
            <a:extLst>
              <a:ext uri="{FF2B5EF4-FFF2-40B4-BE49-F238E27FC236}">
                <a16:creationId xmlns:a16="http://schemas.microsoft.com/office/drawing/2014/main" id="{3EAEE8D6-3FC1-5C29-AFDD-DB9EE9DD1D6E}"/>
              </a:ext>
            </a:extLst>
          </p:cNvPr>
          <p:cNvSpPr txBox="1"/>
          <p:nvPr/>
        </p:nvSpPr>
        <p:spPr>
          <a:xfrm>
            <a:off x="8496300" y="2819400"/>
            <a:ext cx="1320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0.130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S13_017_text">
            <a:extLst>
              <a:ext uri="{FF2B5EF4-FFF2-40B4-BE49-F238E27FC236}">
                <a16:creationId xmlns:a16="http://schemas.microsoft.com/office/drawing/2014/main" id="{35D4FFF8-62DC-27E2-CBE4-1D78F31AC978}"/>
              </a:ext>
            </a:extLst>
          </p:cNvPr>
          <p:cNvSpPr txBox="1"/>
          <p:nvPr/>
        </p:nvSpPr>
        <p:spPr>
          <a:xfrm>
            <a:off x="10020300" y="2819400"/>
            <a:ext cx="146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0.794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1" name="S13_018_line">
            <a:extLst>
              <a:ext uri="{FF2B5EF4-FFF2-40B4-BE49-F238E27FC236}">
                <a16:creationId xmlns:a16="http://schemas.microsoft.com/office/drawing/2014/main" id="{E88A7F15-A0DA-5602-9512-FF56C17032F1}"/>
              </a:ext>
            </a:extLst>
          </p:cNvPr>
          <p:cNvCxnSpPr/>
          <p:nvPr/>
        </p:nvCxnSpPr>
        <p:spPr>
          <a:xfrm>
            <a:off x="5727700" y="3479800"/>
            <a:ext cx="58547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13_019_text">
            <a:extLst>
              <a:ext uri="{FF2B5EF4-FFF2-40B4-BE49-F238E27FC236}">
                <a16:creationId xmlns:a16="http://schemas.microsoft.com/office/drawing/2014/main" id="{4304BB23-AB55-BF3F-F0EE-AE6D262651F2}"/>
              </a:ext>
            </a:extLst>
          </p:cNvPr>
          <p:cNvSpPr txBox="1"/>
          <p:nvPr/>
        </p:nvSpPr>
        <p:spPr>
          <a:xfrm>
            <a:off x="5829300" y="3594100"/>
            <a:ext cx="2463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 CoM error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S13_020_text">
            <a:extLst>
              <a:ext uri="{FF2B5EF4-FFF2-40B4-BE49-F238E27FC236}">
                <a16:creationId xmlns:a16="http://schemas.microsoft.com/office/drawing/2014/main" id="{C40C9319-BF54-6584-959C-732CD42E5E1A}"/>
              </a:ext>
            </a:extLst>
          </p:cNvPr>
          <p:cNvSpPr txBox="1"/>
          <p:nvPr/>
        </p:nvSpPr>
        <p:spPr>
          <a:xfrm>
            <a:off x="8496300" y="3594100"/>
            <a:ext cx="1320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368 mm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4" name="S13_021_text">
            <a:extLst>
              <a:ext uri="{FF2B5EF4-FFF2-40B4-BE49-F238E27FC236}">
                <a16:creationId xmlns:a16="http://schemas.microsoft.com/office/drawing/2014/main" id="{A7D42973-55A4-D5AB-BA84-BE3985987E23}"/>
              </a:ext>
            </a:extLst>
          </p:cNvPr>
          <p:cNvSpPr txBox="1"/>
          <p:nvPr/>
        </p:nvSpPr>
        <p:spPr>
          <a:xfrm>
            <a:off x="10020300" y="3594100"/>
            <a:ext cx="146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1.3 mm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5" name="S13_022_line">
            <a:extLst>
              <a:ext uri="{FF2B5EF4-FFF2-40B4-BE49-F238E27FC236}">
                <a16:creationId xmlns:a16="http://schemas.microsoft.com/office/drawing/2014/main" id="{435EB188-3473-D877-C37C-ED2047888ED9}"/>
              </a:ext>
            </a:extLst>
          </p:cNvPr>
          <p:cNvCxnSpPr/>
          <p:nvPr/>
        </p:nvCxnSpPr>
        <p:spPr>
          <a:xfrm>
            <a:off x="5727700" y="4254500"/>
            <a:ext cx="58547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13_023_text">
            <a:extLst>
              <a:ext uri="{FF2B5EF4-FFF2-40B4-BE49-F238E27FC236}">
                <a16:creationId xmlns:a16="http://schemas.microsoft.com/office/drawing/2014/main" id="{BFC50921-806A-E3E9-89C0-7B23437C96BA}"/>
              </a:ext>
            </a:extLst>
          </p:cNvPr>
          <p:cNvSpPr txBox="1"/>
          <p:nvPr/>
        </p:nvSpPr>
        <p:spPr>
          <a:xfrm>
            <a:off x="5829300" y="4368800"/>
            <a:ext cx="2463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선택 그룹 수</a:t>
            </a:r>
          </a:p>
        </p:txBody>
      </p:sp>
      <p:sp>
        <p:nvSpPr>
          <p:cNvPr id="27" name="S13_024_text">
            <a:extLst>
              <a:ext uri="{FF2B5EF4-FFF2-40B4-BE49-F238E27FC236}">
                <a16:creationId xmlns:a16="http://schemas.microsoft.com/office/drawing/2014/main" id="{37C87EAA-8BD2-843C-8FED-D6F22099832F}"/>
              </a:ext>
            </a:extLst>
          </p:cNvPr>
          <p:cNvSpPr txBox="1"/>
          <p:nvPr/>
        </p:nvSpPr>
        <p:spPr>
          <a:xfrm>
            <a:off x="8496300" y="4368800"/>
            <a:ext cx="1320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8" name="S13_025_text">
            <a:extLst>
              <a:ext uri="{FF2B5EF4-FFF2-40B4-BE49-F238E27FC236}">
                <a16:creationId xmlns:a16="http://schemas.microsoft.com/office/drawing/2014/main" id="{D3A92BD9-A33B-EA81-A0A9-FD6DD653EA41}"/>
              </a:ext>
            </a:extLst>
          </p:cNvPr>
          <p:cNvSpPr txBox="1"/>
          <p:nvPr/>
        </p:nvSpPr>
        <p:spPr>
          <a:xfrm>
            <a:off x="10020300" y="4368800"/>
            <a:ext cx="146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9" name="S13_026_line">
            <a:extLst>
              <a:ext uri="{FF2B5EF4-FFF2-40B4-BE49-F238E27FC236}">
                <a16:creationId xmlns:a16="http://schemas.microsoft.com/office/drawing/2014/main" id="{C2F93FB2-522C-A521-4F63-54499AD4CE0B}"/>
              </a:ext>
            </a:extLst>
          </p:cNvPr>
          <p:cNvCxnSpPr/>
          <p:nvPr/>
        </p:nvCxnSpPr>
        <p:spPr>
          <a:xfrm>
            <a:off x="5727700" y="5029200"/>
            <a:ext cx="58547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13_027_text">
            <a:extLst>
              <a:ext uri="{FF2B5EF4-FFF2-40B4-BE49-F238E27FC236}">
                <a16:creationId xmlns:a16="http://schemas.microsoft.com/office/drawing/2014/main" id="{3AD8D9B2-2C84-C1BF-112B-17D835AB8EEE}"/>
              </a:ext>
            </a:extLst>
          </p:cNvPr>
          <p:cNvSpPr txBox="1"/>
          <p:nvPr/>
        </p:nvSpPr>
        <p:spPr>
          <a:xfrm>
            <a:off x="647700" y="5270500"/>
            <a:ext cx="10896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물리 일관성 제약을 넣은 </a:t>
            </a:r>
            <a:r>
              <a:rPr lang="en-US" altLang="ko-KR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Dense LMI</a:t>
            </a:r>
            <a:r>
              <a:rPr lang="ko-KR" altLang="en-US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 </a:t>
            </a:r>
            <a:r>
              <a:rPr lang="en-US" altLang="ko-KR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 ≈ 0.130 kg</a:t>
            </a:r>
            <a:endParaRPr lang="ko-KR" altLang="en-US" sz="2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1" name="S13_028_line">
            <a:extLst>
              <a:ext uri="{FF2B5EF4-FFF2-40B4-BE49-F238E27FC236}">
                <a16:creationId xmlns:a16="http://schemas.microsoft.com/office/drawing/2014/main" id="{81B899C8-A029-1488-E5D5-E6DEA27143F3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13_029_text">
            <a:extLst>
              <a:ext uri="{FF2B5EF4-FFF2-40B4-BE49-F238E27FC236}">
                <a16:creationId xmlns:a16="http://schemas.microsoft.com/office/drawing/2014/main" id="{AEDA38DC-EECF-6BC9-D150-A9148CA520E8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행동 오차가 아니라 “보정이 어느 부품에 배치되는가”에서 차이가 난다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6504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_001_text">
            <a:extLst>
              <a:ext uri="{FF2B5EF4-FFF2-40B4-BE49-F238E27FC236}">
                <a16:creationId xmlns:a16="http://schemas.microsoft.com/office/drawing/2014/main" id="{7A7918FA-EE01-4B36-66C5-2049C57BB1B4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RESULTS · VIDEO 2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14_002_text">
            <a:extLst>
              <a:ext uri="{FF2B5EF4-FFF2-40B4-BE49-F238E27FC236}">
                <a16:creationId xmlns:a16="http://schemas.microsoft.com/office/drawing/2014/main" id="{A91DB2F6-C6D6-BC2F-8319-469D4DFD7832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영상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payload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제거한 뒤 같은 궤적을 추종한다</a:t>
            </a:r>
          </a:p>
        </p:txBody>
      </p:sp>
      <p:cxnSp>
        <p:nvCxnSpPr>
          <p:cNvPr id="4" name="S14_003_line">
            <a:extLst>
              <a:ext uri="{FF2B5EF4-FFF2-40B4-BE49-F238E27FC236}">
                <a16:creationId xmlns:a16="http://schemas.microsoft.com/office/drawing/2014/main" id="{24FA6798-5C94-FF84-9FAF-4833D24267E3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14_004_text">
            <a:extLst>
              <a:ext uri="{FF2B5EF4-FFF2-40B4-BE49-F238E27FC236}">
                <a16:creationId xmlns:a16="http://schemas.microsoft.com/office/drawing/2014/main" id="{07D3A2B9-E988-FC37-9D5E-687CF447776B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counterfactual saved fits → seed 11 replay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14_005_text">
            <a:extLst>
              <a:ext uri="{FF2B5EF4-FFF2-40B4-BE49-F238E27FC236}">
                <a16:creationId xmlns:a16="http://schemas.microsoft.com/office/drawing/2014/main" id="{0462ECB4-C809-B0B0-7045-1E09D5A9E8F1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14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7" name="S14_006_video">
            <a:hlinkClick r:id="" action="ppaction://media"/>
            <a:extLst>
              <a:ext uri="{FF2B5EF4-FFF2-40B4-BE49-F238E27FC236}">
                <a16:creationId xmlns:a16="http://schemas.microsoft.com/office/drawing/2014/main" id="{B4B70CDA-3DB7-D233-FE73-A41D58069D7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3100" y="1320800"/>
            <a:ext cx="10845800" cy="5021204"/>
          </a:xfrm>
          <a:prstGeom prst="rect">
            <a:avLst/>
          </a:prstGeom>
        </p:spPr>
      </p:pic>
      <p:sp>
        <p:nvSpPr>
          <p:cNvPr id="8" name="S14_007_text">
            <a:extLst>
              <a:ext uri="{FF2B5EF4-FFF2-40B4-BE49-F238E27FC236}">
                <a16:creationId xmlns:a16="http://schemas.microsoft.com/office/drawing/2014/main" id="{16D3C8EB-89D3-670C-100C-9FD2ECFB1589}"/>
              </a:ext>
            </a:extLst>
          </p:cNvPr>
          <p:cNvSpPr txBox="1"/>
          <p:nvPr/>
        </p:nvSpPr>
        <p:spPr>
          <a:xfrm>
            <a:off x="546100" y="6362700"/>
            <a:ext cx="11112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목표 궤적</a:t>
            </a:r>
            <a:r>
              <a:rPr lang="en-US" altLang="ko-KR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·PD </a:t>
            </a:r>
            <a:r>
              <a:rPr lang="ko-KR" altLang="en-US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제어기 </a:t>
            </a:r>
            <a:r>
              <a:rPr lang="en-US" altLang="ko-KR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재식별 없음 </a:t>
            </a:r>
            <a:r>
              <a:rPr lang="en-US" altLang="ko-KR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아래 곡선은 실제 </a:t>
            </a:r>
            <a:r>
              <a:rPr lang="en-US" altLang="ko-KR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TCP </a:t>
            </a:r>
            <a:r>
              <a:rPr lang="ko-KR" altLang="en-US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오차</a:t>
            </a:r>
            <a:r>
              <a:rPr lang="en-US" altLang="ko-KR" sz="115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(mm)</a:t>
            </a:r>
            <a:endParaRPr lang="ko-KR" altLang="en-US" sz="115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173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_001_text">
            <a:extLst>
              <a:ext uri="{FF2B5EF4-FFF2-40B4-BE49-F238E27FC236}">
                <a16:creationId xmlns:a16="http://schemas.microsoft.com/office/drawing/2014/main" id="{5255C3DB-308E-8916-D5C0-7CFB24AC8D74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RESULTS · EDIT TEST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15_002_text">
            <a:extLst>
              <a:ext uri="{FF2B5EF4-FFF2-40B4-BE49-F238E27FC236}">
                <a16:creationId xmlns:a16="http://schemas.microsoft.com/office/drawing/2014/main" id="{3ABD1E5A-E791-89C4-CB8B-21E4B6829DD0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결과 ③ 도구를 바꾸면 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attribution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실용적 차이가 드러난다</a:t>
            </a:r>
          </a:p>
        </p:txBody>
      </p:sp>
      <p:cxnSp>
        <p:nvCxnSpPr>
          <p:cNvPr id="4" name="S15_003_line">
            <a:extLst>
              <a:ext uri="{FF2B5EF4-FFF2-40B4-BE49-F238E27FC236}">
                <a16:creationId xmlns:a16="http://schemas.microsoft.com/office/drawing/2014/main" id="{FE265ED0-C60A-192B-C252-4085AAB5D90D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15_004_text">
            <a:extLst>
              <a:ext uri="{FF2B5EF4-FFF2-40B4-BE49-F238E27FC236}">
                <a16:creationId xmlns:a16="http://schemas.microsoft.com/office/drawing/2014/main" id="{29EA5B99-F7F2-2A65-88F6-0AF474A5D277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Table 3 · counterfactual.json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15_005_text">
            <a:extLst>
              <a:ext uri="{FF2B5EF4-FFF2-40B4-BE49-F238E27FC236}">
                <a16:creationId xmlns:a16="http://schemas.microsoft.com/office/drawing/2014/main" id="{882D0150-C609-B98A-2669-0F0F9C3B4783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15_006_text">
            <a:extLst>
              <a:ext uri="{FF2B5EF4-FFF2-40B4-BE49-F238E27FC236}">
                <a16:creationId xmlns:a16="http://schemas.microsoft.com/office/drawing/2014/main" id="{C58B88E7-1E80-E418-8EA3-B72098A7789E}"/>
              </a:ext>
            </a:extLst>
          </p:cNvPr>
          <p:cNvSpPr txBox="1"/>
          <p:nvPr/>
        </p:nvSpPr>
        <p:spPr>
          <a:xfrm>
            <a:off x="558800" y="1879600"/>
            <a:ext cx="774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Replay TCP RMSE (mm; log)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8" name="S15_007_line">
            <a:extLst>
              <a:ext uri="{FF2B5EF4-FFF2-40B4-BE49-F238E27FC236}">
                <a16:creationId xmlns:a16="http://schemas.microsoft.com/office/drawing/2014/main" id="{BFD8E501-25DC-0F25-68F4-141F6F1BC999}"/>
              </a:ext>
            </a:extLst>
          </p:cNvPr>
          <p:cNvCxnSpPr/>
          <p:nvPr/>
        </p:nvCxnSpPr>
        <p:spPr>
          <a:xfrm>
            <a:off x="1041400" y="5346700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15_008_text">
            <a:extLst>
              <a:ext uri="{FF2B5EF4-FFF2-40B4-BE49-F238E27FC236}">
                <a16:creationId xmlns:a16="http://schemas.microsoft.com/office/drawing/2014/main" id="{7BF932A3-6AE7-7BB1-3298-B48BF7089617}"/>
              </a:ext>
            </a:extLst>
          </p:cNvPr>
          <p:cNvSpPr txBox="1"/>
          <p:nvPr/>
        </p:nvSpPr>
        <p:spPr>
          <a:xfrm>
            <a:off x="558800" y="52451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0.01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0" name="S15_009_line">
            <a:extLst>
              <a:ext uri="{FF2B5EF4-FFF2-40B4-BE49-F238E27FC236}">
                <a16:creationId xmlns:a16="http://schemas.microsoft.com/office/drawing/2014/main" id="{CD0B65A0-B6C4-CE43-FBC0-8E9CB6945E4D}"/>
              </a:ext>
            </a:extLst>
          </p:cNvPr>
          <p:cNvCxnSpPr/>
          <p:nvPr/>
        </p:nvCxnSpPr>
        <p:spPr>
          <a:xfrm>
            <a:off x="1041400" y="4492027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15_010_text">
            <a:extLst>
              <a:ext uri="{FF2B5EF4-FFF2-40B4-BE49-F238E27FC236}">
                <a16:creationId xmlns:a16="http://schemas.microsoft.com/office/drawing/2014/main" id="{93E846FF-5F18-6C82-9E62-A408B23CBFE1}"/>
              </a:ext>
            </a:extLst>
          </p:cNvPr>
          <p:cNvSpPr txBox="1"/>
          <p:nvPr/>
        </p:nvSpPr>
        <p:spPr>
          <a:xfrm>
            <a:off x="558800" y="4390427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0.1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2" name="S15_011_line">
            <a:extLst>
              <a:ext uri="{FF2B5EF4-FFF2-40B4-BE49-F238E27FC236}">
                <a16:creationId xmlns:a16="http://schemas.microsoft.com/office/drawing/2014/main" id="{F87B1C20-7AFD-DD81-E87F-CC78D142B286}"/>
              </a:ext>
            </a:extLst>
          </p:cNvPr>
          <p:cNvCxnSpPr/>
          <p:nvPr/>
        </p:nvCxnSpPr>
        <p:spPr>
          <a:xfrm>
            <a:off x="1092200" y="4492027"/>
            <a:ext cx="7086600" cy="0"/>
          </a:xfrm>
          <a:prstGeom prst="straightConnector1">
            <a:avLst/>
          </a:prstGeom>
          <a:ln w="6350">
            <a:solidFill>
              <a:srgbClr val="E8ED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15_012_line">
            <a:extLst>
              <a:ext uri="{FF2B5EF4-FFF2-40B4-BE49-F238E27FC236}">
                <a16:creationId xmlns:a16="http://schemas.microsoft.com/office/drawing/2014/main" id="{F0328730-7719-CC12-6F38-945AA5E7D28F}"/>
              </a:ext>
            </a:extLst>
          </p:cNvPr>
          <p:cNvCxnSpPr/>
          <p:nvPr/>
        </p:nvCxnSpPr>
        <p:spPr>
          <a:xfrm>
            <a:off x="1041400" y="3637355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15_013_text">
            <a:extLst>
              <a:ext uri="{FF2B5EF4-FFF2-40B4-BE49-F238E27FC236}">
                <a16:creationId xmlns:a16="http://schemas.microsoft.com/office/drawing/2014/main" id="{C5123F84-F8CF-80ED-B5B5-293994362731}"/>
              </a:ext>
            </a:extLst>
          </p:cNvPr>
          <p:cNvSpPr txBox="1"/>
          <p:nvPr/>
        </p:nvSpPr>
        <p:spPr>
          <a:xfrm>
            <a:off x="558800" y="3535755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5" name="S15_014_line">
            <a:extLst>
              <a:ext uri="{FF2B5EF4-FFF2-40B4-BE49-F238E27FC236}">
                <a16:creationId xmlns:a16="http://schemas.microsoft.com/office/drawing/2014/main" id="{A90A4BBC-30FE-A360-6BBF-0C8B028F1D5E}"/>
              </a:ext>
            </a:extLst>
          </p:cNvPr>
          <p:cNvCxnSpPr/>
          <p:nvPr/>
        </p:nvCxnSpPr>
        <p:spPr>
          <a:xfrm>
            <a:off x="1092200" y="3637355"/>
            <a:ext cx="7086600" cy="0"/>
          </a:xfrm>
          <a:prstGeom prst="straightConnector1">
            <a:avLst/>
          </a:prstGeom>
          <a:ln w="6350">
            <a:solidFill>
              <a:srgbClr val="E8ED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15_015_line">
            <a:extLst>
              <a:ext uri="{FF2B5EF4-FFF2-40B4-BE49-F238E27FC236}">
                <a16:creationId xmlns:a16="http://schemas.microsoft.com/office/drawing/2014/main" id="{0DBD01D5-D35F-401B-0BF9-6BBC5D67B193}"/>
              </a:ext>
            </a:extLst>
          </p:cNvPr>
          <p:cNvCxnSpPr/>
          <p:nvPr/>
        </p:nvCxnSpPr>
        <p:spPr>
          <a:xfrm>
            <a:off x="1041400" y="2782682"/>
            <a:ext cx="508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15_016_text">
            <a:extLst>
              <a:ext uri="{FF2B5EF4-FFF2-40B4-BE49-F238E27FC236}">
                <a16:creationId xmlns:a16="http://schemas.microsoft.com/office/drawing/2014/main" id="{6D23B5A5-2D15-AFB7-EA0B-FCA26B3A3141}"/>
              </a:ext>
            </a:extLst>
          </p:cNvPr>
          <p:cNvSpPr txBox="1"/>
          <p:nvPr/>
        </p:nvSpPr>
        <p:spPr>
          <a:xfrm>
            <a:off x="558800" y="2681082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1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</a:t>
            </a:r>
            <a:endParaRPr lang="ko-KR" altLang="en-US" sz="11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8" name="S15_017_line">
            <a:extLst>
              <a:ext uri="{FF2B5EF4-FFF2-40B4-BE49-F238E27FC236}">
                <a16:creationId xmlns:a16="http://schemas.microsoft.com/office/drawing/2014/main" id="{9764207C-5038-8AAF-7083-769D6E91A9F9}"/>
              </a:ext>
            </a:extLst>
          </p:cNvPr>
          <p:cNvCxnSpPr/>
          <p:nvPr/>
        </p:nvCxnSpPr>
        <p:spPr>
          <a:xfrm>
            <a:off x="1092200" y="2782682"/>
            <a:ext cx="7086600" cy="0"/>
          </a:xfrm>
          <a:prstGeom prst="straightConnector1">
            <a:avLst/>
          </a:prstGeom>
          <a:ln w="6350">
            <a:solidFill>
              <a:srgbClr val="E8ED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15_018_line">
            <a:extLst>
              <a:ext uri="{FF2B5EF4-FFF2-40B4-BE49-F238E27FC236}">
                <a16:creationId xmlns:a16="http://schemas.microsoft.com/office/drawing/2014/main" id="{84FDBF19-B579-DE44-68E2-307E0FA0A8E4}"/>
              </a:ext>
            </a:extLst>
          </p:cNvPr>
          <p:cNvCxnSpPr/>
          <p:nvPr/>
        </p:nvCxnSpPr>
        <p:spPr>
          <a:xfrm>
            <a:off x="1092200" y="2374900"/>
            <a:ext cx="0" cy="297180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15_019_line">
            <a:extLst>
              <a:ext uri="{FF2B5EF4-FFF2-40B4-BE49-F238E27FC236}">
                <a16:creationId xmlns:a16="http://schemas.microsoft.com/office/drawing/2014/main" id="{063695AC-4FFB-8392-41D6-66CC16906FAD}"/>
              </a:ext>
            </a:extLst>
          </p:cNvPr>
          <p:cNvCxnSpPr/>
          <p:nvPr/>
        </p:nvCxnSpPr>
        <p:spPr>
          <a:xfrm>
            <a:off x="1092200" y="5346700"/>
            <a:ext cx="7086600" cy="0"/>
          </a:xfrm>
          <a:prstGeom prst="straightConnector1">
            <a:avLst/>
          </a:prstGeom>
          <a:ln w="10160">
            <a:solidFill>
              <a:srgbClr val="6575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15_020_text">
            <a:extLst>
              <a:ext uri="{FF2B5EF4-FFF2-40B4-BE49-F238E27FC236}">
                <a16:creationId xmlns:a16="http://schemas.microsoft.com/office/drawing/2014/main" id="{30639CC0-B55D-ABE0-68ED-CE1C2898A108}"/>
              </a:ext>
            </a:extLst>
          </p:cNvPr>
          <p:cNvSpPr txBox="1"/>
          <p:nvPr/>
        </p:nvSpPr>
        <p:spPr>
          <a:xfrm>
            <a:off x="1092200" y="5473700"/>
            <a:ext cx="2362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기존 </a:t>
            </a:r>
            <a:r>
              <a:rPr lang="en-US" altLang="ko-KR" sz="12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</a:t>
            </a:r>
            <a:endParaRPr lang="ko-KR" altLang="en-US" sz="12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S15_021_rect">
            <a:extLst>
              <a:ext uri="{FF2B5EF4-FFF2-40B4-BE49-F238E27FC236}">
                <a16:creationId xmlns:a16="http://schemas.microsoft.com/office/drawing/2014/main" id="{BBADEDEB-1B27-CDF3-BA35-546E7708DD94}"/>
              </a:ext>
            </a:extLst>
          </p:cNvPr>
          <p:cNvSpPr/>
          <p:nvPr/>
        </p:nvSpPr>
        <p:spPr>
          <a:xfrm>
            <a:off x="1747520" y="4977550"/>
            <a:ext cx="480060" cy="369150"/>
          </a:xfrm>
          <a:prstGeom prst="rect">
            <a:avLst/>
          </a:prstGeom>
          <a:solidFill>
            <a:srgbClr val="1B9E77"/>
          </a:solidFill>
          <a:ln w="7620">
            <a:solidFill>
              <a:srgbClr val="1B9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S15_022_text">
            <a:extLst>
              <a:ext uri="{FF2B5EF4-FFF2-40B4-BE49-F238E27FC236}">
                <a16:creationId xmlns:a16="http://schemas.microsoft.com/office/drawing/2014/main" id="{9D489D41-AF19-E805-2D98-EBC1A52FA81A}"/>
              </a:ext>
            </a:extLst>
          </p:cNvPr>
          <p:cNvSpPr txBox="1"/>
          <p:nvPr/>
        </p:nvSpPr>
        <p:spPr>
          <a:xfrm>
            <a:off x="1531620" y="4685450"/>
            <a:ext cx="1003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0.027</a:t>
            </a:r>
            <a:endParaRPr lang="ko-KR" altLang="en-US" sz="1200" b="1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4" name="S15_023_rect">
            <a:extLst>
              <a:ext uri="{FF2B5EF4-FFF2-40B4-BE49-F238E27FC236}">
                <a16:creationId xmlns:a16="http://schemas.microsoft.com/office/drawing/2014/main" id="{2E3FAC62-A3D4-F787-9E21-80CA37BA973C}"/>
              </a:ext>
            </a:extLst>
          </p:cNvPr>
          <p:cNvSpPr/>
          <p:nvPr/>
        </p:nvSpPr>
        <p:spPr>
          <a:xfrm>
            <a:off x="2319020" y="4944023"/>
            <a:ext cx="480060" cy="402677"/>
          </a:xfrm>
          <a:prstGeom prst="rect">
            <a:avLst/>
          </a:prstGeom>
          <a:solidFill>
            <a:srgbClr val="2874BA"/>
          </a:solidFill>
          <a:ln w="7620">
            <a:solidFill>
              <a:srgbClr val="2874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S15_024_text">
            <a:extLst>
              <a:ext uri="{FF2B5EF4-FFF2-40B4-BE49-F238E27FC236}">
                <a16:creationId xmlns:a16="http://schemas.microsoft.com/office/drawing/2014/main" id="{0CF495AC-3A99-061D-ADF0-9BC720A7DCB5}"/>
              </a:ext>
            </a:extLst>
          </p:cNvPr>
          <p:cNvSpPr txBox="1"/>
          <p:nvPr/>
        </p:nvSpPr>
        <p:spPr>
          <a:xfrm>
            <a:off x="2103120" y="4651923"/>
            <a:ext cx="1003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0.030</a:t>
            </a:r>
            <a:endParaRPr lang="ko-KR" altLang="en-US" sz="12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S15_025_text">
            <a:extLst>
              <a:ext uri="{FF2B5EF4-FFF2-40B4-BE49-F238E27FC236}">
                <a16:creationId xmlns:a16="http://schemas.microsoft.com/office/drawing/2014/main" id="{8A9C2DA1-AE72-8CE8-296A-3577DF5A92DE}"/>
              </a:ext>
            </a:extLst>
          </p:cNvPr>
          <p:cNvSpPr txBox="1"/>
          <p:nvPr/>
        </p:nvSpPr>
        <p:spPr>
          <a:xfrm>
            <a:off x="3454400" y="5473700"/>
            <a:ext cx="2362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 </a:t>
            </a:r>
            <a:r>
              <a:rPr lang="ko-KR" altLang="en-US" sz="12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제거</a:t>
            </a:r>
          </a:p>
        </p:txBody>
      </p:sp>
      <p:sp>
        <p:nvSpPr>
          <p:cNvPr id="27" name="S15_026_rect">
            <a:extLst>
              <a:ext uri="{FF2B5EF4-FFF2-40B4-BE49-F238E27FC236}">
                <a16:creationId xmlns:a16="http://schemas.microsoft.com/office/drawing/2014/main" id="{1F305679-BD15-BD62-CD15-D11D09C9CC6A}"/>
              </a:ext>
            </a:extLst>
          </p:cNvPr>
          <p:cNvSpPr/>
          <p:nvPr/>
        </p:nvSpPr>
        <p:spPr>
          <a:xfrm>
            <a:off x="4109720" y="2723342"/>
            <a:ext cx="480060" cy="2623358"/>
          </a:xfrm>
          <a:prstGeom prst="rect">
            <a:avLst/>
          </a:prstGeom>
          <a:solidFill>
            <a:srgbClr val="1B9E77"/>
          </a:solidFill>
          <a:ln w="7620">
            <a:solidFill>
              <a:srgbClr val="1B9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S15_027_text">
            <a:extLst>
              <a:ext uri="{FF2B5EF4-FFF2-40B4-BE49-F238E27FC236}">
                <a16:creationId xmlns:a16="http://schemas.microsoft.com/office/drawing/2014/main" id="{47C3937A-5F19-E20C-ED5F-BE49D46046C0}"/>
              </a:ext>
            </a:extLst>
          </p:cNvPr>
          <p:cNvSpPr txBox="1"/>
          <p:nvPr/>
        </p:nvSpPr>
        <p:spPr>
          <a:xfrm>
            <a:off x="3893820" y="2431242"/>
            <a:ext cx="1003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11.734</a:t>
            </a:r>
            <a:endParaRPr lang="ko-KR" altLang="en-US" sz="1200" b="1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S15_028_rect">
            <a:extLst>
              <a:ext uri="{FF2B5EF4-FFF2-40B4-BE49-F238E27FC236}">
                <a16:creationId xmlns:a16="http://schemas.microsoft.com/office/drawing/2014/main" id="{E19C5B66-4C62-FA52-5A2E-66830C1DA9E6}"/>
              </a:ext>
            </a:extLst>
          </p:cNvPr>
          <p:cNvSpPr/>
          <p:nvPr/>
        </p:nvSpPr>
        <p:spPr>
          <a:xfrm>
            <a:off x="4681220" y="4495350"/>
            <a:ext cx="480060" cy="851350"/>
          </a:xfrm>
          <a:prstGeom prst="rect">
            <a:avLst/>
          </a:prstGeom>
          <a:solidFill>
            <a:srgbClr val="2874BA"/>
          </a:solidFill>
          <a:ln w="7620">
            <a:solidFill>
              <a:srgbClr val="2874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S15_029_text">
            <a:extLst>
              <a:ext uri="{FF2B5EF4-FFF2-40B4-BE49-F238E27FC236}">
                <a16:creationId xmlns:a16="http://schemas.microsoft.com/office/drawing/2014/main" id="{9E66E3D4-4598-20B0-12EC-FCA23A22103F}"/>
              </a:ext>
            </a:extLst>
          </p:cNvPr>
          <p:cNvSpPr txBox="1"/>
          <p:nvPr/>
        </p:nvSpPr>
        <p:spPr>
          <a:xfrm>
            <a:off x="4465320" y="4203250"/>
            <a:ext cx="1003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0.099</a:t>
            </a:r>
            <a:endParaRPr lang="ko-KR" altLang="en-US" sz="12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1" name="S15_030_text">
            <a:extLst>
              <a:ext uri="{FF2B5EF4-FFF2-40B4-BE49-F238E27FC236}">
                <a16:creationId xmlns:a16="http://schemas.microsoft.com/office/drawing/2014/main" id="{9CAF4F51-A19F-2FC1-D917-2F5DBA7568FA}"/>
              </a:ext>
            </a:extLst>
          </p:cNvPr>
          <p:cNvSpPr txBox="1"/>
          <p:nvPr/>
        </p:nvSpPr>
        <p:spPr>
          <a:xfrm>
            <a:off x="5816600" y="5473700"/>
            <a:ext cx="2362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새 </a:t>
            </a:r>
            <a:r>
              <a:rPr lang="en-US" altLang="ko-KR" sz="12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0.5 kg</a:t>
            </a:r>
            <a:endParaRPr lang="ko-KR" altLang="en-US" sz="12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2" name="S15_031_rect">
            <a:extLst>
              <a:ext uri="{FF2B5EF4-FFF2-40B4-BE49-F238E27FC236}">
                <a16:creationId xmlns:a16="http://schemas.microsoft.com/office/drawing/2014/main" id="{6FAE37B7-8238-8E45-B4D8-E694F5E1740A}"/>
              </a:ext>
            </a:extLst>
          </p:cNvPr>
          <p:cNvSpPr/>
          <p:nvPr/>
        </p:nvSpPr>
        <p:spPr>
          <a:xfrm>
            <a:off x="6471920" y="2723457"/>
            <a:ext cx="480060" cy="2623243"/>
          </a:xfrm>
          <a:prstGeom prst="rect">
            <a:avLst/>
          </a:prstGeom>
          <a:solidFill>
            <a:srgbClr val="1B9E77"/>
          </a:solidFill>
          <a:ln w="7620">
            <a:solidFill>
              <a:srgbClr val="1B9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S15_032_text">
            <a:extLst>
              <a:ext uri="{FF2B5EF4-FFF2-40B4-BE49-F238E27FC236}">
                <a16:creationId xmlns:a16="http://schemas.microsoft.com/office/drawing/2014/main" id="{B1AB3893-20CB-CCC9-1549-5D3D6FEE9202}"/>
              </a:ext>
            </a:extLst>
          </p:cNvPr>
          <p:cNvSpPr txBox="1"/>
          <p:nvPr/>
        </p:nvSpPr>
        <p:spPr>
          <a:xfrm>
            <a:off x="6256020" y="2431357"/>
            <a:ext cx="1003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11.730</a:t>
            </a:r>
            <a:endParaRPr lang="ko-KR" altLang="en-US" sz="1200" b="1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S15_033_rect">
            <a:extLst>
              <a:ext uri="{FF2B5EF4-FFF2-40B4-BE49-F238E27FC236}">
                <a16:creationId xmlns:a16="http://schemas.microsoft.com/office/drawing/2014/main" id="{DB9C3289-7CD2-A633-1AFA-EF9B389F1C8F}"/>
              </a:ext>
            </a:extLst>
          </p:cNvPr>
          <p:cNvSpPr/>
          <p:nvPr/>
        </p:nvSpPr>
        <p:spPr>
          <a:xfrm>
            <a:off x="7043420" y="4493068"/>
            <a:ext cx="480060" cy="853632"/>
          </a:xfrm>
          <a:prstGeom prst="rect">
            <a:avLst/>
          </a:prstGeom>
          <a:solidFill>
            <a:srgbClr val="2874BA"/>
          </a:solidFill>
          <a:ln w="7620">
            <a:solidFill>
              <a:srgbClr val="2874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S15_034_text">
            <a:extLst>
              <a:ext uri="{FF2B5EF4-FFF2-40B4-BE49-F238E27FC236}">
                <a16:creationId xmlns:a16="http://schemas.microsoft.com/office/drawing/2014/main" id="{E71B67F9-51F3-27B0-1594-4F9B884FBFB1}"/>
              </a:ext>
            </a:extLst>
          </p:cNvPr>
          <p:cNvSpPr txBox="1"/>
          <p:nvPr/>
        </p:nvSpPr>
        <p:spPr>
          <a:xfrm>
            <a:off x="6827520" y="4200968"/>
            <a:ext cx="1003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0.100</a:t>
            </a:r>
            <a:endParaRPr lang="ko-KR" altLang="en-US" sz="12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6" name="S15_035_rect">
            <a:extLst>
              <a:ext uri="{FF2B5EF4-FFF2-40B4-BE49-F238E27FC236}">
                <a16:creationId xmlns:a16="http://schemas.microsoft.com/office/drawing/2014/main" id="{A0BF67A7-47BF-C901-7E80-DF4C64E0C5B0}"/>
              </a:ext>
            </a:extLst>
          </p:cNvPr>
          <p:cNvSpPr/>
          <p:nvPr/>
        </p:nvSpPr>
        <p:spPr>
          <a:xfrm>
            <a:off x="1168400" y="1562100"/>
            <a:ext cx="114300" cy="114300"/>
          </a:xfrm>
          <a:prstGeom prst="rect">
            <a:avLst/>
          </a:prstGeom>
          <a:solidFill>
            <a:srgbClr val="1B9E77"/>
          </a:solidFill>
          <a:ln w="7620">
            <a:solidFill>
              <a:srgbClr val="1B9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S15_036_text">
            <a:extLst>
              <a:ext uri="{FF2B5EF4-FFF2-40B4-BE49-F238E27FC236}">
                <a16:creationId xmlns:a16="http://schemas.microsoft.com/office/drawing/2014/main" id="{3C96C4F7-3394-BC91-40BA-74C6039A60A1}"/>
              </a:ext>
            </a:extLst>
          </p:cNvPr>
          <p:cNvSpPr txBox="1"/>
          <p:nvPr/>
        </p:nvSpPr>
        <p:spPr>
          <a:xfrm>
            <a:off x="1346200" y="1485900"/>
            <a:ext cx="3378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Dense LS</a:t>
            </a:r>
            <a:endParaRPr lang="ko-KR" altLang="en-US" sz="1100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8" name="S15_037_rect">
            <a:extLst>
              <a:ext uri="{FF2B5EF4-FFF2-40B4-BE49-F238E27FC236}">
                <a16:creationId xmlns:a16="http://schemas.microsoft.com/office/drawing/2014/main" id="{B0E34556-1DC5-2177-551E-EADE9DD8B687}"/>
              </a:ext>
            </a:extLst>
          </p:cNvPr>
          <p:cNvSpPr/>
          <p:nvPr/>
        </p:nvSpPr>
        <p:spPr>
          <a:xfrm>
            <a:off x="4737100" y="1562100"/>
            <a:ext cx="114300" cy="114300"/>
          </a:xfrm>
          <a:prstGeom prst="rect">
            <a:avLst/>
          </a:prstGeom>
          <a:solidFill>
            <a:srgbClr val="2874BA"/>
          </a:solidFill>
          <a:ln w="7620">
            <a:solidFill>
              <a:srgbClr val="2874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15_038_text">
            <a:extLst>
              <a:ext uri="{FF2B5EF4-FFF2-40B4-BE49-F238E27FC236}">
                <a16:creationId xmlns:a16="http://schemas.microsoft.com/office/drawing/2014/main" id="{B3C89012-6892-5949-8B02-B95F2400ADDA}"/>
              </a:ext>
            </a:extLst>
          </p:cNvPr>
          <p:cNvSpPr txBox="1"/>
          <p:nvPr/>
        </p:nvSpPr>
        <p:spPr>
          <a:xfrm>
            <a:off x="4914900" y="1485900"/>
            <a:ext cx="3378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</a:t>
            </a:r>
            <a:endParaRPr lang="ko-KR" altLang="en-US" sz="1100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0" name="S15_039_text">
            <a:extLst>
              <a:ext uri="{FF2B5EF4-FFF2-40B4-BE49-F238E27FC236}">
                <a16:creationId xmlns:a16="http://schemas.microsoft.com/office/drawing/2014/main" id="{E16CBAB8-3A8C-F990-383A-36B65EE00D75}"/>
              </a:ext>
            </a:extLst>
          </p:cNvPr>
          <p:cNvSpPr txBox="1"/>
          <p:nvPr/>
        </p:nvSpPr>
        <p:spPr>
          <a:xfrm>
            <a:off x="8839200" y="1955800"/>
            <a:ext cx="2679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 </a:t>
            </a:r>
            <a:r>
              <a:rPr lang="ko-KR" altLang="en-US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제거 후</a:t>
            </a:r>
          </a:p>
        </p:txBody>
      </p:sp>
      <p:sp>
        <p:nvSpPr>
          <p:cNvPr id="41" name="S15_040_text">
            <a:extLst>
              <a:ext uri="{FF2B5EF4-FFF2-40B4-BE49-F238E27FC236}">
                <a16:creationId xmlns:a16="http://schemas.microsoft.com/office/drawing/2014/main" id="{7C3614B4-F278-CC71-F34A-F66A17281A45}"/>
              </a:ext>
            </a:extLst>
          </p:cNvPr>
          <p:cNvSpPr txBox="1"/>
          <p:nvPr/>
        </p:nvSpPr>
        <p:spPr>
          <a:xfrm>
            <a:off x="8775700" y="2527300"/>
            <a:ext cx="28321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300" b="1">
                <a:solidFill>
                  <a:srgbClr val="1B9E7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11.73 mm</a:t>
            </a:r>
            <a:endParaRPr lang="ko-KR" altLang="en-US" sz="3300" b="1">
              <a:solidFill>
                <a:srgbClr val="1B9E7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2" name="S15_041_text">
            <a:extLst>
              <a:ext uri="{FF2B5EF4-FFF2-40B4-BE49-F238E27FC236}">
                <a16:creationId xmlns:a16="http://schemas.microsoft.com/office/drawing/2014/main" id="{498BF5E0-D293-E1C8-D08C-968D60485A6E}"/>
              </a:ext>
            </a:extLst>
          </p:cNvPr>
          <p:cNvSpPr txBox="1"/>
          <p:nvPr/>
        </p:nvSpPr>
        <p:spPr>
          <a:xfrm>
            <a:off x="8775700" y="3302000"/>
            <a:ext cx="28321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3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0.099 mm</a:t>
            </a:r>
            <a:endParaRPr lang="ko-KR" altLang="en-US" sz="33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3" name="S15_042_text">
            <a:extLst>
              <a:ext uri="{FF2B5EF4-FFF2-40B4-BE49-F238E27FC236}">
                <a16:creationId xmlns:a16="http://schemas.microsoft.com/office/drawing/2014/main" id="{6B7AAE5C-180F-D5CF-ACCB-32A592922FE2}"/>
              </a:ext>
            </a:extLst>
          </p:cNvPr>
          <p:cNvSpPr txBox="1"/>
          <p:nvPr/>
        </p:nvSpPr>
        <p:spPr>
          <a:xfrm>
            <a:off x="8750300" y="4381500"/>
            <a:ext cx="2857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무보정 </a:t>
            </a:r>
            <a:r>
              <a:rPr lang="en-US" altLang="ko-KR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twin: 2.60 mm
Dense</a:t>
            </a:r>
            <a:r>
              <a:rPr lang="ko-KR" altLang="en-US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무보정보다 악화</a:t>
            </a:r>
          </a:p>
        </p:txBody>
      </p:sp>
      <p:cxnSp>
        <p:nvCxnSpPr>
          <p:cNvPr id="44" name="S15_043_line">
            <a:extLst>
              <a:ext uri="{FF2B5EF4-FFF2-40B4-BE49-F238E27FC236}">
                <a16:creationId xmlns:a16="http://schemas.microsoft.com/office/drawing/2014/main" id="{1C24197E-378D-5EC1-9D9F-D84DC2A48418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S15_044_text">
            <a:extLst>
              <a:ext uri="{FF2B5EF4-FFF2-40B4-BE49-F238E27FC236}">
                <a16:creationId xmlns:a16="http://schemas.microsoft.com/office/drawing/2014/main" id="{75BBBEB4-7125-7053-C047-28DFF3A0833A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도구의 질량을 다른 링크에 분산시켜 두면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도구만 지워도 그 영향이 남는다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2813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_001_text">
            <a:extLst>
              <a:ext uri="{FF2B5EF4-FFF2-40B4-BE49-F238E27FC236}">
                <a16:creationId xmlns:a16="http://schemas.microsoft.com/office/drawing/2014/main" id="{B4D42D74-DDBA-C33B-0A51-D5406AEC6F4B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RESULTS · STABILITY &amp; CONTROL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16_002_text">
            <a:extLst>
              <a:ext uri="{FF2B5EF4-FFF2-40B4-BE49-F238E27FC236}">
                <a16:creationId xmlns:a16="http://schemas.microsoft.com/office/drawing/2014/main" id="{591626F4-0F43-6BDA-AFC1-4FF4D15CDBF4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결과 ④ 좋은 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support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우연한 노이즈 때문은 아닌가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28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4" name="S16_003_line">
            <a:extLst>
              <a:ext uri="{FF2B5EF4-FFF2-40B4-BE49-F238E27FC236}">
                <a16:creationId xmlns:a16="http://schemas.microsoft.com/office/drawing/2014/main" id="{9677FF02-7CC5-B20F-E83A-A40616DCF61A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16_004_text">
            <a:extLst>
              <a:ext uri="{FF2B5EF4-FFF2-40B4-BE49-F238E27FC236}">
                <a16:creationId xmlns:a16="http://schemas.microsoft.com/office/drawing/2014/main" id="{3218E566-FADD-89C1-1A5B-99AA1BA2BA45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Table 4 · stability.json / isaac_stability_v2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16_005_text">
            <a:extLst>
              <a:ext uri="{FF2B5EF4-FFF2-40B4-BE49-F238E27FC236}">
                <a16:creationId xmlns:a16="http://schemas.microsoft.com/office/drawing/2014/main" id="{E6845736-D328-B9F3-0E3F-CD81B5981570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16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7" name="S16_006_line">
            <a:extLst>
              <a:ext uri="{FF2B5EF4-FFF2-40B4-BE49-F238E27FC236}">
                <a16:creationId xmlns:a16="http://schemas.microsoft.com/office/drawing/2014/main" id="{0F1A562C-BD16-7513-99A7-CAB99974C9DE}"/>
              </a:ext>
            </a:extLst>
          </p:cNvPr>
          <p:cNvCxnSpPr/>
          <p:nvPr/>
        </p:nvCxnSpPr>
        <p:spPr>
          <a:xfrm>
            <a:off x="546100" y="1587500"/>
            <a:ext cx="11087100" cy="0"/>
          </a:xfrm>
          <a:prstGeom prst="straightConnector1">
            <a:avLst/>
          </a:prstGeom>
          <a:ln w="12700">
            <a:solidFill>
              <a:srgbClr val="2032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16_007_text">
            <a:extLst>
              <a:ext uri="{FF2B5EF4-FFF2-40B4-BE49-F238E27FC236}">
                <a16:creationId xmlns:a16="http://schemas.microsoft.com/office/drawing/2014/main" id="{82F36C80-18D1-CE78-4791-F240A8786405}"/>
              </a:ext>
            </a:extLst>
          </p:cNvPr>
          <p:cNvSpPr txBox="1"/>
          <p:nvPr/>
        </p:nvSpPr>
        <p:spPr>
          <a:xfrm>
            <a:off x="647700" y="1689100"/>
            <a:ext cx="3606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조건</a:t>
            </a:r>
          </a:p>
        </p:txBody>
      </p:sp>
      <p:sp>
        <p:nvSpPr>
          <p:cNvPr id="9" name="S16_008_text">
            <a:extLst>
              <a:ext uri="{FF2B5EF4-FFF2-40B4-BE49-F238E27FC236}">
                <a16:creationId xmlns:a16="http://schemas.microsoft.com/office/drawing/2014/main" id="{61915883-65E7-47ED-67B9-9F6EEDCD9AEF}"/>
              </a:ext>
            </a:extLst>
          </p:cNvPr>
          <p:cNvSpPr txBox="1"/>
          <p:nvPr/>
        </p:nvSpPr>
        <p:spPr>
          <a:xfrm>
            <a:off x="4457700" y="1689100"/>
            <a:ext cx="2832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link7 / j4 / j6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S16_009_text">
            <a:extLst>
              <a:ext uri="{FF2B5EF4-FFF2-40B4-BE49-F238E27FC236}">
                <a16:creationId xmlns:a16="http://schemas.microsoft.com/office/drawing/2014/main" id="{0302B5C5-0F8D-4A39-BF6F-85979ED368EF}"/>
              </a:ext>
            </a:extLst>
          </p:cNvPr>
          <p:cNvSpPr txBox="1"/>
          <p:nvPr/>
        </p:nvSpPr>
        <p:spPr>
          <a:xfrm>
            <a:off x="7493000" y="1689100"/>
            <a:ext cx="19177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link3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S16_010_text">
            <a:extLst>
              <a:ext uri="{FF2B5EF4-FFF2-40B4-BE49-F238E27FC236}">
                <a16:creationId xmlns:a16="http://schemas.microsoft.com/office/drawing/2014/main" id="{637D5FAC-DD73-7CCC-95AA-0F1B1B8AA519}"/>
              </a:ext>
            </a:extLst>
          </p:cNvPr>
          <p:cNvSpPr txBox="1"/>
          <p:nvPr/>
        </p:nvSpPr>
        <p:spPr>
          <a:xfrm>
            <a:off x="9613900" y="1689100"/>
            <a:ext cx="19177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link4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2" name="S16_011_line">
            <a:extLst>
              <a:ext uri="{FF2B5EF4-FFF2-40B4-BE49-F238E27FC236}">
                <a16:creationId xmlns:a16="http://schemas.microsoft.com/office/drawing/2014/main" id="{C147EBD7-48F5-3945-7A00-64452E1A7C97}"/>
              </a:ext>
            </a:extLst>
          </p:cNvPr>
          <p:cNvCxnSpPr/>
          <p:nvPr/>
        </p:nvCxnSpPr>
        <p:spPr>
          <a:xfrm>
            <a:off x="546100" y="2209800"/>
            <a:ext cx="11087100" cy="0"/>
          </a:xfrm>
          <a:prstGeom prst="straightConnector1">
            <a:avLst/>
          </a:prstGeom>
          <a:ln w="8890">
            <a:solidFill>
              <a:srgbClr val="2032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16_012_text">
            <a:extLst>
              <a:ext uri="{FF2B5EF4-FFF2-40B4-BE49-F238E27FC236}">
                <a16:creationId xmlns:a16="http://schemas.microsoft.com/office/drawing/2014/main" id="{D6D1F454-2E95-C868-DF99-D939001B2013}"/>
              </a:ext>
            </a:extLst>
          </p:cNvPr>
          <p:cNvSpPr txBox="1"/>
          <p:nvPr/>
        </p:nvSpPr>
        <p:spPr>
          <a:xfrm>
            <a:off x="647700" y="2324100"/>
            <a:ext cx="3606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MuJoCo ×1 (n=20)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S16_013_text">
            <a:extLst>
              <a:ext uri="{FF2B5EF4-FFF2-40B4-BE49-F238E27FC236}">
                <a16:creationId xmlns:a16="http://schemas.microsoft.com/office/drawing/2014/main" id="{AD09C77F-85D3-B011-4AB5-50230CF0E8E7}"/>
              </a:ext>
            </a:extLst>
          </p:cNvPr>
          <p:cNvSpPr txBox="1"/>
          <p:nvPr/>
        </p:nvSpPr>
        <p:spPr>
          <a:xfrm>
            <a:off x="4457700" y="2324100"/>
            <a:ext cx="2832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모두 </a:t>
            </a:r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20/20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S16_014_text">
            <a:extLst>
              <a:ext uri="{FF2B5EF4-FFF2-40B4-BE49-F238E27FC236}">
                <a16:creationId xmlns:a16="http://schemas.microsoft.com/office/drawing/2014/main" id="{8E28DDF0-6997-995A-9AEA-4A8B54DA459F}"/>
              </a:ext>
            </a:extLst>
          </p:cNvPr>
          <p:cNvSpPr txBox="1"/>
          <p:nvPr/>
        </p:nvSpPr>
        <p:spPr>
          <a:xfrm>
            <a:off x="7493000" y="2324100"/>
            <a:ext cx="1917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20/20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S16_015_text">
            <a:extLst>
              <a:ext uri="{FF2B5EF4-FFF2-40B4-BE49-F238E27FC236}">
                <a16:creationId xmlns:a16="http://schemas.microsoft.com/office/drawing/2014/main" id="{7E9B0C89-ECFC-E46D-84E5-EAB7BBFCD742}"/>
              </a:ext>
            </a:extLst>
          </p:cNvPr>
          <p:cNvSpPr txBox="1"/>
          <p:nvPr/>
        </p:nvSpPr>
        <p:spPr>
          <a:xfrm>
            <a:off x="9613900" y="2324100"/>
            <a:ext cx="1917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0/20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7" name="S16_016_line">
            <a:extLst>
              <a:ext uri="{FF2B5EF4-FFF2-40B4-BE49-F238E27FC236}">
                <a16:creationId xmlns:a16="http://schemas.microsoft.com/office/drawing/2014/main" id="{5FF3DC70-A931-0329-D827-8A7E9B39FE98}"/>
              </a:ext>
            </a:extLst>
          </p:cNvPr>
          <p:cNvCxnSpPr/>
          <p:nvPr/>
        </p:nvCxnSpPr>
        <p:spPr>
          <a:xfrm>
            <a:off x="546100" y="2832100"/>
            <a:ext cx="110871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16_017_text">
            <a:extLst>
              <a:ext uri="{FF2B5EF4-FFF2-40B4-BE49-F238E27FC236}">
                <a16:creationId xmlns:a16="http://schemas.microsoft.com/office/drawing/2014/main" id="{CEF277F7-AEF3-DA8A-9DAA-C9C2409C5017}"/>
              </a:ext>
            </a:extLst>
          </p:cNvPr>
          <p:cNvSpPr txBox="1"/>
          <p:nvPr/>
        </p:nvSpPr>
        <p:spPr>
          <a:xfrm>
            <a:off x="647700" y="2946400"/>
            <a:ext cx="3606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PhysX ×1 (n=10)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S16_018_text">
            <a:extLst>
              <a:ext uri="{FF2B5EF4-FFF2-40B4-BE49-F238E27FC236}">
                <a16:creationId xmlns:a16="http://schemas.microsoft.com/office/drawing/2014/main" id="{F7D2423A-CD32-F6D8-491E-322A80E904A7}"/>
              </a:ext>
            </a:extLst>
          </p:cNvPr>
          <p:cNvSpPr txBox="1"/>
          <p:nvPr/>
        </p:nvSpPr>
        <p:spPr>
          <a:xfrm>
            <a:off x="4457700" y="2946400"/>
            <a:ext cx="2832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모두 </a:t>
            </a:r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10/10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S16_019_text">
            <a:extLst>
              <a:ext uri="{FF2B5EF4-FFF2-40B4-BE49-F238E27FC236}">
                <a16:creationId xmlns:a16="http://schemas.microsoft.com/office/drawing/2014/main" id="{CF0EE3A6-CE46-EBFE-EBDF-DCBD1E40627C}"/>
              </a:ext>
            </a:extLst>
          </p:cNvPr>
          <p:cNvSpPr txBox="1"/>
          <p:nvPr/>
        </p:nvSpPr>
        <p:spPr>
          <a:xfrm>
            <a:off x="7493000" y="2946400"/>
            <a:ext cx="1917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10/10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S16_020_text">
            <a:extLst>
              <a:ext uri="{FF2B5EF4-FFF2-40B4-BE49-F238E27FC236}">
                <a16:creationId xmlns:a16="http://schemas.microsoft.com/office/drawing/2014/main" id="{27BD0A8C-AFA4-487D-4202-640D7AC4CB91}"/>
              </a:ext>
            </a:extLst>
          </p:cNvPr>
          <p:cNvSpPr txBox="1"/>
          <p:nvPr/>
        </p:nvSpPr>
        <p:spPr>
          <a:xfrm>
            <a:off x="9613900" y="2946400"/>
            <a:ext cx="1917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0/10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2" name="S16_021_line">
            <a:extLst>
              <a:ext uri="{FF2B5EF4-FFF2-40B4-BE49-F238E27FC236}">
                <a16:creationId xmlns:a16="http://schemas.microsoft.com/office/drawing/2014/main" id="{74A76499-613A-EA9C-22B9-A3053B0C6886}"/>
              </a:ext>
            </a:extLst>
          </p:cNvPr>
          <p:cNvCxnSpPr/>
          <p:nvPr/>
        </p:nvCxnSpPr>
        <p:spPr>
          <a:xfrm>
            <a:off x="546100" y="3454400"/>
            <a:ext cx="110871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16_022_text">
            <a:extLst>
              <a:ext uri="{FF2B5EF4-FFF2-40B4-BE49-F238E27FC236}">
                <a16:creationId xmlns:a16="http://schemas.microsoft.com/office/drawing/2014/main" id="{AF06CF9A-7B0F-6ADA-732B-DF55D38ACE2C}"/>
              </a:ext>
            </a:extLst>
          </p:cNvPr>
          <p:cNvSpPr txBox="1"/>
          <p:nvPr/>
        </p:nvSpPr>
        <p:spPr>
          <a:xfrm>
            <a:off x="647700" y="3568700"/>
            <a:ext cx="3606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MuJoCo ×3 (n=10)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4" name="S16_023_text">
            <a:extLst>
              <a:ext uri="{FF2B5EF4-FFF2-40B4-BE49-F238E27FC236}">
                <a16:creationId xmlns:a16="http://schemas.microsoft.com/office/drawing/2014/main" id="{831A1E41-FF32-3E1A-CD87-E8E93417E399}"/>
              </a:ext>
            </a:extLst>
          </p:cNvPr>
          <p:cNvSpPr txBox="1"/>
          <p:nvPr/>
        </p:nvSpPr>
        <p:spPr>
          <a:xfrm>
            <a:off x="4457700" y="3568700"/>
            <a:ext cx="2832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모두 </a:t>
            </a:r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10/10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S16_024_text">
            <a:extLst>
              <a:ext uri="{FF2B5EF4-FFF2-40B4-BE49-F238E27FC236}">
                <a16:creationId xmlns:a16="http://schemas.microsoft.com/office/drawing/2014/main" id="{A9128ABD-4497-C1BA-B85B-8DE2CE2D94E0}"/>
              </a:ext>
            </a:extLst>
          </p:cNvPr>
          <p:cNvSpPr txBox="1"/>
          <p:nvPr/>
        </p:nvSpPr>
        <p:spPr>
          <a:xfrm>
            <a:off x="7493000" y="3568700"/>
            <a:ext cx="1917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8/10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S16_025_text">
            <a:extLst>
              <a:ext uri="{FF2B5EF4-FFF2-40B4-BE49-F238E27FC236}">
                <a16:creationId xmlns:a16="http://schemas.microsoft.com/office/drawing/2014/main" id="{22F6C0A7-0797-80AE-E466-399159638F78}"/>
              </a:ext>
            </a:extLst>
          </p:cNvPr>
          <p:cNvSpPr txBox="1"/>
          <p:nvPr/>
        </p:nvSpPr>
        <p:spPr>
          <a:xfrm>
            <a:off x="9613900" y="3568700"/>
            <a:ext cx="1917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2/10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7" name="S16_026_line">
            <a:extLst>
              <a:ext uri="{FF2B5EF4-FFF2-40B4-BE49-F238E27FC236}">
                <a16:creationId xmlns:a16="http://schemas.microsoft.com/office/drawing/2014/main" id="{62CC3970-4C56-38FA-C39D-E1BAC720CE8A}"/>
              </a:ext>
            </a:extLst>
          </p:cNvPr>
          <p:cNvCxnSpPr/>
          <p:nvPr/>
        </p:nvCxnSpPr>
        <p:spPr>
          <a:xfrm>
            <a:off x="546100" y="4076700"/>
            <a:ext cx="110871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16_027_text">
            <a:extLst>
              <a:ext uri="{FF2B5EF4-FFF2-40B4-BE49-F238E27FC236}">
                <a16:creationId xmlns:a16="http://schemas.microsoft.com/office/drawing/2014/main" id="{47AF5BA1-14AB-C973-0997-2F34F3AC2C5E}"/>
              </a:ext>
            </a:extLst>
          </p:cNvPr>
          <p:cNvSpPr txBox="1"/>
          <p:nvPr/>
        </p:nvSpPr>
        <p:spPr>
          <a:xfrm>
            <a:off x="647700" y="4191000"/>
            <a:ext cx="3606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PhysX ×3 (n=10)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S16_028_text">
            <a:extLst>
              <a:ext uri="{FF2B5EF4-FFF2-40B4-BE49-F238E27FC236}">
                <a16:creationId xmlns:a16="http://schemas.microsoft.com/office/drawing/2014/main" id="{4045FFE4-9E19-CA5E-80AA-14C6DFA7E477}"/>
              </a:ext>
            </a:extLst>
          </p:cNvPr>
          <p:cNvSpPr txBox="1"/>
          <p:nvPr/>
        </p:nvSpPr>
        <p:spPr>
          <a:xfrm>
            <a:off x="4457700" y="4191000"/>
            <a:ext cx="2832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모두 </a:t>
            </a:r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10/10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S16_029_text">
            <a:extLst>
              <a:ext uri="{FF2B5EF4-FFF2-40B4-BE49-F238E27FC236}">
                <a16:creationId xmlns:a16="http://schemas.microsoft.com/office/drawing/2014/main" id="{C5E09671-83AA-E2BA-1ABE-AFB86ACD0D69}"/>
              </a:ext>
            </a:extLst>
          </p:cNvPr>
          <p:cNvSpPr txBox="1"/>
          <p:nvPr/>
        </p:nvSpPr>
        <p:spPr>
          <a:xfrm>
            <a:off x="7493000" y="4191000"/>
            <a:ext cx="1917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7/10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1" name="S16_030_text">
            <a:extLst>
              <a:ext uri="{FF2B5EF4-FFF2-40B4-BE49-F238E27FC236}">
                <a16:creationId xmlns:a16="http://schemas.microsoft.com/office/drawing/2014/main" id="{EDA47189-DC69-D2D2-B6EE-E0F9E82FD722}"/>
              </a:ext>
            </a:extLst>
          </p:cNvPr>
          <p:cNvSpPr txBox="1"/>
          <p:nvPr/>
        </p:nvSpPr>
        <p:spPr>
          <a:xfrm>
            <a:off x="9613900" y="4191000"/>
            <a:ext cx="1917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3/10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2" name="S16_031_line">
            <a:extLst>
              <a:ext uri="{FF2B5EF4-FFF2-40B4-BE49-F238E27FC236}">
                <a16:creationId xmlns:a16="http://schemas.microsoft.com/office/drawing/2014/main" id="{E9FA0307-B1A1-729B-32BD-4FC341AA70FE}"/>
              </a:ext>
            </a:extLst>
          </p:cNvPr>
          <p:cNvCxnSpPr/>
          <p:nvPr/>
        </p:nvCxnSpPr>
        <p:spPr>
          <a:xfrm>
            <a:off x="546100" y="4699000"/>
            <a:ext cx="110871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16_032_text">
            <a:extLst>
              <a:ext uri="{FF2B5EF4-FFF2-40B4-BE49-F238E27FC236}">
                <a16:creationId xmlns:a16="http://schemas.microsoft.com/office/drawing/2014/main" id="{30528AD0-0CA2-DD94-3B08-DEC0170CED50}"/>
              </a:ext>
            </a:extLst>
          </p:cNvPr>
          <p:cNvSpPr txBox="1"/>
          <p:nvPr/>
        </p:nvSpPr>
        <p:spPr>
          <a:xfrm>
            <a:off x="584200" y="5054600"/>
            <a:ext cx="361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9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 mean ± std</a:t>
            </a:r>
            <a:endParaRPr lang="ko-KR" altLang="en-US" sz="19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S16_033_text">
            <a:extLst>
              <a:ext uri="{FF2B5EF4-FFF2-40B4-BE49-F238E27FC236}">
                <a16:creationId xmlns:a16="http://schemas.microsoft.com/office/drawing/2014/main" id="{FAECE970-B834-3AFA-939A-3F6E5F8430F0}"/>
              </a:ext>
            </a:extLst>
          </p:cNvPr>
          <p:cNvSpPr txBox="1"/>
          <p:nvPr/>
        </p:nvSpPr>
        <p:spPr>
          <a:xfrm>
            <a:off x="4203700" y="5067300"/>
            <a:ext cx="7404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MuJoCo: 0.794 ± 0.001 kg     PhysX: 0.795 ± 0.001 kg</a:t>
            </a:r>
            <a:endParaRPr lang="ko-KR" altLang="en-US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5" name="S16_034_line">
            <a:extLst>
              <a:ext uri="{FF2B5EF4-FFF2-40B4-BE49-F238E27FC236}">
                <a16:creationId xmlns:a16="http://schemas.microsoft.com/office/drawing/2014/main" id="{9D524B25-08BC-4800-1A18-B25B43ADF023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16_035_text">
            <a:extLst>
              <a:ext uri="{FF2B5EF4-FFF2-40B4-BE49-F238E27FC236}">
                <a16:creationId xmlns:a16="http://schemas.microsoft.com/office/drawing/2014/main" id="{27886BA1-0D25-A07F-9235-191D70B686DA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Negative control: nominal PhysX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10/10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 아무 보정도 선택하지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29862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_001_text">
            <a:extLst>
              <a:ext uri="{FF2B5EF4-FFF2-40B4-BE49-F238E27FC236}">
                <a16:creationId xmlns:a16="http://schemas.microsoft.com/office/drawing/2014/main" id="{55D1FC31-C10B-7CE3-7415-35A820BB0D65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RESULTS · CROSS-ENGINE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17_002_text">
            <a:extLst>
              <a:ext uri="{FF2B5EF4-FFF2-40B4-BE49-F238E27FC236}">
                <a16:creationId xmlns:a16="http://schemas.microsoft.com/office/drawing/2014/main" id="{0BAEE3D1-437E-30B1-835A-84CE2CE2305E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결과 ⑤ 엔진이 달라도 행동과 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attribution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분리는 반복된다</a:t>
            </a:r>
          </a:p>
        </p:txBody>
      </p:sp>
      <p:cxnSp>
        <p:nvCxnSpPr>
          <p:cNvPr id="4" name="S17_003_line">
            <a:extLst>
              <a:ext uri="{FF2B5EF4-FFF2-40B4-BE49-F238E27FC236}">
                <a16:creationId xmlns:a16="http://schemas.microsoft.com/office/drawing/2014/main" id="{D14E2D03-5E2C-2B6C-84F7-B3706D97CF10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17_004_text">
            <a:extLst>
              <a:ext uri="{FF2B5EF4-FFF2-40B4-BE49-F238E27FC236}">
                <a16:creationId xmlns:a16="http://schemas.microsoft.com/office/drawing/2014/main" id="{9D20CE6A-D2B8-F9E1-A446-C15C9591CCCD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Table 7 · cross-engine analysis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17_005_text">
            <a:extLst>
              <a:ext uri="{FF2B5EF4-FFF2-40B4-BE49-F238E27FC236}">
                <a16:creationId xmlns:a16="http://schemas.microsoft.com/office/drawing/2014/main" id="{ABD5E299-AACD-6A42-3EA0-D2869C5F8DC4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17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7" name="S17_006_line">
            <a:extLst>
              <a:ext uri="{FF2B5EF4-FFF2-40B4-BE49-F238E27FC236}">
                <a16:creationId xmlns:a16="http://schemas.microsoft.com/office/drawing/2014/main" id="{6641FF7B-5181-961F-ADF0-B1125168D7C1}"/>
              </a:ext>
            </a:extLst>
          </p:cNvPr>
          <p:cNvCxnSpPr/>
          <p:nvPr/>
        </p:nvCxnSpPr>
        <p:spPr>
          <a:xfrm>
            <a:off x="495300" y="1854200"/>
            <a:ext cx="11214100" cy="0"/>
          </a:xfrm>
          <a:prstGeom prst="straightConnector1">
            <a:avLst/>
          </a:prstGeom>
          <a:ln w="12700">
            <a:solidFill>
              <a:srgbClr val="2032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17_007_text">
            <a:extLst>
              <a:ext uri="{FF2B5EF4-FFF2-40B4-BE49-F238E27FC236}">
                <a16:creationId xmlns:a16="http://schemas.microsoft.com/office/drawing/2014/main" id="{3EEA530B-ED10-4801-0709-6E6E4725225F}"/>
              </a:ext>
            </a:extLst>
          </p:cNvPr>
          <p:cNvSpPr txBox="1"/>
          <p:nvPr/>
        </p:nvSpPr>
        <p:spPr>
          <a:xfrm>
            <a:off x="596900" y="1955800"/>
            <a:ext cx="3086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Reference → MuJoCo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S17_008_text">
            <a:extLst>
              <a:ext uri="{FF2B5EF4-FFF2-40B4-BE49-F238E27FC236}">
                <a16:creationId xmlns:a16="http://schemas.microsoft.com/office/drawing/2014/main" id="{C21F003D-9344-D0F0-6E5C-507EFF69F7C1}"/>
              </a:ext>
            </a:extLst>
          </p:cNvPr>
          <p:cNvSpPr txBox="1"/>
          <p:nvPr/>
        </p:nvSpPr>
        <p:spPr>
          <a:xfrm>
            <a:off x="3886200" y="1955800"/>
            <a:ext cx="177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Dense TCP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S17_009_text">
            <a:extLst>
              <a:ext uri="{FF2B5EF4-FFF2-40B4-BE49-F238E27FC236}">
                <a16:creationId xmlns:a16="http://schemas.microsoft.com/office/drawing/2014/main" id="{8CF57E9D-B5FE-76C6-722F-139996F64FAE}"/>
              </a:ext>
            </a:extLst>
          </p:cNvPr>
          <p:cNvSpPr txBox="1"/>
          <p:nvPr/>
        </p:nvSpPr>
        <p:spPr>
          <a:xfrm>
            <a:off x="5867400" y="1955800"/>
            <a:ext cx="177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TCP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S17_010_text">
            <a:extLst>
              <a:ext uri="{FF2B5EF4-FFF2-40B4-BE49-F238E27FC236}">
                <a16:creationId xmlns:a16="http://schemas.microsoft.com/office/drawing/2014/main" id="{E2D5864F-C8C4-FAA2-8D0E-2186D3B85FD9}"/>
              </a:ext>
            </a:extLst>
          </p:cNvPr>
          <p:cNvSpPr txBox="1"/>
          <p:nvPr/>
        </p:nvSpPr>
        <p:spPr>
          <a:xfrm>
            <a:off x="7848600" y="1955800"/>
            <a:ext cx="177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Dense mass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S17_011_text">
            <a:extLst>
              <a:ext uri="{FF2B5EF4-FFF2-40B4-BE49-F238E27FC236}">
                <a16:creationId xmlns:a16="http://schemas.microsoft.com/office/drawing/2014/main" id="{320E755D-3E68-5D83-B77C-2A9EFA36605F}"/>
              </a:ext>
            </a:extLst>
          </p:cNvPr>
          <p:cNvSpPr txBox="1"/>
          <p:nvPr/>
        </p:nvSpPr>
        <p:spPr>
          <a:xfrm>
            <a:off x="9829800" y="1955800"/>
            <a:ext cx="177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mass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3" name="S17_012_line">
            <a:extLst>
              <a:ext uri="{FF2B5EF4-FFF2-40B4-BE49-F238E27FC236}">
                <a16:creationId xmlns:a16="http://schemas.microsoft.com/office/drawing/2014/main" id="{186C8C04-0126-3E6F-075E-9C9B078E4FB3}"/>
              </a:ext>
            </a:extLst>
          </p:cNvPr>
          <p:cNvCxnSpPr/>
          <p:nvPr/>
        </p:nvCxnSpPr>
        <p:spPr>
          <a:xfrm>
            <a:off x="495300" y="2578100"/>
            <a:ext cx="11214100" cy="0"/>
          </a:xfrm>
          <a:prstGeom prst="straightConnector1">
            <a:avLst/>
          </a:prstGeom>
          <a:ln w="8890">
            <a:solidFill>
              <a:srgbClr val="2032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17_013_text">
            <a:extLst>
              <a:ext uri="{FF2B5EF4-FFF2-40B4-BE49-F238E27FC236}">
                <a16:creationId xmlns:a16="http://schemas.microsoft.com/office/drawing/2014/main" id="{CF9F7E6C-E311-DEBD-A396-902C5E785DA1}"/>
              </a:ext>
            </a:extLst>
          </p:cNvPr>
          <p:cNvSpPr txBox="1"/>
          <p:nvPr/>
        </p:nvSpPr>
        <p:spPr>
          <a:xfrm>
            <a:off x="596900" y="2692400"/>
            <a:ext cx="3086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Gazebo / DART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S17_014_text">
            <a:extLst>
              <a:ext uri="{FF2B5EF4-FFF2-40B4-BE49-F238E27FC236}">
                <a16:creationId xmlns:a16="http://schemas.microsoft.com/office/drawing/2014/main" id="{8B19A6FD-7723-9AAF-BC46-A78CD6E4EAE6}"/>
              </a:ext>
            </a:extLst>
          </p:cNvPr>
          <p:cNvSpPr txBox="1"/>
          <p:nvPr/>
        </p:nvSpPr>
        <p:spPr>
          <a:xfrm>
            <a:off x="3886200" y="26924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0.34 mm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S17_015_text">
            <a:extLst>
              <a:ext uri="{FF2B5EF4-FFF2-40B4-BE49-F238E27FC236}">
                <a16:creationId xmlns:a16="http://schemas.microsoft.com/office/drawing/2014/main" id="{20EFDB7D-93E4-269E-479A-FBC4E53A7C24}"/>
              </a:ext>
            </a:extLst>
          </p:cNvPr>
          <p:cNvSpPr txBox="1"/>
          <p:nvPr/>
        </p:nvSpPr>
        <p:spPr>
          <a:xfrm>
            <a:off x="5867400" y="26924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0.29 mm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S17_016_text">
            <a:extLst>
              <a:ext uri="{FF2B5EF4-FFF2-40B4-BE49-F238E27FC236}">
                <a16:creationId xmlns:a16="http://schemas.microsoft.com/office/drawing/2014/main" id="{549A2540-B37A-C15F-416A-32A0BF216E04}"/>
              </a:ext>
            </a:extLst>
          </p:cNvPr>
          <p:cNvSpPr txBox="1"/>
          <p:nvPr/>
        </p:nvSpPr>
        <p:spPr>
          <a:xfrm>
            <a:off x="7848600" y="26924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0.131 kg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S17_017_text">
            <a:extLst>
              <a:ext uri="{FF2B5EF4-FFF2-40B4-BE49-F238E27FC236}">
                <a16:creationId xmlns:a16="http://schemas.microsoft.com/office/drawing/2014/main" id="{272BBCE7-7E91-1F37-25A0-A1AE2026C222}"/>
              </a:ext>
            </a:extLst>
          </p:cNvPr>
          <p:cNvSpPr txBox="1"/>
          <p:nvPr/>
        </p:nvSpPr>
        <p:spPr>
          <a:xfrm>
            <a:off x="9829800" y="26924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0.797 kg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9" name="S17_018_line">
            <a:extLst>
              <a:ext uri="{FF2B5EF4-FFF2-40B4-BE49-F238E27FC236}">
                <a16:creationId xmlns:a16="http://schemas.microsoft.com/office/drawing/2014/main" id="{FB074F6C-DC8B-B222-A46B-519CCF7AA692}"/>
              </a:ext>
            </a:extLst>
          </p:cNvPr>
          <p:cNvCxnSpPr/>
          <p:nvPr/>
        </p:nvCxnSpPr>
        <p:spPr>
          <a:xfrm>
            <a:off x="495300" y="3302000"/>
            <a:ext cx="112141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17_019_text">
            <a:extLst>
              <a:ext uri="{FF2B5EF4-FFF2-40B4-BE49-F238E27FC236}">
                <a16:creationId xmlns:a16="http://schemas.microsoft.com/office/drawing/2014/main" id="{74DB13FC-183D-7919-E8F3-638424B6A1E6}"/>
              </a:ext>
            </a:extLst>
          </p:cNvPr>
          <p:cNvSpPr txBox="1"/>
          <p:nvPr/>
        </p:nvSpPr>
        <p:spPr>
          <a:xfrm>
            <a:off x="596900" y="3416300"/>
            <a:ext cx="3086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Isaac / PhysX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S17_020_text">
            <a:extLst>
              <a:ext uri="{FF2B5EF4-FFF2-40B4-BE49-F238E27FC236}">
                <a16:creationId xmlns:a16="http://schemas.microsoft.com/office/drawing/2014/main" id="{49AE83EC-F33D-133F-74CE-C3EE70D115D0}"/>
              </a:ext>
            </a:extLst>
          </p:cNvPr>
          <p:cNvSpPr txBox="1"/>
          <p:nvPr/>
        </p:nvSpPr>
        <p:spPr>
          <a:xfrm>
            <a:off x="3886200" y="34163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0.26 mm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S17_021_text">
            <a:extLst>
              <a:ext uri="{FF2B5EF4-FFF2-40B4-BE49-F238E27FC236}">
                <a16:creationId xmlns:a16="http://schemas.microsoft.com/office/drawing/2014/main" id="{12568094-7C41-D20F-98D6-702171F23490}"/>
              </a:ext>
            </a:extLst>
          </p:cNvPr>
          <p:cNvSpPr txBox="1"/>
          <p:nvPr/>
        </p:nvSpPr>
        <p:spPr>
          <a:xfrm>
            <a:off x="5867400" y="34163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0.26 mm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S17_022_text">
            <a:extLst>
              <a:ext uri="{FF2B5EF4-FFF2-40B4-BE49-F238E27FC236}">
                <a16:creationId xmlns:a16="http://schemas.microsoft.com/office/drawing/2014/main" id="{DA45829D-BCC0-34A0-BD9C-AFF6E8430117}"/>
              </a:ext>
            </a:extLst>
          </p:cNvPr>
          <p:cNvSpPr txBox="1"/>
          <p:nvPr/>
        </p:nvSpPr>
        <p:spPr>
          <a:xfrm>
            <a:off x="7848600" y="34163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0.131 kg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4" name="S17_023_text">
            <a:extLst>
              <a:ext uri="{FF2B5EF4-FFF2-40B4-BE49-F238E27FC236}">
                <a16:creationId xmlns:a16="http://schemas.microsoft.com/office/drawing/2014/main" id="{C53FAA54-2D88-4689-704D-D0F5DB3D9B54}"/>
              </a:ext>
            </a:extLst>
          </p:cNvPr>
          <p:cNvSpPr txBox="1"/>
          <p:nvPr/>
        </p:nvSpPr>
        <p:spPr>
          <a:xfrm>
            <a:off x="9829800" y="34163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0.795 kg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5" name="S17_024_line">
            <a:extLst>
              <a:ext uri="{FF2B5EF4-FFF2-40B4-BE49-F238E27FC236}">
                <a16:creationId xmlns:a16="http://schemas.microsoft.com/office/drawing/2014/main" id="{B95FA0AB-F485-3989-6FDD-55A70E7F46F2}"/>
              </a:ext>
            </a:extLst>
          </p:cNvPr>
          <p:cNvCxnSpPr/>
          <p:nvPr/>
        </p:nvCxnSpPr>
        <p:spPr>
          <a:xfrm>
            <a:off x="495300" y="4025900"/>
            <a:ext cx="112141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17_025_text">
            <a:extLst>
              <a:ext uri="{FF2B5EF4-FFF2-40B4-BE49-F238E27FC236}">
                <a16:creationId xmlns:a16="http://schemas.microsoft.com/office/drawing/2014/main" id="{55DB8F79-FFE3-6750-BF6A-593F46CDB98B}"/>
              </a:ext>
            </a:extLst>
          </p:cNvPr>
          <p:cNvSpPr txBox="1"/>
          <p:nvPr/>
        </p:nvSpPr>
        <p:spPr>
          <a:xfrm>
            <a:off x="546100" y="4330700"/>
            <a:ext cx="553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B47B2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Gazebo: </a:t>
            </a:r>
            <a:r>
              <a:rPr lang="ko-KR" altLang="en-US" b="1">
                <a:solidFill>
                  <a:srgbClr val="B47B2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모델 표현 차이도 찾아냄</a:t>
            </a:r>
          </a:p>
        </p:txBody>
      </p:sp>
      <p:sp>
        <p:nvSpPr>
          <p:cNvPr id="27" name="S17_026_text">
            <a:extLst>
              <a:ext uri="{FF2B5EF4-FFF2-40B4-BE49-F238E27FC236}">
                <a16:creationId xmlns:a16="http://schemas.microsoft.com/office/drawing/2014/main" id="{ACC9914B-ACE9-BBBA-8956-2B5A1C1A3A3F}"/>
              </a:ext>
            </a:extLst>
          </p:cNvPr>
          <p:cNvSpPr txBox="1"/>
          <p:nvPr/>
        </p:nvSpPr>
        <p:spPr>
          <a:xfrm>
            <a:off x="546100" y="4902200"/>
            <a:ext cx="5524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빠진 </a:t>
            </a:r>
            <a:r>
              <a:rPr lang="en-US" altLang="ko-KR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rotor armature</a:t>
            </a:r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</a:t>
            </a:r>
            <a:r>
              <a:rPr lang="en-US" altLang="ko-KR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nominal </a:t>
            </a:r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데이터로 식별
보정 전 </a:t>
            </a:r>
            <a:r>
              <a:rPr lang="en-US" altLang="ko-KR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0.52 mm → </a:t>
            </a:r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 후 </a:t>
            </a:r>
            <a:r>
              <a:rPr lang="en-US" altLang="ko-KR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0.11 mm</a:t>
            </a:r>
            <a:endParaRPr lang="ko-KR" altLang="en-US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8" name="S17_027_text">
            <a:extLst>
              <a:ext uri="{FF2B5EF4-FFF2-40B4-BE49-F238E27FC236}">
                <a16:creationId xmlns:a16="http://schemas.microsoft.com/office/drawing/2014/main" id="{9086D15D-553B-46C4-1B12-9E82E07102B1}"/>
              </a:ext>
            </a:extLst>
          </p:cNvPr>
          <p:cNvSpPr txBox="1"/>
          <p:nvPr/>
        </p:nvSpPr>
        <p:spPr>
          <a:xfrm>
            <a:off x="6477000" y="4330700"/>
            <a:ext cx="5295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PhysX: </a:t>
            </a:r>
            <a:r>
              <a:rPr lang="ko-KR" altLang="en-US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물성이 같으면 수정하지 않음</a:t>
            </a:r>
          </a:p>
        </p:txBody>
      </p:sp>
      <p:sp>
        <p:nvSpPr>
          <p:cNvPr id="29" name="S17_028_text">
            <a:extLst>
              <a:ext uri="{FF2B5EF4-FFF2-40B4-BE49-F238E27FC236}">
                <a16:creationId xmlns:a16="http://schemas.microsoft.com/office/drawing/2014/main" id="{6B7D22CE-41FD-6D57-5821-411C71D7A145}"/>
              </a:ext>
            </a:extLst>
          </p:cNvPr>
          <p:cNvSpPr txBox="1"/>
          <p:nvPr/>
        </p:nvSpPr>
        <p:spPr>
          <a:xfrm>
            <a:off x="6477000" y="4902200"/>
            <a:ext cx="51689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Armature </a:t>
            </a:r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보존 </a:t>
            </a:r>
            <a:r>
              <a:rPr lang="en-US" altLang="ko-KR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nominal control</a:t>
            </a:r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</a:t>
            </a:r>
            <a:r>
              <a:rPr lang="en-US" altLang="ko-KR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empty
</a:t>
            </a:r>
            <a:r>
              <a:rPr lang="ko-KR" altLang="en-US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주입 조건에서는 네 그룹을 복원</a:t>
            </a:r>
          </a:p>
        </p:txBody>
      </p:sp>
      <p:cxnSp>
        <p:nvCxnSpPr>
          <p:cNvPr id="30" name="S17_029_line">
            <a:extLst>
              <a:ext uri="{FF2B5EF4-FFF2-40B4-BE49-F238E27FC236}">
                <a16:creationId xmlns:a16="http://schemas.microsoft.com/office/drawing/2014/main" id="{979F67A9-FE96-557C-7A49-A405D6EB1988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17_030_text">
            <a:extLst>
              <a:ext uri="{FF2B5EF4-FFF2-40B4-BE49-F238E27FC236}">
                <a16:creationId xmlns:a16="http://schemas.microsoft.com/office/drawing/2014/main" id="{C2019594-2948-C68E-B4BB-C3C0FF91FB02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Cross-engine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차이는 “설명 가능한 물성 차이”와 “남는 모델 차이”로 나눠 본다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6631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_001_text">
            <a:extLst>
              <a:ext uri="{FF2B5EF4-FFF2-40B4-BE49-F238E27FC236}">
                <a16:creationId xmlns:a16="http://schemas.microsoft.com/office/drawing/2014/main" id="{6D4A9510-7282-991D-3DE7-AC4ACDA51D67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RESULTS · UNSEEN CONTACT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18_002_text">
            <a:extLst>
              <a:ext uri="{FF2B5EF4-FFF2-40B4-BE49-F238E27FC236}">
                <a16:creationId xmlns:a16="http://schemas.microsoft.com/office/drawing/2014/main" id="{C2DFE5F1-4B01-543D-266E-0C7C1AC1109C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접촉을 잘 예측해도 올바른 물성이 입증되는 것은 아니다</a:t>
            </a:r>
          </a:p>
        </p:txBody>
      </p:sp>
      <p:cxnSp>
        <p:nvCxnSpPr>
          <p:cNvPr id="4" name="S18_003_line">
            <a:extLst>
              <a:ext uri="{FF2B5EF4-FFF2-40B4-BE49-F238E27FC236}">
                <a16:creationId xmlns:a16="http://schemas.microsoft.com/office/drawing/2014/main" id="{63599514-31D3-F530-BF93-83599DEB8768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18_004_text">
            <a:extLst>
              <a:ext uri="{FF2B5EF4-FFF2-40B4-BE49-F238E27FC236}">
                <a16:creationId xmlns:a16="http://schemas.microsoft.com/office/drawing/2014/main" id="{68505A34-B25B-1838-50BB-AD46760C3C3E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Table 6 · contact_Forward.json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18_005_text">
            <a:extLst>
              <a:ext uri="{FF2B5EF4-FFF2-40B4-BE49-F238E27FC236}">
                <a16:creationId xmlns:a16="http://schemas.microsoft.com/office/drawing/2014/main" id="{9878A215-C9B3-A517-8144-21CCB5343699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18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18_006_text">
            <a:extLst>
              <a:ext uri="{FF2B5EF4-FFF2-40B4-BE49-F238E27FC236}">
                <a16:creationId xmlns:a16="http://schemas.microsoft.com/office/drawing/2014/main" id="{2BBDA789-EAF2-834F-CA6D-98336CB97D1F}"/>
              </a:ext>
            </a:extLst>
          </p:cNvPr>
          <p:cNvSpPr txBox="1"/>
          <p:nvPr/>
        </p:nvSpPr>
        <p:spPr>
          <a:xfrm>
            <a:off x="571500" y="1587500"/>
            <a:ext cx="406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Probe–plate press · </a:t>
            </a:r>
            <a:r>
              <a:rPr lang="ko-KR" altLang="en-US" sz="20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개념도</a:t>
            </a:r>
          </a:p>
        </p:txBody>
      </p:sp>
      <p:sp>
        <p:nvSpPr>
          <p:cNvPr id="8" name="S18_007_rect">
            <a:extLst>
              <a:ext uri="{FF2B5EF4-FFF2-40B4-BE49-F238E27FC236}">
                <a16:creationId xmlns:a16="http://schemas.microsoft.com/office/drawing/2014/main" id="{CF63FE20-EF41-A539-9ABF-5144468AA13C}"/>
              </a:ext>
            </a:extLst>
          </p:cNvPr>
          <p:cNvSpPr/>
          <p:nvPr/>
        </p:nvSpPr>
        <p:spPr>
          <a:xfrm>
            <a:off x="2108200" y="2413000"/>
            <a:ext cx="228600" cy="1104900"/>
          </a:xfrm>
          <a:prstGeom prst="rect">
            <a:avLst/>
          </a:prstGeom>
          <a:solidFill>
            <a:srgbClr val="879AAB"/>
          </a:solidFill>
          <a:ln w="7620">
            <a:solidFill>
              <a:srgbClr val="879A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S18_008_circle">
            <a:extLst>
              <a:ext uri="{FF2B5EF4-FFF2-40B4-BE49-F238E27FC236}">
                <a16:creationId xmlns:a16="http://schemas.microsoft.com/office/drawing/2014/main" id="{5385F85A-4DD5-FB75-0AF2-ED2AE5703B08}"/>
              </a:ext>
            </a:extLst>
          </p:cNvPr>
          <p:cNvSpPr/>
          <p:nvPr/>
        </p:nvSpPr>
        <p:spPr>
          <a:xfrm>
            <a:off x="2057400" y="3479800"/>
            <a:ext cx="330200" cy="330200"/>
          </a:xfrm>
          <a:prstGeom prst="ellipse">
            <a:avLst/>
          </a:prstGeom>
          <a:solidFill>
            <a:srgbClr val="2874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S18_009_rect">
            <a:extLst>
              <a:ext uri="{FF2B5EF4-FFF2-40B4-BE49-F238E27FC236}">
                <a16:creationId xmlns:a16="http://schemas.microsoft.com/office/drawing/2014/main" id="{C806D216-F7E5-895B-4CC3-C7512E54235F}"/>
              </a:ext>
            </a:extLst>
          </p:cNvPr>
          <p:cNvSpPr/>
          <p:nvPr/>
        </p:nvSpPr>
        <p:spPr>
          <a:xfrm>
            <a:off x="787400" y="4406900"/>
            <a:ext cx="3136900" cy="215900"/>
          </a:xfrm>
          <a:prstGeom prst="rect">
            <a:avLst/>
          </a:prstGeom>
          <a:solidFill>
            <a:srgbClr val="C7D2DC"/>
          </a:solidFill>
          <a:ln w="7620">
            <a:solidFill>
              <a:srgbClr val="C7D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S18_010_line">
            <a:extLst>
              <a:ext uri="{FF2B5EF4-FFF2-40B4-BE49-F238E27FC236}">
                <a16:creationId xmlns:a16="http://schemas.microsoft.com/office/drawing/2014/main" id="{ACEAC22A-D019-4934-5C96-AEF592901B6E}"/>
              </a:ext>
            </a:extLst>
          </p:cNvPr>
          <p:cNvCxnSpPr/>
          <p:nvPr/>
        </p:nvCxnSpPr>
        <p:spPr>
          <a:xfrm>
            <a:off x="2222500" y="3886200"/>
            <a:ext cx="0" cy="406400"/>
          </a:xfrm>
          <a:prstGeom prst="straightConnector1">
            <a:avLst/>
          </a:prstGeom>
          <a:ln w="12700">
            <a:solidFill>
              <a:srgbClr val="6575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18_011_text">
            <a:extLst>
              <a:ext uri="{FF2B5EF4-FFF2-40B4-BE49-F238E27FC236}">
                <a16:creationId xmlns:a16="http://schemas.microsoft.com/office/drawing/2014/main" id="{B43008D3-F84A-5C28-21DF-5F87D6EAEEBF}"/>
              </a:ext>
            </a:extLst>
          </p:cNvPr>
          <p:cNvSpPr txBox="1"/>
          <p:nvPr/>
        </p:nvSpPr>
        <p:spPr>
          <a:xfrm>
            <a:off x="571500" y="4914900"/>
            <a:ext cx="38354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26 mm </a:t>
            </a:r>
            <a:r>
              <a:rPr lang="ko-KR" altLang="en-US" sz="1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초기 간격
</a:t>
            </a:r>
            <a:r>
              <a:rPr lang="en-US" altLang="ko-KR" sz="1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29 mm </a:t>
            </a:r>
            <a:r>
              <a:rPr lang="ko-KR" altLang="en-US" sz="1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하강 → </a:t>
            </a:r>
            <a:r>
              <a:rPr lang="en-US" altLang="ko-KR" sz="1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hold</a:t>
            </a:r>
            <a:endParaRPr lang="ko-KR" altLang="en-US" sz="1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3" name="S18_012_line">
            <a:extLst>
              <a:ext uri="{FF2B5EF4-FFF2-40B4-BE49-F238E27FC236}">
                <a16:creationId xmlns:a16="http://schemas.microsoft.com/office/drawing/2014/main" id="{6A1D22C7-1BFF-2580-79EA-9A4A291C0CA2}"/>
              </a:ext>
            </a:extLst>
          </p:cNvPr>
          <p:cNvCxnSpPr/>
          <p:nvPr/>
        </p:nvCxnSpPr>
        <p:spPr>
          <a:xfrm>
            <a:off x="4635500" y="2032000"/>
            <a:ext cx="7010400" cy="0"/>
          </a:xfrm>
          <a:prstGeom prst="straightConnector1">
            <a:avLst/>
          </a:prstGeom>
          <a:ln w="12700">
            <a:solidFill>
              <a:srgbClr val="2032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18_013_text">
            <a:extLst>
              <a:ext uri="{FF2B5EF4-FFF2-40B4-BE49-F238E27FC236}">
                <a16:creationId xmlns:a16="http://schemas.microsoft.com/office/drawing/2014/main" id="{AFDDAE1B-2DF4-A4DB-30CC-4CD89CFE736D}"/>
              </a:ext>
            </a:extLst>
          </p:cNvPr>
          <p:cNvSpPr txBox="1"/>
          <p:nvPr/>
        </p:nvSpPr>
        <p:spPr>
          <a:xfrm>
            <a:off x="4737100" y="2133600"/>
            <a:ext cx="24257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MuJoCo press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S18_014_text">
            <a:extLst>
              <a:ext uri="{FF2B5EF4-FFF2-40B4-BE49-F238E27FC236}">
                <a16:creationId xmlns:a16="http://schemas.microsoft.com/office/drawing/2014/main" id="{11958EB6-1019-ACCF-516C-D887D166AC90}"/>
              </a:ext>
            </a:extLst>
          </p:cNvPr>
          <p:cNvSpPr txBox="1"/>
          <p:nvPr/>
        </p:nvSpPr>
        <p:spPr>
          <a:xfrm>
            <a:off x="7366000" y="2133600"/>
            <a:ext cx="1257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Reference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S18_015_text">
            <a:extLst>
              <a:ext uri="{FF2B5EF4-FFF2-40B4-BE49-F238E27FC236}">
                <a16:creationId xmlns:a16="http://schemas.microsoft.com/office/drawing/2014/main" id="{BFAC5875-F748-85F2-8F07-F6AA3C75C716}"/>
              </a:ext>
            </a:extLst>
          </p:cNvPr>
          <p:cNvSpPr txBox="1"/>
          <p:nvPr/>
        </p:nvSpPr>
        <p:spPr>
          <a:xfrm>
            <a:off x="8826500" y="2133600"/>
            <a:ext cx="1257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Dense LS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S18_016_text">
            <a:extLst>
              <a:ext uri="{FF2B5EF4-FFF2-40B4-BE49-F238E27FC236}">
                <a16:creationId xmlns:a16="http://schemas.microsoft.com/office/drawing/2014/main" id="{AC3C86D0-C11A-4F8F-7778-6E82BBE9084F}"/>
              </a:ext>
            </a:extLst>
          </p:cNvPr>
          <p:cNvSpPr txBox="1"/>
          <p:nvPr/>
        </p:nvSpPr>
        <p:spPr>
          <a:xfrm>
            <a:off x="10287000" y="2133600"/>
            <a:ext cx="1257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</a:t>
            </a:r>
            <a:endParaRPr lang="ko-KR" altLang="en-US" sz="1400" b="1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8" name="S18_017_line">
            <a:extLst>
              <a:ext uri="{FF2B5EF4-FFF2-40B4-BE49-F238E27FC236}">
                <a16:creationId xmlns:a16="http://schemas.microsoft.com/office/drawing/2014/main" id="{3F4737B4-C6D8-A6B8-3C24-77A0DD4B73D2}"/>
              </a:ext>
            </a:extLst>
          </p:cNvPr>
          <p:cNvCxnSpPr/>
          <p:nvPr/>
        </p:nvCxnSpPr>
        <p:spPr>
          <a:xfrm>
            <a:off x="4635500" y="2819400"/>
            <a:ext cx="7010400" cy="0"/>
          </a:xfrm>
          <a:prstGeom prst="straightConnector1">
            <a:avLst/>
          </a:prstGeom>
          <a:ln w="8890">
            <a:solidFill>
              <a:srgbClr val="2032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18_018_text">
            <a:extLst>
              <a:ext uri="{FF2B5EF4-FFF2-40B4-BE49-F238E27FC236}">
                <a16:creationId xmlns:a16="http://schemas.microsoft.com/office/drawing/2014/main" id="{31A9DF77-BF2C-89F0-7088-EDC2872430D3}"/>
              </a:ext>
            </a:extLst>
          </p:cNvPr>
          <p:cNvSpPr txBox="1"/>
          <p:nvPr/>
        </p:nvSpPr>
        <p:spPr>
          <a:xfrm>
            <a:off x="4737100" y="2933700"/>
            <a:ext cx="2425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접촉 시작 </a:t>
            </a:r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(s)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S18_019_text">
            <a:extLst>
              <a:ext uri="{FF2B5EF4-FFF2-40B4-BE49-F238E27FC236}">
                <a16:creationId xmlns:a16="http://schemas.microsoft.com/office/drawing/2014/main" id="{6CFD0455-89E0-0222-D2EF-BA7E68F0BCE3}"/>
              </a:ext>
            </a:extLst>
          </p:cNvPr>
          <p:cNvSpPr txBox="1"/>
          <p:nvPr/>
        </p:nvSpPr>
        <p:spPr>
          <a:xfrm>
            <a:off x="7366000" y="2933700"/>
            <a:ext cx="1257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1.485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S18_020_text">
            <a:extLst>
              <a:ext uri="{FF2B5EF4-FFF2-40B4-BE49-F238E27FC236}">
                <a16:creationId xmlns:a16="http://schemas.microsoft.com/office/drawing/2014/main" id="{3679430F-A654-0200-2397-5E8F6FD6F3AC}"/>
              </a:ext>
            </a:extLst>
          </p:cNvPr>
          <p:cNvSpPr txBox="1"/>
          <p:nvPr/>
        </p:nvSpPr>
        <p:spPr>
          <a:xfrm>
            <a:off x="8826500" y="2933700"/>
            <a:ext cx="1257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1.486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S18_021_text">
            <a:extLst>
              <a:ext uri="{FF2B5EF4-FFF2-40B4-BE49-F238E27FC236}">
                <a16:creationId xmlns:a16="http://schemas.microsoft.com/office/drawing/2014/main" id="{8749B39E-3F05-7B44-9863-F5D9CCD79B29}"/>
              </a:ext>
            </a:extLst>
          </p:cNvPr>
          <p:cNvSpPr txBox="1"/>
          <p:nvPr/>
        </p:nvSpPr>
        <p:spPr>
          <a:xfrm>
            <a:off x="10287000" y="2933700"/>
            <a:ext cx="1257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1.486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3" name="S18_022_line">
            <a:extLst>
              <a:ext uri="{FF2B5EF4-FFF2-40B4-BE49-F238E27FC236}">
                <a16:creationId xmlns:a16="http://schemas.microsoft.com/office/drawing/2014/main" id="{A49DAC72-A806-FCD7-446A-F8019647AED4}"/>
              </a:ext>
            </a:extLst>
          </p:cNvPr>
          <p:cNvCxnSpPr/>
          <p:nvPr/>
        </p:nvCxnSpPr>
        <p:spPr>
          <a:xfrm>
            <a:off x="4635500" y="3606800"/>
            <a:ext cx="70104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18_023_text">
            <a:extLst>
              <a:ext uri="{FF2B5EF4-FFF2-40B4-BE49-F238E27FC236}">
                <a16:creationId xmlns:a16="http://schemas.microsoft.com/office/drawing/2014/main" id="{3C905C02-CAB8-2CBA-ABDC-836A6ACC5DD6}"/>
              </a:ext>
            </a:extLst>
          </p:cNvPr>
          <p:cNvSpPr txBox="1"/>
          <p:nvPr/>
        </p:nvSpPr>
        <p:spPr>
          <a:xfrm>
            <a:off x="4737100" y="3721100"/>
            <a:ext cx="2425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Holding force (N)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S18_024_text">
            <a:extLst>
              <a:ext uri="{FF2B5EF4-FFF2-40B4-BE49-F238E27FC236}">
                <a16:creationId xmlns:a16="http://schemas.microsoft.com/office/drawing/2014/main" id="{0894F63A-CDB4-54E3-1822-3AFA0A939DDF}"/>
              </a:ext>
            </a:extLst>
          </p:cNvPr>
          <p:cNvSpPr txBox="1"/>
          <p:nvPr/>
        </p:nvSpPr>
        <p:spPr>
          <a:xfrm>
            <a:off x="7366000" y="3721100"/>
            <a:ext cx="1257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10.59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S18_025_text">
            <a:extLst>
              <a:ext uri="{FF2B5EF4-FFF2-40B4-BE49-F238E27FC236}">
                <a16:creationId xmlns:a16="http://schemas.microsoft.com/office/drawing/2014/main" id="{4DB54459-4CCD-6DA0-7C9A-8DC9019DFA32}"/>
              </a:ext>
            </a:extLst>
          </p:cNvPr>
          <p:cNvSpPr txBox="1"/>
          <p:nvPr/>
        </p:nvSpPr>
        <p:spPr>
          <a:xfrm>
            <a:off x="8826500" y="3721100"/>
            <a:ext cx="1257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10.90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" name="S18_026_text">
            <a:extLst>
              <a:ext uri="{FF2B5EF4-FFF2-40B4-BE49-F238E27FC236}">
                <a16:creationId xmlns:a16="http://schemas.microsoft.com/office/drawing/2014/main" id="{A5B21E33-5CED-1249-6C16-ABBEFB9DE502}"/>
              </a:ext>
            </a:extLst>
          </p:cNvPr>
          <p:cNvSpPr txBox="1"/>
          <p:nvPr/>
        </p:nvSpPr>
        <p:spPr>
          <a:xfrm>
            <a:off x="10287000" y="3721100"/>
            <a:ext cx="1257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10.90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8" name="S18_027_line">
            <a:extLst>
              <a:ext uri="{FF2B5EF4-FFF2-40B4-BE49-F238E27FC236}">
                <a16:creationId xmlns:a16="http://schemas.microsoft.com/office/drawing/2014/main" id="{8154C82A-23C2-340A-01C3-0EE19D586F35}"/>
              </a:ext>
            </a:extLst>
          </p:cNvPr>
          <p:cNvCxnSpPr/>
          <p:nvPr/>
        </p:nvCxnSpPr>
        <p:spPr>
          <a:xfrm>
            <a:off x="4635500" y="4394200"/>
            <a:ext cx="70104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18_028_text">
            <a:extLst>
              <a:ext uri="{FF2B5EF4-FFF2-40B4-BE49-F238E27FC236}">
                <a16:creationId xmlns:a16="http://schemas.microsoft.com/office/drawing/2014/main" id="{42F8E0BB-5108-EDB7-C101-D6A2F16DBDB6}"/>
              </a:ext>
            </a:extLst>
          </p:cNvPr>
          <p:cNvSpPr txBox="1"/>
          <p:nvPr/>
        </p:nvSpPr>
        <p:spPr>
          <a:xfrm>
            <a:off x="4737100" y="4508500"/>
            <a:ext cx="2425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TCP RMSE (mm)</a:t>
            </a:r>
            <a:endParaRPr lang="ko-KR" altLang="en-US" sz="16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S18_029_text">
            <a:extLst>
              <a:ext uri="{FF2B5EF4-FFF2-40B4-BE49-F238E27FC236}">
                <a16:creationId xmlns:a16="http://schemas.microsoft.com/office/drawing/2014/main" id="{38CAB16B-2CC1-032D-B317-3F8C98D71056}"/>
              </a:ext>
            </a:extLst>
          </p:cNvPr>
          <p:cNvSpPr txBox="1"/>
          <p:nvPr/>
        </p:nvSpPr>
        <p:spPr>
          <a:xfrm>
            <a:off x="7366000" y="4508500"/>
            <a:ext cx="1257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1" name="S18_030_text">
            <a:extLst>
              <a:ext uri="{FF2B5EF4-FFF2-40B4-BE49-F238E27FC236}">
                <a16:creationId xmlns:a16="http://schemas.microsoft.com/office/drawing/2014/main" id="{D4F6D082-F1E4-71E1-1451-A79AA90AAFE1}"/>
              </a:ext>
            </a:extLst>
          </p:cNvPr>
          <p:cNvSpPr txBox="1"/>
          <p:nvPr/>
        </p:nvSpPr>
        <p:spPr>
          <a:xfrm>
            <a:off x="8826500" y="4508500"/>
            <a:ext cx="1257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0.72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2" name="S18_031_text">
            <a:extLst>
              <a:ext uri="{FF2B5EF4-FFF2-40B4-BE49-F238E27FC236}">
                <a16:creationId xmlns:a16="http://schemas.microsoft.com/office/drawing/2014/main" id="{A340C3F4-4867-08EA-05B9-C2A9DF2F4F27}"/>
              </a:ext>
            </a:extLst>
          </p:cNvPr>
          <p:cNvSpPr txBox="1"/>
          <p:nvPr/>
        </p:nvSpPr>
        <p:spPr>
          <a:xfrm>
            <a:off x="10287000" y="4508500"/>
            <a:ext cx="1257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0.73</a:t>
            </a:r>
            <a:endParaRPr lang="ko-KR" altLang="en-US" sz="16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3" name="S18_032_line">
            <a:extLst>
              <a:ext uri="{FF2B5EF4-FFF2-40B4-BE49-F238E27FC236}">
                <a16:creationId xmlns:a16="http://schemas.microsoft.com/office/drawing/2014/main" id="{28161681-456A-5852-CFCA-835A7836B68B}"/>
              </a:ext>
            </a:extLst>
          </p:cNvPr>
          <p:cNvCxnSpPr/>
          <p:nvPr/>
        </p:nvCxnSpPr>
        <p:spPr>
          <a:xfrm>
            <a:off x="4635500" y="5181600"/>
            <a:ext cx="7010400" cy="0"/>
          </a:xfrm>
          <a:prstGeom prst="straightConnector1">
            <a:avLst/>
          </a:prstGeom>
          <a:ln w="762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18_033_text">
            <a:extLst>
              <a:ext uri="{FF2B5EF4-FFF2-40B4-BE49-F238E27FC236}">
                <a16:creationId xmlns:a16="http://schemas.microsoft.com/office/drawing/2014/main" id="{98A8093D-B398-5A3B-80F3-138387A2FD22}"/>
              </a:ext>
            </a:extLst>
          </p:cNvPr>
          <p:cNvSpPr txBox="1"/>
          <p:nvPr/>
        </p:nvSpPr>
        <p:spPr>
          <a:xfrm>
            <a:off x="4838700" y="4851400"/>
            <a:ext cx="65786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900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Calibration: free space only
Contact parameters: </a:t>
            </a:r>
            <a:r>
              <a:rPr lang="ko-KR" altLang="en-US" sz="1900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수정하지 않음</a:t>
            </a:r>
          </a:p>
        </p:txBody>
      </p:sp>
      <p:cxnSp>
        <p:nvCxnSpPr>
          <p:cNvPr id="35" name="S18_034_line">
            <a:extLst>
              <a:ext uri="{FF2B5EF4-FFF2-40B4-BE49-F238E27FC236}">
                <a16:creationId xmlns:a16="http://schemas.microsoft.com/office/drawing/2014/main" id="{22AFA7EA-F813-10A8-61CF-41DF4037B996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18_035_text">
            <a:extLst>
              <a:ext uri="{FF2B5EF4-FFF2-40B4-BE49-F238E27FC236}">
                <a16:creationId xmlns:a16="http://schemas.microsoft.com/office/drawing/2014/main" id="{EF0A3047-8FCB-CA26-A833-E4D8C2F73E83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새 과제의 성공도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attribution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검증을 대체하지 못한다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도구 편집 검증이 차이를 드러낸다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5306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9_001_text">
            <a:extLst>
              <a:ext uri="{FF2B5EF4-FFF2-40B4-BE49-F238E27FC236}">
                <a16:creationId xmlns:a16="http://schemas.microsoft.com/office/drawing/2014/main" id="{92535246-A0D5-AA42-A461-28CD028D4166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SCOPE &amp; LIMITATIONS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19_002_text">
            <a:extLst>
              <a:ext uri="{FF2B5EF4-FFF2-40B4-BE49-F238E27FC236}">
                <a16:creationId xmlns:a16="http://schemas.microsoft.com/office/drawing/2014/main" id="{10AA360C-70CA-1FF7-6908-9B67398AEC70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어디까지 믿을 수 있는가</a:t>
            </a:r>
            <a:r>
              <a:rPr lang="en-US" altLang="ko-KR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성공 조건과 식별 한계</a:t>
            </a:r>
          </a:p>
        </p:txBody>
      </p:sp>
      <p:cxnSp>
        <p:nvCxnSpPr>
          <p:cNvPr id="4" name="S19_003_line">
            <a:extLst>
              <a:ext uri="{FF2B5EF4-FFF2-40B4-BE49-F238E27FC236}">
                <a16:creationId xmlns:a16="http://schemas.microsoft.com/office/drawing/2014/main" id="{93AEA730-2447-C4B1-210D-284E81110763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19_004_text">
            <a:extLst>
              <a:ext uri="{FF2B5EF4-FFF2-40B4-BE49-F238E27FC236}">
                <a16:creationId xmlns:a16="http://schemas.microsoft.com/office/drawing/2014/main" id="{0EC39CCA-4134-06A9-4CD3-8070BE88DC3A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§5.5 · §6.5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19_005_text">
            <a:extLst>
              <a:ext uri="{FF2B5EF4-FFF2-40B4-BE49-F238E27FC236}">
                <a16:creationId xmlns:a16="http://schemas.microsoft.com/office/drawing/2014/main" id="{DC0BBA08-3B19-779F-8CDC-3A8C891D02B5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19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19_006_text">
            <a:extLst>
              <a:ext uri="{FF2B5EF4-FFF2-40B4-BE49-F238E27FC236}">
                <a16:creationId xmlns:a16="http://schemas.microsoft.com/office/drawing/2014/main" id="{CF41340C-F866-4038-EFE3-7BC6A2DAD56A}"/>
              </a:ext>
            </a:extLst>
          </p:cNvPr>
          <p:cNvSpPr txBox="1"/>
          <p:nvPr/>
        </p:nvSpPr>
        <p:spPr>
          <a:xfrm>
            <a:off x="546100" y="1676400"/>
            <a:ext cx="519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다른 변화 패턴에서도 확인</a:t>
            </a:r>
          </a:p>
        </p:txBody>
      </p:sp>
      <p:sp>
        <p:nvSpPr>
          <p:cNvPr id="8" name="S19_007_text">
            <a:extLst>
              <a:ext uri="{FF2B5EF4-FFF2-40B4-BE49-F238E27FC236}">
                <a16:creationId xmlns:a16="http://schemas.microsoft.com/office/drawing/2014/main" id="{71F7AC72-5F31-C4B0-BB31-B7153DCB1A2C}"/>
              </a:ext>
            </a:extLst>
          </p:cNvPr>
          <p:cNvSpPr txBox="1"/>
          <p:nvPr/>
        </p:nvSpPr>
        <p:spPr>
          <a:xfrm>
            <a:off x="546100" y="2387600"/>
            <a:ext cx="5232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1.2 kg payload → 1.200 kg
</a:t>
            </a:r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다른 관절 마찰</a:t>
            </a:r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다른 링크 질량에도 적용
분산된 변화에서는 </a:t>
            </a:r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0.8 kg → 0.75 kg</a:t>
            </a:r>
            <a:endParaRPr lang="ko-KR" altLang="en-US" sz="2000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S19_008_text">
            <a:extLst>
              <a:ext uri="{FF2B5EF4-FFF2-40B4-BE49-F238E27FC236}">
                <a16:creationId xmlns:a16="http://schemas.microsoft.com/office/drawing/2014/main" id="{A9D4C745-F2D1-93E6-4364-C82687CB60A3}"/>
              </a:ext>
            </a:extLst>
          </p:cNvPr>
          <p:cNvSpPr txBox="1"/>
          <p:nvPr/>
        </p:nvSpPr>
        <p:spPr>
          <a:xfrm>
            <a:off x="6413500" y="1676400"/>
            <a:ext cx="516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B47B2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식별 한계가 드러나는 경우</a:t>
            </a:r>
          </a:p>
        </p:txBody>
      </p:sp>
      <p:sp>
        <p:nvSpPr>
          <p:cNvPr id="10" name="S19_009_text">
            <a:extLst>
              <a:ext uri="{FF2B5EF4-FFF2-40B4-BE49-F238E27FC236}">
                <a16:creationId xmlns:a16="http://schemas.microsoft.com/office/drawing/2014/main" id="{EAF8A607-2D2A-B1FB-F1DF-2040A7B076AF}"/>
              </a:ext>
            </a:extLst>
          </p:cNvPr>
          <p:cNvSpPr txBox="1"/>
          <p:nvPr/>
        </p:nvSpPr>
        <p:spPr>
          <a:xfrm>
            <a:off x="6413500" y="2387600"/>
            <a:ext cx="51435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Joint-7 </a:t>
            </a:r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축 위 </a:t>
            </a:r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 ↔ link6</a:t>
            </a:r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</a:t>
            </a:r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alias
Link3</a:t>
            </a:r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개별 질량은 유일하지 않음
높은 노이즈에서 </a:t>
            </a:r>
            <a:r>
              <a:rPr lang="en-US" altLang="ko-KR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link3 ↔ link4 </a:t>
            </a:r>
            <a:r>
              <a:rPr lang="ko-KR" altLang="en-US" sz="2000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교체</a:t>
            </a:r>
          </a:p>
        </p:txBody>
      </p:sp>
      <p:cxnSp>
        <p:nvCxnSpPr>
          <p:cNvPr id="11" name="S19_010_line">
            <a:extLst>
              <a:ext uri="{FF2B5EF4-FFF2-40B4-BE49-F238E27FC236}">
                <a16:creationId xmlns:a16="http://schemas.microsoft.com/office/drawing/2014/main" id="{23D4148B-FD27-0451-DA16-202BBE496341}"/>
              </a:ext>
            </a:extLst>
          </p:cNvPr>
          <p:cNvCxnSpPr/>
          <p:nvPr/>
        </p:nvCxnSpPr>
        <p:spPr>
          <a:xfrm>
            <a:off x="571500" y="4584700"/>
            <a:ext cx="110617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19_011_text">
            <a:extLst>
              <a:ext uri="{FF2B5EF4-FFF2-40B4-BE49-F238E27FC236}">
                <a16:creationId xmlns:a16="http://schemas.microsoft.com/office/drawing/2014/main" id="{9A648AB9-3B3A-120F-9E6A-F67AB47B02BF}"/>
              </a:ext>
            </a:extLst>
          </p:cNvPr>
          <p:cNvSpPr txBox="1"/>
          <p:nvPr/>
        </p:nvSpPr>
        <p:spPr>
          <a:xfrm>
            <a:off x="546100" y="4914900"/>
            <a:ext cx="11112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실기 검증 없음 </a:t>
            </a:r>
            <a:r>
              <a:rPr lang="en-US" altLang="ko-KR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FR3 </a:t>
            </a:r>
            <a:r>
              <a:rPr lang="ko-KR" altLang="en-US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계열 </a:t>
            </a:r>
            <a:r>
              <a:rPr lang="en-US" altLang="ko-KR" sz="22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sparse-change prior · greedy search</a:t>
            </a:r>
            <a:endParaRPr lang="ko-KR" altLang="en-US" sz="22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S19_012_text">
            <a:extLst>
              <a:ext uri="{FF2B5EF4-FFF2-40B4-BE49-F238E27FC236}">
                <a16:creationId xmlns:a16="http://schemas.microsoft.com/office/drawing/2014/main" id="{E11ADD33-C760-3F8E-1A58-8217E8C03D36}"/>
              </a:ext>
            </a:extLst>
          </p:cNvPr>
          <p:cNvSpPr txBox="1"/>
          <p:nvPr/>
        </p:nvSpPr>
        <p:spPr>
          <a:xfrm>
            <a:off x="546100" y="5473700"/>
            <a:ext cx="1111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선택 안정성은 고정 궤적에서의 </a:t>
            </a:r>
            <a:r>
              <a:rPr lang="en-US" altLang="ko-KR" sz="16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noise resampling </a:t>
            </a:r>
            <a:r>
              <a:rPr lang="ko-KR" altLang="en-US" sz="16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결과이며 “정답 확률”은 아니다</a:t>
            </a:r>
            <a:r>
              <a:rPr lang="en-US" altLang="ko-KR" sz="16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4" name="S19_013_line">
            <a:extLst>
              <a:ext uri="{FF2B5EF4-FFF2-40B4-BE49-F238E27FC236}">
                <a16:creationId xmlns:a16="http://schemas.microsoft.com/office/drawing/2014/main" id="{2C7E321A-7684-7B05-0DA7-B12A5BF6A037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19_014_text">
            <a:extLst>
              <a:ext uri="{FF2B5EF4-FFF2-40B4-BE49-F238E27FC236}">
                <a16:creationId xmlns:a16="http://schemas.microsoft.com/office/drawing/2014/main" id="{65A47085-1718-A03D-09AC-D00551C77D8A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주장의 범위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물리 정답을 아는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controlled / cross-engine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조건에서 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attribution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가치를 검증</a:t>
            </a:r>
          </a:p>
        </p:txBody>
      </p:sp>
    </p:spTree>
    <p:extLst>
      <p:ext uri="{BB962C8B-B14F-4D97-AF65-F5344CB8AC3E}">
        <p14:creationId xmlns:p14="http://schemas.microsoft.com/office/powerpoint/2010/main" val="2859760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0_001_text">
            <a:extLst>
              <a:ext uri="{FF2B5EF4-FFF2-40B4-BE49-F238E27FC236}">
                <a16:creationId xmlns:a16="http://schemas.microsoft.com/office/drawing/2014/main" id="{BA0193AE-EC72-6C8E-D179-6D8464042BFE}"/>
              </a:ext>
            </a:extLst>
          </p:cNvPr>
          <p:cNvSpPr txBox="1"/>
          <p:nvPr/>
        </p:nvSpPr>
        <p:spPr>
          <a:xfrm>
            <a:off x="457200" y="2032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2874B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TAKEAWAYS &amp; DISCUSSION</a:t>
            </a:r>
            <a:endParaRPr lang="ko-KR" altLang="en-US" sz="1000" b="1">
              <a:solidFill>
                <a:srgbClr val="2874B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S20_002_text">
            <a:extLst>
              <a:ext uri="{FF2B5EF4-FFF2-40B4-BE49-F238E27FC236}">
                <a16:creationId xmlns:a16="http://schemas.microsoft.com/office/drawing/2014/main" id="{65FC5ACA-28F3-FA6C-3261-EDBFD008F839}"/>
              </a:ext>
            </a:extLst>
          </p:cNvPr>
          <p:cNvSpPr txBox="1"/>
          <p:nvPr/>
        </p:nvSpPr>
        <p:spPr>
          <a:xfrm>
            <a:off x="457200" y="533400"/>
            <a:ext cx="1132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학생이 가져가야 할 세 가지 질문</a:t>
            </a:r>
          </a:p>
        </p:txBody>
      </p:sp>
      <p:cxnSp>
        <p:nvCxnSpPr>
          <p:cNvPr id="4" name="S20_003_line">
            <a:extLst>
              <a:ext uri="{FF2B5EF4-FFF2-40B4-BE49-F238E27FC236}">
                <a16:creationId xmlns:a16="http://schemas.microsoft.com/office/drawing/2014/main" id="{AD876DB0-5E0F-CEFD-9E57-86F8F3893E04}"/>
              </a:ext>
            </a:extLst>
          </p:cNvPr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20_004_text">
            <a:extLst>
              <a:ext uri="{FF2B5EF4-FFF2-40B4-BE49-F238E27FC236}">
                <a16:creationId xmlns:a16="http://schemas.microsoft.com/office/drawing/2014/main" id="{C8CB45EF-990C-3B7B-2510-5A3F626EEDAB}"/>
              </a:ext>
            </a:extLst>
          </p:cNvPr>
          <p:cNvSpPr txBox="1"/>
          <p:nvPr/>
        </p:nvSpPr>
        <p:spPr>
          <a:xfrm>
            <a:off x="457200" y="6604000"/>
            <a:ext cx="1041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 · </a:t>
            </a:r>
            <a:r>
              <a:rPr lang="ko-KR" altLang="en-US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학생 설명용 </a:t>
            </a:r>
            <a:r>
              <a:rPr lang="en-US" altLang="ko-KR" sz="9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Conclusion · teaching prompts</a:t>
            </a:r>
            <a:endParaRPr lang="ko-KR" altLang="en-US" sz="9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S20_005_text">
            <a:extLst>
              <a:ext uri="{FF2B5EF4-FFF2-40B4-BE49-F238E27FC236}">
                <a16:creationId xmlns:a16="http://schemas.microsoft.com/office/drawing/2014/main" id="{9B0669BE-856A-D7CA-9393-B1E3503E9127}"/>
              </a:ext>
            </a:extLst>
          </p:cNvPr>
          <p:cNvSpPr txBox="1"/>
          <p:nvPr/>
        </p:nvSpPr>
        <p:spPr>
          <a:xfrm>
            <a:off x="11023600" y="65913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20 / 20</a:t>
            </a:r>
            <a:endParaRPr lang="ko-KR" altLang="en-US" sz="1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20_006_circle">
            <a:extLst>
              <a:ext uri="{FF2B5EF4-FFF2-40B4-BE49-F238E27FC236}">
                <a16:creationId xmlns:a16="http://schemas.microsoft.com/office/drawing/2014/main" id="{066A2528-A9C8-33B6-4648-2EFAE6D0FB7E}"/>
              </a:ext>
            </a:extLst>
          </p:cNvPr>
          <p:cNvSpPr/>
          <p:nvPr/>
        </p:nvSpPr>
        <p:spPr>
          <a:xfrm>
            <a:off x="584200" y="1600200"/>
            <a:ext cx="457200" cy="457200"/>
          </a:xfrm>
          <a:prstGeom prst="ellipse">
            <a:avLst/>
          </a:prstGeom>
          <a:solidFill>
            <a:srgbClr val="2874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S20_007_text">
            <a:extLst>
              <a:ext uri="{FF2B5EF4-FFF2-40B4-BE49-F238E27FC236}">
                <a16:creationId xmlns:a16="http://schemas.microsoft.com/office/drawing/2014/main" id="{3E5D8C03-CF78-B009-3453-1B3ED9802976}"/>
              </a:ext>
            </a:extLst>
          </p:cNvPr>
          <p:cNvSpPr txBox="1"/>
          <p:nvPr/>
        </p:nvSpPr>
        <p:spPr>
          <a:xfrm>
            <a:off x="660400" y="1638300"/>
            <a:ext cx="304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22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S20_008_text">
            <a:extLst>
              <a:ext uri="{FF2B5EF4-FFF2-40B4-BE49-F238E27FC236}">
                <a16:creationId xmlns:a16="http://schemas.microsoft.com/office/drawing/2014/main" id="{BA93DEB0-E280-BE11-B32E-6758D6840550}"/>
              </a:ext>
            </a:extLst>
          </p:cNvPr>
          <p:cNvSpPr txBox="1"/>
          <p:nvPr/>
        </p:nvSpPr>
        <p:spPr>
          <a:xfrm>
            <a:off x="1333500" y="1612900"/>
            <a:ext cx="9956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무엇을 맞혔는가</a:t>
            </a:r>
            <a:r>
              <a:rPr lang="en-US" altLang="ko-KR" sz="2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2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S20_009_text">
            <a:extLst>
              <a:ext uri="{FF2B5EF4-FFF2-40B4-BE49-F238E27FC236}">
                <a16:creationId xmlns:a16="http://schemas.microsoft.com/office/drawing/2014/main" id="{DECCEAB9-043F-5E70-FC35-037DDB99DEE0}"/>
              </a:ext>
            </a:extLst>
          </p:cNvPr>
          <p:cNvSpPr txBox="1"/>
          <p:nvPr/>
        </p:nvSpPr>
        <p:spPr>
          <a:xfrm>
            <a:off x="1346200" y="2197100"/>
            <a:ext cx="9956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출력의 일치와 물성의 정답은 다르다</a:t>
            </a:r>
            <a:r>
              <a:rPr lang="en-US" altLang="ko-KR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S20_010_circle">
            <a:extLst>
              <a:ext uri="{FF2B5EF4-FFF2-40B4-BE49-F238E27FC236}">
                <a16:creationId xmlns:a16="http://schemas.microsoft.com/office/drawing/2014/main" id="{3B0FF0A0-3A76-CC63-5D12-02912EAEA7AE}"/>
              </a:ext>
            </a:extLst>
          </p:cNvPr>
          <p:cNvSpPr/>
          <p:nvPr/>
        </p:nvSpPr>
        <p:spPr>
          <a:xfrm>
            <a:off x="584200" y="2959100"/>
            <a:ext cx="457200" cy="457200"/>
          </a:xfrm>
          <a:prstGeom prst="ellipse">
            <a:avLst/>
          </a:prstGeom>
          <a:solidFill>
            <a:srgbClr val="2874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S20_011_text">
            <a:extLst>
              <a:ext uri="{FF2B5EF4-FFF2-40B4-BE49-F238E27FC236}">
                <a16:creationId xmlns:a16="http://schemas.microsoft.com/office/drawing/2014/main" id="{7F22D56D-393B-6ED3-D2C7-07AC8FC4CD6C}"/>
              </a:ext>
            </a:extLst>
          </p:cNvPr>
          <p:cNvSpPr txBox="1"/>
          <p:nvPr/>
        </p:nvSpPr>
        <p:spPr>
          <a:xfrm>
            <a:off x="660400" y="2997200"/>
            <a:ext cx="304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22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S20_012_text">
            <a:extLst>
              <a:ext uri="{FF2B5EF4-FFF2-40B4-BE49-F238E27FC236}">
                <a16:creationId xmlns:a16="http://schemas.microsoft.com/office/drawing/2014/main" id="{A8C6752D-8525-3858-F87F-D49096C1374D}"/>
              </a:ext>
            </a:extLst>
          </p:cNvPr>
          <p:cNvSpPr txBox="1"/>
          <p:nvPr/>
        </p:nvSpPr>
        <p:spPr>
          <a:xfrm>
            <a:off x="1333500" y="2971800"/>
            <a:ext cx="9956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보정은 어디에 속하는가</a:t>
            </a:r>
            <a:r>
              <a:rPr lang="en-US" altLang="ko-KR" sz="2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2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S20_013_text">
            <a:extLst>
              <a:ext uri="{FF2B5EF4-FFF2-40B4-BE49-F238E27FC236}">
                <a16:creationId xmlns:a16="http://schemas.microsoft.com/office/drawing/2014/main" id="{CC21783B-1751-8445-790A-913E4D295F7A}"/>
              </a:ext>
            </a:extLst>
          </p:cNvPr>
          <p:cNvSpPr txBox="1"/>
          <p:nvPr/>
        </p:nvSpPr>
        <p:spPr>
          <a:xfrm>
            <a:off x="1346200" y="3556000"/>
            <a:ext cx="9956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SAPC</a:t>
            </a:r>
            <a:r>
              <a:rPr lang="ko-KR" altLang="en-US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소수의 물리 그룹을 선택하고 </a:t>
            </a:r>
            <a:r>
              <a:rPr lang="en-US" altLang="ko-KR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native twin</a:t>
            </a:r>
            <a:r>
              <a:rPr lang="ko-KR" altLang="en-US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기록한다</a:t>
            </a:r>
            <a:r>
              <a:rPr lang="en-US" altLang="ko-KR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S20_014_circle">
            <a:extLst>
              <a:ext uri="{FF2B5EF4-FFF2-40B4-BE49-F238E27FC236}">
                <a16:creationId xmlns:a16="http://schemas.microsoft.com/office/drawing/2014/main" id="{F1C2F030-EF38-0183-3539-F0A73E1F0472}"/>
              </a:ext>
            </a:extLst>
          </p:cNvPr>
          <p:cNvSpPr/>
          <p:nvPr/>
        </p:nvSpPr>
        <p:spPr>
          <a:xfrm>
            <a:off x="584200" y="4318000"/>
            <a:ext cx="457200" cy="457200"/>
          </a:xfrm>
          <a:prstGeom prst="ellipse">
            <a:avLst/>
          </a:prstGeom>
          <a:solidFill>
            <a:srgbClr val="2874B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S20_015_text">
            <a:extLst>
              <a:ext uri="{FF2B5EF4-FFF2-40B4-BE49-F238E27FC236}">
                <a16:creationId xmlns:a16="http://schemas.microsoft.com/office/drawing/2014/main" id="{A6F31252-B5AD-734C-6F6D-0446A0E96525}"/>
              </a:ext>
            </a:extLst>
          </p:cNvPr>
          <p:cNvSpPr txBox="1"/>
          <p:nvPr/>
        </p:nvSpPr>
        <p:spPr>
          <a:xfrm>
            <a:off x="660400" y="4356100"/>
            <a:ext cx="304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22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S20_016_text">
            <a:extLst>
              <a:ext uri="{FF2B5EF4-FFF2-40B4-BE49-F238E27FC236}">
                <a16:creationId xmlns:a16="http://schemas.microsoft.com/office/drawing/2014/main" id="{77202A55-F80F-9EA7-3E8C-8F6ECECC6848}"/>
              </a:ext>
            </a:extLst>
          </p:cNvPr>
          <p:cNvSpPr txBox="1"/>
          <p:nvPr/>
        </p:nvSpPr>
        <p:spPr>
          <a:xfrm>
            <a:off x="1333500" y="4330700"/>
            <a:ext cx="9956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부품을 바꿔도 쓸 수 있는가</a:t>
            </a:r>
            <a:r>
              <a:rPr lang="en-US" altLang="ko-KR" sz="2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2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S20_017_text">
            <a:extLst>
              <a:ext uri="{FF2B5EF4-FFF2-40B4-BE49-F238E27FC236}">
                <a16:creationId xmlns:a16="http://schemas.microsoft.com/office/drawing/2014/main" id="{FB448A86-E86E-DC70-EB2C-B9E0BDB6A211}"/>
              </a:ext>
            </a:extLst>
          </p:cNvPr>
          <p:cNvSpPr txBox="1"/>
          <p:nvPr/>
        </p:nvSpPr>
        <p:spPr>
          <a:xfrm>
            <a:off x="1346200" y="4914900"/>
            <a:ext cx="9956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Payload </a:t>
            </a:r>
            <a:r>
              <a:rPr lang="ko-KR" altLang="en-US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제거</a:t>
            </a:r>
            <a:r>
              <a:rPr lang="en-US" altLang="ko-KR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교체가 </a:t>
            </a:r>
            <a:r>
              <a:rPr lang="en-US" altLang="ko-KR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attribution</a:t>
            </a:r>
            <a:r>
              <a:rPr lang="ko-KR" altLang="en-US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실용적 가치를 드러낸다</a:t>
            </a:r>
            <a:r>
              <a:rPr lang="en-US" altLang="ko-KR" sz="2000">
                <a:solidFill>
                  <a:srgbClr val="65758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65758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9" name="S20_018_line">
            <a:extLst>
              <a:ext uri="{FF2B5EF4-FFF2-40B4-BE49-F238E27FC236}">
                <a16:creationId xmlns:a16="http://schemas.microsoft.com/office/drawing/2014/main" id="{72CB2E0B-5F88-C0EA-5B2A-4DA7B8C5A6B6}"/>
              </a:ext>
            </a:extLst>
          </p:cNvPr>
          <p:cNvCxnSpPr/>
          <p:nvPr/>
        </p:nvCxnSpPr>
        <p:spPr>
          <a:xfrm>
            <a:off x="457200" y="5918200"/>
            <a:ext cx="11277600" cy="0"/>
          </a:xfrm>
          <a:prstGeom prst="straightConnector1">
            <a:avLst/>
          </a:prstGeom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20_019_text">
            <a:extLst>
              <a:ext uri="{FF2B5EF4-FFF2-40B4-BE49-F238E27FC236}">
                <a16:creationId xmlns:a16="http://schemas.microsoft.com/office/drawing/2014/main" id="{4B0CFE49-FAE5-1EA7-92D5-47262A99B1A7}"/>
              </a:ext>
            </a:extLst>
          </p:cNvPr>
          <p:cNvSpPr txBox="1"/>
          <p:nvPr/>
        </p:nvSpPr>
        <p:spPr>
          <a:xfrm>
            <a:off x="508000" y="6070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토론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관절 하나를 정비했다면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twin</a:t>
            </a:r>
            <a:r>
              <a:rPr lang="ko-KR" altLang="en-US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어떤 보정만 되돌리고 무엇을 검증할까</a:t>
            </a:r>
            <a:r>
              <a:rPr lang="en-US" altLang="ko-KR" sz="1700" b="1">
                <a:solidFill>
                  <a:srgbClr val="20324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sz="1700" b="1">
              <a:solidFill>
                <a:srgbClr val="203244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2639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3620</Words>
  <Application>Microsoft Office PowerPoint</Application>
  <PresentationFormat>사용자 지정</PresentationFormat>
  <Paragraphs>359</Paragraphs>
  <Slides>20</Slides>
  <Notes>20</Notes>
  <HiddenSlides>0</HiddenSlides>
  <MMClips>2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[경희대] 김상현</dc:creator>
  <cp:lastModifiedBy>[경희대] 김상현</cp:lastModifiedBy>
  <cp:revision>1</cp:revision>
  <dcterms:created xsi:type="dcterms:W3CDTF">2026-09-25T04:52:38Z</dcterms:created>
  <dcterms:modified xsi:type="dcterms:W3CDTF">2026-09-25T04:52:38Z</dcterms:modified>
</cp:coreProperties>
</file>